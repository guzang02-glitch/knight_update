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a10672a7-5f9c-f6fa-2488-0aa92ad4aed2}">
          <p14:sldIdLst>
            <p14:sldId id="256"/>
            <p14:sldId id="257"/>
          </p14:sldIdLst>
        </p14:section>
        <p14:section name="개요" id="{9f6af6f0-b852-60c8-ade5-c2d2e7e3b9f0}">
          <p14:sldIdLst>
            <p14:sldId id="258"/>
            <p14:sldId id="259"/>
            <p14:sldId id="260"/>
          </p14:sldIdLst>
        </p14:section>
        <p14:section name="규칙" id="{d05ed1df-3b6b-50e7-c768-a957156d13c8}">
          <p14:sldIdLst>
            <p14:sldId id="261"/>
            <p14:sldId id="262"/>
            <p14:sldId id="263"/>
            <p14:sldId id="264"/>
          </p14:sldIdLst>
        </p14:section>
        <p14:section name="제작 프로세스" id="{bec3f5fb-e44a-4c44-8d2a-0bdf62f39631}">
          <p14:sldIdLst>
            <p14:sldId id="265"/>
            <p14:sldId id="266"/>
            <p14:sldId id="267"/>
          </p14:sldIdLst>
        </p14:section>
        <p14:section name="결과" id="{8d2293b0-2f01-1ff3-e146-f2342c0042c3}">
          <p14:sldIdLst>
            <p14:sldId id="268"/>
            <p14:sldId id="269"/>
            <p14:sldId id="270"/>
            <p14:sldId id="271"/>
            <p14:sldId id="272"/>
          </p14:sldIdLst>
        </p14:section>
        <p14:section name="데이터" id="{5300aef1-c7a1-872c-5e03-5d7715a83ef2}">
          <p14:sldIdLst>
            <p14:sldId id="273"/>
            <p14:sldId id="274"/>
            <p14:sldId id="275"/>
          </p14:sldIdLst>
        </p14:section>
        <p14:section name="부록" id="{e4a1a81f-ac18-d22f-d17a-afce37127207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목표 곡선</c:v>
                </c:pt>
              </c:strCache>
            </c:strRef>
          </c:tx>
          <c:spPr>
            <a:solidFill>
              <a:srgbClr val="3B2F57"/>
            </a:solidFill>
            <a:ln w="25400" cap="flat">
              <a:solidFill>
                <a:srgbClr val="3B2F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B2F57"/>
              </a:solidFill>
              <a:ln w="9525" cap="flat">
                <a:solidFill>
                  <a:srgbClr val="3B2F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0.78</c:v>
                </c:pt>
                <c:pt idx="1">
                  <c:v>0.91</c:v>
                </c:pt>
                <c:pt idx="2">
                  <c:v>1.04</c:v>
                </c:pt>
                <c:pt idx="3">
                  <c:v>1.16</c:v>
                </c:pt>
                <c:pt idx="4">
                  <c:v>1.29</c:v>
                </c:pt>
                <c:pt idx="5">
                  <c:v>1.42</c:v>
                </c:pt>
                <c:pt idx="6">
                  <c:v>1.54</c:v>
                </c:pt>
                <c:pt idx="7">
                  <c:v>1.67</c:v>
                </c:pt>
                <c:pt idx="8">
                  <c:v>1.8</c:v>
                </c:pt>
                <c:pt idx="9">
                  <c:v>1.96</c:v>
                </c:pt>
                <c:pt idx="10">
                  <c:v>2.12</c:v>
                </c:pt>
                <c:pt idx="11">
                  <c:v>2.28</c:v>
                </c:pt>
                <c:pt idx="12">
                  <c:v>2.44</c:v>
                </c:pt>
                <c:pt idx="13">
                  <c:v>2.6</c:v>
                </c:pt>
                <c:pt idx="14">
                  <c:v>2.76</c:v>
                </c:pt>
                <c:pt idx="15">
                  <c:v>2.92</c:v>
                </c:pt>
                <c:pt idx="16">
                  <c:v>3.08</c:v>
                </c:pt>
                <c:pt idx="17">
                  <c:v>3.24</c:v>
                </c:pt>
                <c:pt idx="18">
                  <c:v>3.4</c:v>
                </c:pt>
                <c:pt idx="19">
                  <c:v>3.51</c:v>
                </c:pt>
                <c:pt idx="20">
                  <c:v>3.62</c:v>
                </c:pt>
                <c:pt idx="21">
                  <c:v>3.73</c:v>
                </c:pt>
                <c:pt idx="22">
                  <c:v>3.84</c:v>
                </c:pt>
                <c:pt idx="23">
                  <c:v>3.95</c:v>
                </c:pt>
                <c:pt idx="24">
                  <c:v>4.06</c:v>
                </c:pt>
                <c:pt idx="25">
                  <c:v>4.17</c:v>
                </c:pt>
                <c:pt idx="26">
                  <c:v>4.28</c:v>
                </c:pt>
                <c:pt idx="27">
                  <c:v>4.39</c:v>
                </c:pt>
                <c:pt idx="28">
                  <c:v>4.5</c:v>
                </c:pt>
                <c:pt idx="29">
                  <c:v>4.61</c:v>
                </c:pt>
                <c:pt idx="30">
                  <c:v>4.72</c:v>
                </c:pt>
                <c:pt idx="31">
                  <c:v>4.83</c:v>
                </c:pt>
                <c:pt idx="32">
                  <c:v>4.94</c:v>
                </c:pt>
                <c:pt idx="33">
                  <c:v>5.05</c:v>
                </c:pt>
                <c:pt idx="34">
                  <c:v>5.16</c:v>
                </c:pt>
                <c:pt idx="35">
                  <c:v>5.27</c:v>
                </c:pt>
                <c:pt idx="36">
                  <c:v>5.38</c:v>
                </c:pt>
                <c:pt idx="37">
                  <c:v>5.49</c:v>
                </c:pt>
                <c:pt idx="38">
                  <c:v>5.6</c:v>
                </c:pt>
                <c:pt idx="39">
                  <c:v>5.72</c:v>
                </c:pt>
                <c:pt idx="40">
                  <c:v>5.84</c:v>
                </c:pt>
                <c:pt idx="41">
                  <c:v>5.96</c:v>
                </c:pt>
                <c:pt idx="42">
                  <c:v>6.08</c:v>
                </c:pt>
                <c:pt idx="43">
                  <c:v>6.2</c:v>
                </c:pt>
                <c:pt idx="44">
                  <c:v>6.32</c:v>
                </c:pt>
                <c:pt idx="45">
                  <c:v>6.44</c:v>
                </c:pt>
                <c:pt idx="46">
                  <c:v>6.56</c:v>
                </c:pt>
                <c:pt idx="47">
                  <c:v>6.68</c:v>
                </c:pt>
                <c:pt idx="48">
                  <c:v>6.8</c:v>
                </c:pt>
                <c:pt idx="49">
                  <c:v>6.8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일반 스테이지 실측</c:v>
                </c:pt>
              </c:strCache>
            </c:strRef>
          </c:tx>
          <c:spPr>
            <a:solidFill>
              <a:srgbClr val="EC5A8C"/>
            </a:solidFill>
            <a:ln w="25400" cap="flat">
              <a:solidFill>
                <a:srgbClr val="EC5A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C5A8C"/>
              </a:solidFill>
              <a:ln w="9525" cap="flat">
                <a:solidFill>
                  <a:srgbClr val="EC5A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Sheet1!$C$2:$C$51</c:f>
              <c:numCache>
                <c:formatCode>General</c:formatCode>
                <c:ptCount val="50"/>
                <c:pt idx="0">
                  <c:v>0.78</c:v>
                </c:pt>
                <c:pt idx="1">
                  <c:v>1.34</c:v>
                </c:pt>
                <c:pt idx="2">
                  <c:v/>
                </c:pt>
                <c:pt idx="3">
                  <c:v>1.41</c:v>
                </c:pt>
                <c:pt idx="4">
                  <c:v/>
                </c:pt>
                <c:pt idx="5">
                  <c:v>1.49</c:v>
                </c:pt>
                <c:pt idx="6">
                  <c:v>1.64</c:v>
                </c:pt>
                <c:pt idx="7">
                  <c:v/>
                </c:pt>
                <c:pt idx="8">
                  <c:v>1.75</c:v>
                </c:pt>
                <c:pt idx="9">
                  <c:v/>
                </c:pt>
                <c:pt idx="10">
                  <c:v>2.11</c:v>
                </c:pt>
                <c:pt idx="11">
                  <c:v>2.25</c:v>
                </c:pt>
                <c:pt idx="12">
                  <c:v/>
                </c:pt>
                <c:pt idx="13">
                  <c:v>2.62</c:v>
                </c:pt>
                <c:pt idx="14">
                  <c:v/>
                </c:pt>
                <c:pt idx="15">
                  <c:v>2.91</c:v>
                </c:pt>
                <c:pt idx="16">
                  <c:v>3.04</c:v>
                </c:pt>
                <c:pt idx="17">
                  <c:v/>
                </c:pt>
                <c:pt idx="18">
                  <c:v>3.37</c:v>
                </c:pt>
                <c:pt idx="19">
                  <c:v/>
                </c:pt>
                <c:pt idx="20">
                  <c:v>3.69</c:v>
                </c:pt>
                <c:pt idx="21">
                  <c:v>3.76</c:v>
                </c:pt>
                <c:pt idx="22">
                  <c:v/>
                </c:pt>
                <c:pt idx="23">
                  <c:v>3.9</c:v>
                </c:pt>
                <c:pt idx="24">
                  <c:v/>
                </c:pt>
                <c:pt idx="25">
                  <c:v>4.15</c:v>
                </c:pt>
                <c:pt idx="26">
                  <c:v>4.27</c:v>
                </c:pt>
                <c:pt idx="27">
                  <c:v/>
                </c:pt>
                <c:pt idx="28">
                  <c:v>4.44</c:v>
                </c:pt>
                <c:pt idx="29">
                  <c:v/>
                </c:pt>
                <c:pt idx="30">
                  <c:v>4.91</c:v>
                </c:pt>
                <c:pt idx="31">
                  <c:v>4.98</c:v>
                </c:pt>
                <c:pt idx="32">
                  <c:v/>
                </c:pt>
                <c:pt idx="33">
                  <c:v>5.27</c:v>
                </c:pt>
                <c:pt idx="34">
                  <c:v/>
                </c:pt>
                <c:pt idx="35">
                  <c:v>5.34</c:v>
                </c:pt>
                <c:pt idx="36">
                  <c:v>5.41</c:v>
                </c:pt>
                <c:pt idx="37">
                  <c:v/>
                </c:pt>
                <c:pt idx="38">
                  <c:v>5.61</c:v>
                </c:pt>
                <c:pt idx="39">
                  <c:v/>
                </c:pt>
                <c:pt idx="40">
                  <c:v>5.79</c:v>
                </c:pt>
                <c:pt idx="41">
                  <c:v>5.97</c:v>
                </c:pt>
                <c:pt idx="42">
                  <c:v/>
                </c:pt>
                <c:pt idx="43">
                  <c:v>6.11</c:v>
                </c:pt>
                <c:pt idx="44">
                  <c:v/>
                </c:pt>
                <c:pt idx="45">
                  <c:v>6.38</c:v>
                </c:pt>
                <c:pt idx="46">
                  <c:v>6.48</c:v>
                </c:pt>
                <c:pt idx="47">
                  <c:v/>
                </c:pt>
                <c:pt idx="48">
                  <c:v>6.76</c:v>
                </c:pt>
                <c:pt idx="49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4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0"/>
        <c:axPos val="l"/>
        <c:majorGridlines>
          <c:spPr>
            <a:ln w="9525" cap="flat">
              <a:solidFill>
                <a:srgbClr val="E6E1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4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3B2F5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2F5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B2F57"/>
                </a:solidFill>
                <a:latin typeface="+mn-lt"/>
              </a:rPr>
              <a:t>LEN (답까지 총길이, 칸)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일반</c:v>
                </c:pt>
              </c:strCache>
            </c:strRef>
          </c:tx>
          <c:spPr>
            <a:solidFill>
              <a:srgbClr val="B9AE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6</c:v>
                </c:pt>
                <c:pt idx="1">
                  <c:v>8</c:v>
                </c:pt>
                <c:pt idx="2">
                  <c:v>0</c:v>
                </c:pt>
                <c:pt idx="3">
                  <c:v>9</c:v>
                </c:pt>
                <c:pt idx="4">
                  <c:v>0</c:v>
                </c:pt>
                <c:pt idx="5">
                  <c:v>10</c:v>
                </c:pt>
                <c:pt idx="6">
                  <c:v>11</c:v>
                </c:pt>
                <c:pt idx="7">
                  <c:v>0</c:v>
                </c:pt>
                <c:pt idx="8">
                  <c:v>11</c:v>
                </c:pt>
                <c:pt idx="9">
                  <c:v>0</c:v>
                </c:pt>
                <c:pt idx="10">
                  <c:v>11</c:v>
                </c:pt>
                <c:pt idx="11">
                  <c:v>13</c:v>
                </c:pt>
                <c:pt idx="12">
                  <c:v>0</c:v>
                </c:pt>
                <c:pt idx="13">
                  <c:v>13</c:v>
                </c:pt>
                <c:pt idx="14">
                  <c:v>0</c:v>
                </c:pt>
                <c:pt idx="15">
                  <c:v>14</c:v>
                </c:pt>
                <c:pt idx="16">
                  <c:v>15</c:v>
                </c:pt>
                <c:pt idx="17">
                  <c:v>0</c:v>
                </c:pt>
                <c:pt idx="18">
                  <c:v>16</c:v>
                </c:pt>
                <c:pt idx="19">
                  <c:v>0</c:v>
                </c:pt>
                <c:pt idx="20">
                  <c:v>17</c:v>
                </c:pt>
                <c:pt idx="21">
                  <c:v>19</c:v>
                </c:pt>
                <c:pt idx="22">
                  <c:v>0</c:v>
                </c:pt>
                <c:pt idx="23">
                  <c:v>19</c:v>
                </c:pt>
                <c:pt idx="24">
                  <c:v>0</c:v>
                </c:pt>
                <c:pt idx="25">
                  <c:v>20</c:v>
                </c:pt>
                <c:pt idx="26">
                  <c:v>21</c:v>
                </c:pt>
                <c:pt idx="27">
                  <c:v>0</c:v>
                </c:pt>
                <c:pt idx="28">
                  <c:v>22</c:v>
                </c:pt>
                <c:pt idx="29">
                  <c:v>0</c:v>
                </c:pt>
                <c:pt idx="30">
                  <c:v>25</c:v>
                </c:pt>
                <c:pt idx="31">
                  <c:v>26</c:v>
                </c:pt>
                <c:pt idx="32">
                  <c:v>0</c:v>
                </c:pt>
                <c:pt idx="33">
                  <c:v>27</c:v>
                </c:pt>
                <c:pt idx="34">
                  <c:v>0</c:v>
                </c:pt>
                <c:pt idx="35">
                  <c:v>29</c:v>
                </c:pt>
                <c:pt idx="36">
                  <c:v>30</c:v>
                </c:pt>
                <c:pt idx="37">
                  <c:v>0</c:v>
                </c:pt>
                <c:pt idx="38">
                  <c:v>30</c:v>
                </c:pt>
                <c:pt idx="39">
                  <c:v>0</c:v>
                </c:pt>
                <c:pt idx="40">
                  <c:v>33</c:v>
                </c:pt>
                <c:pt idx="41">
                  <c:v>34</c:v>
                </c:pt>
                <c:pt idx="42">
                  <c:v>0</c:v>
                </c:pt>
                <c:pt idx="43">
                  <c:v>34</c:v>
                </c:pt>
                <c:pt idx="44">
                  <c:v>0</c:v>
                </c:pt>
                <c:pt idx="45">
                  <c:v>34</c:v>
                </c:pt>
                <c:pt idx="46">
                  <c:v>35</c:v>
                </c:pt>
                <c:pt idx="47">
                  <c:v>0</c:v>
                </c:pt>
                <c:pt idx="48">
                  <c:v>38</c:v>
                </c:pt>
                <c:pt idx="4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관문</c:v>
                </c:pt>
              </c:strCache>
            </c:strRef>
          </c:tx>
          <c:spPr>
            <a:solidFill>
              <a:srgbClr val="EC5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Sheet1!$C$2:$C$51</c:f>
              <c:numCache>
                <c:formatCode>General</c:formatCode>
                <c:ptCount val="5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13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16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17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21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23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30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31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37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먼 길</c:v>
                </c:pt>
              </c:strCache>
            </c:strRef>
          </c:tx>
          <c:spPr>
            <a:solidFill>
              <a:srgbClr val="FFD4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Sheet1!$D$2:$D$51</c:f>
              <c:numCache>
                <c:formatCode>General</c:formatCode>
                <c:ptCount val="50"/>
                <c:pt idx="0">
                  <c:v>0</c:v>
                </c:pt>
                <c:pt idx="1">
                  <c:v>0</c:v>
                </c:pt>
                <c:pt idx="2">
                  <c:v>10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14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17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21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24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29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32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36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40</c:v>
                </c:pt>
                <c:pt idx="48">
                  <c:v>0</c:v>
                </c:pt>
                <c:pt idx="4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4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9525" cap="flat">
              <a:solidFill>
                <a:srgbClr val="E6E1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4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3B2F5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B2F5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3B2F57"/>
                </a:solidFill>
                <a:latin typeface="+mn-lt"/>
              </a:rPr>
              <a:t>경우의 수 (log10, 1 = 10가지 · 6 = 100만 가지)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일반</c:v>
                </c:pt>
              </c:strCache>
            </c:strRef>
          </c:tx>
          <c:spPr>
            <a:solidFill>
              <a:srgbClr val="B9AE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0.78</c:v>
                </c:pt>
                <c:pt idx="1">
                  <c:v>1.34</c:v>
                </c:pt>
                <c:pt idx="2">
                  <c:v>0</c:v>
                </c:pt>
                <c:pt idx="3">
                  <c:v>1.41</c:v>
                </c:pt>
                <c:pt idx="4">
                  <c:v>0</c:v>
                </c:pt>
                <c:pt idx="5">
                  <c:v>1.49</c:v>
                </c:pt>
                <c:pt idx="6">
                  <c:v>1.64</c:v>
                </c:pt>
                <c:pt idx="7">
                  <c:v>0</c:v>
                </c:pt>
                <c:pt idx="8">
                  <c:v>1.75</c:v>
                </c:pt>
                <c:pt idx="9">
                  <c:v>0</c:v>
                </c:pt>
                <c:pt idx="10">
                  <c:v>2.11</c:v>
                </c:pt>
                <c:pt idx="11">
                  <c:v>2.25</c:v>
                </c:pt>
                <c:pt idx="12">
                  <c:v>0</c:v>
                </c:pt>
                <c:pt idx="13">
                  <c:v>2.62</c:v>
                </c:pt>
                <c:pt idx="14">
                  <c:v>0</c:v>
                </c:pt>
                <c:pt idx="15">
                  <c:v>2.91</c:v>
                </c:pt>
                <c:pt idx="16">
                  <c:v>3.04</c:v>
                </c:pt>
                <c:pt idx="17">
                  <c:v>0</c:v>
                </c:pt>
                <c:pt idx="18">
                  <c:v>3.37</c:v>
                </c:pt>
                <c:pt idx="19">
                  <c:v>0</c:v>
                </c:pt>
                <c:pt idx="20">
                  <c:v>3.69</c:v>
                </c:pt>
                <c:pt idx="21">
                  <c:v>3.76</c:v>
                </c:pt>
                <c:pt idx="22">
                  <c:v>0</c:v>
                </c:pt>
                <c:pt idx="23">
                  <c:v>3.9</c:v>
                </c:pt>
                <c:pt idx="24">
                  <c:v>0</c:v>
                </c:pt>
                <c:pt idx="25">
                  <c:v>4.15</c:v>
                </c:pt>
                <c:pt idx="26">
                  <c:v>4.27</c:v>
                </c:pt>
                <c:pt idx="27">
                  <c:v>0</c:v>
                </c:pt>
                <c:pt idx="28">
                  <c:v>4.44</c:v>
                </c:pt>
                <c:pt idx="29">
                  <c:v>0</c:v>
                </c:pt>
                <c:pt idx="30">
                  <c:v>4.91</c:v>
                </c:pt>
                <c:pt idx="31">
                  <c:v>4.98</c:v>
                </c:pt>
                <c:pt idx="32">
                  <c:v>0</c:v>
                </c:pt>
                <c:pt idx="33">
                  <c:v>5.27</c:v>
                </c:pt>
                <c:pt idx="34">
                  <c:v>0</c:v>
                </c:pt>
                <c:pt idx="35">
                  <c:v>5.34</c:v>
                </c:pt>
                <c:pt idx="36">
                  <c:v>5.41</c:v>
                </c:pt>
                <c:pt idx="37">
                  <c:v>0</c:v>
                </c:pt>
                <c:pt idx="38">
                  <c:v>5.61</c:v>
                </c:pt>
                <c:pt idx="39">
                  <c:v>0</c:v>
                </c:pt>
                <c:pt idx="40">
                  <c:v>5.79</c:v>
                </c:pt>
                <c:pt idx="41">
                  <c:v>5.97</c:v>
                </c:pt>
                <c:pt idx="42">
                  <c:v>0</c:v>
                </c:pt>
                <c:pt idx="43">
                  <c:v>6.11</c:v>
                </c:pt>
                <c:pt idx="44">
                  <c:v>0</c:v>
                </c:pt>
                <c:pt idx="45">
                  <c:v>6.38</c:v>
                </c:pt>
                <c:pt idx="46">
                  <c:v>6.48</c:v>
                </c:pt>
                <c:pt idx="47">
                  <c:v>0</c:v>
                </c:pt>
                <c:pt idx="48">
                  <c:v>6.76</c:v>
                </c:pt>
                <c:pt idx="4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관문</c:v>
                </c:pt>
              </c:strCache>
            </c:strRef>
          </c:tx>
          <c:spPr>
            <a:solidFill>
              <a:srgbClr val="EC5A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Sheet1!$C$2:$C$51</c:f>
              <c:numCache>
                <c:formatCode>General</c:formatCode>
                <c:ptCount val="5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1.7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2.04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3.15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3.62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4.42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4.66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5.55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6.03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6.9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7.16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먼 길</c:v>
                </c:pt>
              </c:strCache>
            </c:strRef>
          </c:tx>
          <c:spPr>
            <a:solidFill>
              <a:srgbClr val="FFD4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Sheet1!$A$2:$A$51</c:f>
              <c:multiLvlStrCache>
                <c:ptCount val="5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</c:lvl>
              </c:multiLvlStrCache>
            </c:multiLvlStrRef>
          </c:cat>
          <c:val>
            <c:numRef>
              <c:f>Sheet1!$D$2:$D$51</c:f>
              <c:numCache>
                <c:formatCode>General</c:formatCode>
                <c:ptCount val="50"/>
                <c:pt idx="0">
                  <c:v>0</c:v>
                </c:pt>
                <c:pt idx="1">
                  <c:v>0</c:v>
                </c:pt>
                <c:pt idx="2">
                  <c:v>1.18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1.51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2.02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2.73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3.5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3.99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4.43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5.02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5.05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5.85</c:v>
                </c:pt>
                <c:pt idx="48">
                  <c:v>0</c:v>
                </c:pt>
                <c:pt idx="4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48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0"/>
        <c:axPos val="l"/>
        <c:majorGridlines>
          <c:spPr>
            <a:ln w="9525" cap="flat">
              <a:solidFill>
                <a:srgbClr val="E6E1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48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3B2F5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3B2F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3B2F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306324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0690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D9D2EE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EC5A8C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3B2F57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87"/>
                </a:solidFill>
              </a:rPr>
              <a:t>기사의 여행 · 레벨 디자인 기획서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image" Target="../media/image-5-1.png"/><Relationship Id="rId8" Type="http://schemas.openxmlformats.org/officeDocument/2006/relationships/image" Target="../media/image-5-1.png"/><Relationship Id="rId9" Type="http://schemas.openxmlformats.org/officeDocument/2006/relationships/image" Target="../media/image-5-1.png"/><Relationship Id="rId10" Type="http://schemas.openxmlformats.org/officeDocument/2006/relationships/image" Target="../media/image-5-1.png"/><Relationship Id="rId11" Type="http://schemas.openxmlformats.org/officeDocument/2006/relationships/image" Target="../media/image-5-1.png"/><Relationship Id="rId12" Type="http://schemas.openxmlformats.org/officeDocument/2006/relationships/image" Target="../media/image-5-1.png"/><Relationship Id="rId13" Type="http://schemas.openxmlformats.org/officeDocument/2006/relationships/image" Target="../media/image-5-1.png"/><Relationship Id="rId14" Type="http://schemas.openxmlformats.org/officeDocument/2006/relationships/image" Target="../media/image-5-1.png"/><Relationship Id="rId15" Type="http://schemas.openxmlformats.org/officeDocument/2006/relationships/image" Target="../media/image-5-1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4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image" Target="../media/image-11-1.png"/><Relationship Id="rId7" Type="http://schemas.openxmlformats.org/officeDocument/2006/relationships/image" Target="../media/image-11-1.png"/><Relationship Id="rId8" Type="http://schemas.openxmlformats.org/officeDocument/2006/relationships/image" Target="../media/image-11-1.png"/><Relationship Id="rId9" Type="http://schemas.openxmlformats.org/officeDocument/2006/relationships/image" Target="../media/image-11-1.png"/><Relationship Id="rId10" Type="http://schemas.openxmlformats.org/officeDocument/2006/relationships/image" Target="../media/image-11-1.png"/><Relationship Id="rId11" Type="http://schemas.openxmlformats.org/officeDocument/2006/relationships/image" Target="../media/image-11-1.png"/><Relationship Id="rId12" Type="http://schemas.openxmlformats.org/officeDocument/2006/relationships/image" Target="../media/image-11-1.png"/><Relationship Id="rId13" Type="http://schemas.openxmlformats.org/officeDocument/2006/relationships/image" Target="../media/image-11-1.png"/><Relationship Id="rId14" Type="http://schemas.openxmlformats.org/officeDocument/2006/relationships/image" Target="../media/image-11-1.png"/><Relationship Id="rId15" Type="http://schemas.openxmlformats.org/officeDocument/2006/relationships/image" Target="../media/image-11-1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.png"/><Relationship Id="rId18" Type="http://schemas.openxmlformats.org/officeDocument/2006/relationships/image" Target="../media/image-11-1.png"/><Relationship Id="rId19" Type="http://schemas.openxmlformats.org/officeDocument/2006/relationships/image" Target="../media/image-11-1.png"/><Relationship Id="rId20" Type="http://schemas.openxmlformats.org/officeDocument/2006/relationships/image" Target="../media/image-11-1.png"/><Relationship Id="rId21" Type="http://schemas.openxmlformats.org/officeDocument/2006/relationships/image" Target="../media/image-11-1.png"/><Relationship Id="rId22" Type="http://schemas.openxmlformats.org/officeDocument/2006/relationships/image" Target="../media/image-11-1.png"/><Relationship Id="rId23" Type="http://schemas.openxmlformats.org/officeDocument/2006/relationships/image" Target="../media/image-11-1.png"/><Relationship Id="rId24" Type="http://schemas.openxmlformats.org/officeDocument/2006/relationships/image" Target="../media/image-11-1.png"/><Relationship Id="rId25" Type="http://schemas.openxmlformats.org/officeDocument/2006/relationships/image" Target="../media/image-11-1.png"/><Relationship Id="rId26" Type="http://schemas.openxmlformats.org/officeDocument/2006/relationships/image" Target="../media/image-11-1.png"/><Relationship Id="rId27" Type="http://schemas.openxmlformats.org/officeDocument/2006/relationships/image" Target="../media/image-11-1.png"/><Relationship Id="rId28" Type="http://schemas.openxmlformats.org/officeDocument/2006/relationships/image" Target="../media/image-11-1.png"/><Relationship Id="rId29" Type="http://schemas.openxmlformats.org/officeDocument/2006/relationships/image" Target="../media/image-11-1.png"/><Relationship Id="rId30" Type="http://schemas.openxmlformats.org/officeDocument/2006/relationships/image" Target="../media/image-11-1.png"/><Relationship Id="rId31" Type="http://schemas.openxmlformats.org/officeDocument/2006/relationships/image" Target="../media/image-11-1.png"/><Relationship Id="rId32" Type="http://schemas.openxmlformats.org/officeDocument/2006/relationships/image" Target="../media/image-11-16.png"/><Relationship Id="rId33" Type="http://schemas.openxmlformats.org/officeDocument/2006/relationships/image" Target="../media/image-11-33.png"/><Relationship Id="rId34" Type="http://schemas.openxmlformats.org/officeDocument/2006/relationships/slideLayout" Target="../slideLayouts/slideLayout4.xml"/><Relationship Id="rId3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user/Desktop/창고/기획서/images/codex/deck/cover_keyart.jpg">    </p:cNvPr>
          <p:cNvPicPr>
            <a:picLocks noChangeAspect="1"/>
          </p:cNvPicPr>
          <p:nvPr/>
        </p:nvPicPr>
        <p:blipFill>
          <a:blip r:embed="rId1"/>
          <a:srcRect l="0" r="0" t="7813" b="7813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977640"/>
            <a:ext cx="3611880" cy="2514600"/>
          </a:xfrm>
          <a:prstGeom prst="roundRect">
            <a:avLst>
              <a:gd name="adj" fmla="val 9091"/>
            </a:avLst>
          </a:prstGeom>
          <a:solidFill>
            <a:srgbClr val="3B2F57">
              <a:alpha val="9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8580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7FA8"/>
                </a:solidFill>
              </a:rPr>
              <a:t>레벨 디자인 기획서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45262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기사의 여행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4F7"/>
                </a:solidFill>
              </a:rPr>
              <a:t>50 스테이지 · 정답 1개 설계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9E4F7"/>
                </a:solidFill>
              </a:rPr>
              <a:t>경우의 수 기반 레벨 선택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035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D2EE"/>
                </a:solidFill>
              </a:rPr>
              <a:t>초안 v0.1 · 2026-10-14 · 웹 프로토타입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A8C"/>
                </a:solidFill>
              </a:rPr>
              <a:t>목차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2F57"/>
                </a:solidFill>
              </a:rPr>
              <a:t>지표 정의 → 규칙 → 제작 → 결과 → 데이터 순 구성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103120"/>
          </a:xfrm>
          <a:prstGeom prst="roundRect">
            <a:avLst>
              <a:gd name="adj" fmla="val 6522"/>
            </a:avLst>
          </a:prstGeom>
          <a:solidFill>
            <a:srgbClr val="FFE3EC"/>
          </a:solidFill>
          <a:ln w="12700">
            <a:solidFill>
              <a:srgbClr val="FF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EC5A8C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801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B2F57"/>
                </a:solidFill>
              </a:rPr>
              <a:t>개요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487"/>
                </a:solidFill>
              </a:rPr>
              <a:t>설계 목표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E6487"/>
                </a:solidFill>
              </a:rPr>
              <a:t>난이도 지표 정의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508760"/>
            <a:ext cx="3520440" cy="2103120"/>
          </a:xfrm>
          <a:prstGeom prst="roundRect">
            <a:avLst>
              <a:gd name="adj" fmla="val 6522"/>
            </a:avLst>
          </a:prstGeom>
          <a:solidFill>
            <a:srgbClr val="F6F3FC"/>
          </a:solidFill>
          <a:ln w="12700">
            <a:solidFill>
              <a:srgbClr val="F6F3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737360"/>
            <a:ext cx="548640" cy="548640"/>
          </a:xfrm>
          <a:prstGeom prst="ellipse">
            <a:avLst/>
          </a:prstGeom>
          <a:solidFill>
            <a:srgbClr val="3B2F57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257800" y="1801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B2F57"/>
                </a:solidFill>
              </a:rPr>
              <a:t>규칙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487"/>
                </a:solidFill>
              </a:rPr>
              <a:t>보드 구간 · 스테이지 유형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E6487"/>
                </a:solidFill>
              </a:rPr>
              <a:t>목표 곡선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508760"/>
            <a:ext cx="3520440" cy="2103120"/>
          </a:xfrm>
          <a:prstGeom prst="roundRect">
            <a:avLst>
              <a:gd name="adj" fmla="val 6522"/>
            </a:avLst>
          </a:prstGeom>
          <a:solidFill>
            <a:srgbClr val="F6F3FC"/>
          </a:solidFill>
          <a:ln w="12700">
            <a:solidFill>
              <a:srgbClr val="F6F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1737360"/>
            <a:ext cx="548640" cy="548640"/>
          </a:xfrm>
          <a:prstGeom prst="ellipse">
            <a:avLst/>
          </a:prstGeom>
          <a:solidFill>
            <a:srgbClr val="3B2F57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006840" y="1801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B2F57"/>
                </a:solidFill>
              </a:rPr>
              <a:t>제작 프로세스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487"/>
                </a:solidFill>
              </a:rPr>
              <a:t>후보 생성 · 측정 · 선택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E6487"/>
                </a:solidFill>
              </a:rPr>
              <a:t>규칙 검사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20440" cy="2103120"/>
          </a:xfrm>
          <a:prstGeom prst="roundRect">
            <a:avLst>
              <a:gd name="adj" fmla="val 6522"/>
            </a:avLst>
          </a:prstGeom>
          <a:solidFill>
            <a:srgbClr val="F6F3FC"/>
          </a:solidFill>
          <a:ln w="12700">
            <a:solidFill>
              <a:srgbClr val="F6F3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3B2F57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178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B2F57"/>
                </a:solidFill>
              </a:rPr>
              <a:t>결과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892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487"/>
                </a:solidFill>
              </a:rPr>
              <a:t>난이도 곡선 · 증가폭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E6487"/>
                </a:solidFill>
              </a:rPr>
              <a:t>스테이지 일람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97680" y="3886200"/>
            <a:ext cx="3520440" cy="2103120"/>
          </a:xfrm>
          <a:prstGeom prst="roundRect">
            <a:avLst>
              <a:gd name="adj" fmla="val 6522"/>
            </a:avLst>
          </a:prstGeom>
          <a:solidFill>
            <a:srgbClr val="F6F3FC"/>
          </a:solidFill>
          <a:ln w="12700">
            <a:solidFill>
              <a:srgbClr val="F6F3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114800"/>
            <a:ext cx="548640" cy="548640"/>
          </a:xfrm>
          <a:prstGeom prst="ellipse">
            <a:avLst/>
          </a:prstGeom>
          <a:solidFill>
            <a:srgbClr val="3B2F57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4178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B2F57"/>
                </a:solidFill>
              </a:rPr>
              <a:t>데이터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4892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487"/>
                </a:solidFill>
              </a:rPr>
              <a:t>LevelConfig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E6487"/>
                </a:solidFill>
              </a:rPr>
              <a:t>StageTable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46720" y="3886200"/>
            <a:ext cx="3520440" cy="2103120"/>
          </a:xfrm>
          <a:prstGeom prst="roundRect">
            <a:avLst>
              <a:gd name="adj" fmla="val 6522"/>
            </a:avLst>
          </a:prstGeom>
          <a:solidFill>
            <a:srgbClr val="F6F3FC"/>
          </a:solidFill>
          <a:ln w="12700">
            <a:solidFill>
              <a:srgbClr val="F6F3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5320" y="4114800"/>
            <a:ext cx="548640" cy="548640"/>
          </a:xfrm>
          <a:prstGeom prst="ellipse">
            <a:avLst/>
          </a:prstGeom>
          <a:solidFill>
            <a:srgbClr val="3B2F57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006840" y="4178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B2F57"/>
                </a:solidFill>
              </a:rPr>
              <a:t>부록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892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487"/>
                </a:solidFill>
              </a:rPr>
              <a:t>검증 결과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E6487"/>
                </a:solidFill>
              </a:rPr>
              <a:t>미결 사항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FFD45C"/>
                </a:solidFill>
              </a:rPr>
              <a:t>01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3063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개요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40690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2EE"/>
                </a:solidFill>
              </a:rPr>
              <a:t>설계 목표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D2EE"/>
                </a:solidFill>
              </a:rPr>
              <a:t>난이도 지표 정의</a:t>
            </a:r>
            <a:endParaRPr lang="en-US" sz="1600" dirty="0"/>
          </a:p>
        </p:txBody>
      </p:sp>
      <p:sp>
        <p:nvSpPr>
          <p:cNvPr id="5" name="chapter-card"/>
          <p:cNvSpPr/>
          <p:nvPr/>
        </p:nvSpPr>
        <p:spPr>
          <a:xfrm>
            <a:off x="7726680" y="1051560"/>
            <a:ext cx="4023360" cy="4023360"/>
          </a:xfrm>
          <a:prstGeom prst="roundRect">
            <a:avLst>
              <a:gd name="adj" fmla="val 6818"/>
            </a:avLst>
          </a:prstGeom>
          <a:solidFill>
            <a:srgbClr val="F6F3FC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6" name="chapter-art" descr="C:/Users/user/Desktop/창고/기획서/images/codex/deck/section_0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188720"/>
            <a:ext cx="37490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A8C"/>
                </a:solidFill>
              </a:rPr>
              <a:t>1.1 설계 목표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2F57"/>
                </a:solidFill>
              </a:rPr>
              <a:t>초반부터 체감되는 상승, 정답 경로는 항상 1개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20440" cy="4572000"/>
          </a:xfrm>
          <a:prstGeom prst="roundRect">
            <a:avLst>
              <a:gd name="adj" fmla="val 3896"/>
            </a:avLst>
          </a:prstGeom>
          <a:solidFill>
            <a:srgbClr val="F6F3FC"/>
          </a:solidFill>
          <a:ln w="12700">
            <a:solidFill>
              <a:srgbClr val="F6F3FC"/>
            </a:solidFill>
            <a:prstDash val="solid"/>
          </a:ln>
        </p:spPr>
      </p:sp>
      <p:pic>
        <p:nvPicPr>
          <p:cNvPr id="5" name="Image 0" descr="C:/Users/user/Desktop/창고/knight-tour/img/knight_ju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2203" y="1645920"/>
            <a:ext cx="1373315" cy="1645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5204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F57"/>
                </a:solidFill>
              </a:rPr>
              <a:t>초반부터 상승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1148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B2F57"/>
                </a:solidFill>
              </a:rPr>
              <a:t>1스테이지부터 경우의 수 목표 곡선 추종, 4×4 구간 스테이지당 약 1.3배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97680" y="1371600"/>
            <a:ext cx="3520440" cy="4572000"/>
          </a:xfrm>
          <a:prstGeom prst="roundRect">
            <a:avLst>
              <a:gd name="adj" fmla="val 3896"/>
            </a:avLst>
          </a:prstGeom>
          <a:solidFill>
            <a:srgbClr val="FFE3EC"/>
          </a:solidFill>
          <a:ln w="12700">
            <a:solidFill>
              <a:srgbClr val="FFE3EC"/>
            </a:solidFill>
            <a:prstDash val="solid"/>
          </a:ln>
        </p:spPr>
      </p:sp>
      <p:pic>
        <p:nvPicPr>
          <p:cNvPr id="9" name="Image 1" descr="C:/Users/user/Desktop/창고/knight-tour/img/knight_norm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122" y="1645920"/>
            <a:ext cx="1023557" cy="1645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0" y="35204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F57"/>
                </a:solidFill>
              </a:rPr>
              <a:t>리듬 있는 50스테이지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617720" y="41148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B2F57"/>
                </a:solidFill>
              </a:rPr>
              <a:t>5의 배수 관문(갈림길 많음) · 끝자리 3 · 8 먼 길(칸 많음)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046720" y="1371600"/>
            <a:ext cx="3520440" cy="4572000"/>
          </a:xfrm>
          <a:prstGeom prst="roundRect">
            <a:avLst>
              <a:gd name="adj" fmla="val 3896"/>
            </a:avLst>
          </a:prstGeom>
          <a:solidFill>
            <a:srgbClr val="FFF3C9"/>
          </a:solidFill>
          <a:ln w="12700">
            <a:solidFill>
              <a:srgbClr val="FFF3C9"/>
            </a:solidFill>
            <a:prstDash val="solid"/>
          </a:ln>
        </p:spPr>
      </p:sp>
      <p:pic>
        <p:nvPicPr>
          <p:cNvPr id="13" name="Image 2" descr="C:/Users/user/Desktop/창고/knight-tour/img/knight_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9157" y="1645920"/>
            <a:ext cx="1095566" cy="1645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21040" y="35204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2F57"/>
                </a:solidFill>
              </a:rPr>
              <a:t>정답 1개 · 재현성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8366760" y="41148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B2F57"/>
                </a:solidFill>
              </a:rPr>
              <a:t>모든 스테이지 정답 경로 1개 검증, 선택 시드 고정 → 누구에게나 같은 맵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A8C"/>
                </a:solidFill>
              </a:rPr>
              <a:t>1.2 난이도 지표 정의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2F57"/>
                </a:solidFill>
              </a:rPr>
              <a:t>LEN (답까지 총길이) · 경우의 수 (가능한 이동 순서 총수)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F6F3FC"/>
          </a:solidFill>
          <a:ln w="12700">
            <a:solidFill>
              <a:srgbClr val="F6F3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C5A8C"/>
                </a:solidFill>
              </a:rPr>
              <a:t>LEN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2F57"/>
                </a:solidFill>
              </a:rPr>
              <a:t>시작 칸부터 성까지 밟아야 하는 칸 수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B2F57"/>
                </a:solidFill>
              </a:rPr>
              <a:t>(시작 · 성 포함)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728216" y="2779776"/>
            <a:ext cx="2624328" cy="2624328"/>
          </a:xfrm>
          <a:prstGeom prst="roundRect">
            <a:avLst>
              <a:gd name="adj" fmla="val 3484"/>
            </a:avLst>
          </a:prstGeom>
          <a:solidFill>
            <a:srgbClr val="98D56E"/>
          </a:solidFill>
          <a:ln w="25400">
            <a:solidFill>
              <a:srgbClr val="3B2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2834640"/>
            <a:ext cx="502920" cy="50292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2834640"/>
            <a:ext cx="502920" cy="50292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2834640"/>
            <a:ext cx="502920" cy="50292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834640"/>
            <a:ext cx="502920" cy="50292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2834640"/>
            <a:ext cx="502920" cy="50292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3337560"/>
            <a:ext cx="502920" cy="50292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3337560"/>
            <a:ext cx="502920" cy="50292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3337560"/>
            <a:ext cx="502920" cy="50292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337560"/>
            <a:ext cx="502920" cy="50292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3337560"/>
            <a:ext cx="502920" cy="50292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83080" y="3840480"/>
            <a:ext cx="502920" cy="50292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3840480"/>
            <a:ext cx="502920" cy="50292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88920" y="3840480"/>
            <a:ext cx="502920" cy="50292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3840480"/>
            <a:ext cx="502920" cy="50292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94760" y="3840480"/>
            <a:ext cx="502920" cy="50292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4343400"/>
            <a:ext cx="502920" cy="50292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0" y="4343400"/>
            <a:ext cx="502920" cy="50292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88920" y="4343400"/>
            <a:ext cx="502920" cy="50292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4343400"/>
            <a:ext cx="502920" cy="50292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760" y="4343400"/>
            <a:ext cx="502920" cy="50292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83080" y="4846320"/>
            <a:ext cx="502920" cy="50292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0" y="4846320"/>
            <a:ext cx="502920" cy="50292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88920" y="4846320"/>
            <a:ext cx="502920" cy="50292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4846320"/>
            <a:ext cx="502920" cy="50292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94760" y="4846320"/>
            <a:ext cx="502920" cy="50292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34540" y="3086100"/>
            <a:ext cx="1005840" cy="502920"/>
          </a:xfrm>
          <a:prstGeom prst="line">
            <a:avLst/>
          </a:prstGeom>
          <a:noFill/>
          <a:ln w="25400">
            <a:solidFill>
              <a:srgbClr val="EC5A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40380" y="3589020"/>
            <a:ext cx="1005840" cy="502920"/>
          </a:xfrm>
          <a:prstGeom prst="line">
            <a:avLst/>
          </a:prstGeom>
          <a:noFill/>
          <a:ln w="25400">
            <a:solidFill>
              <a:srgbClr val="EC5A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3543300" y="4091940"/>
            <a:ext cx="502920" cy="1005840"/>
          </a:xfrm>
          <a:prstGeom prst="line">
            <a:avLst/>
          </a:prstGeom>
          <a:noFill/>
          <a:ln w="25400">
            <a:solidFill>
              <a:srgbClr val="EC5A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2537460" y="4594860"/>
            <a:ext cx="1005840" cy="502920"/>
          </a:xfrm>
          <a:prstGeom prst="line">
            <a:avLst/>
          </a:prstGeom>
          <a:noFill/>
          <a:ln w="25400">
            <a:solidFill>
              <a:srgbClr val="EC5A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2034540" y="3589020"/>
            <a:ext cx="502920" cy="1005840"/>
          </a:xfrm>
          <a:prstGeom prst="line">
            <a:avLst/>
          </a:prstGeom>
          <a:noFill/>
          <a:ln w="25400">
            <a:solidFill>
              <a:srgbClr val="EC5A8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34540" y="3589020"/>
            <a:ext cx="1005840" cy="502920"/>
          </a:xfrm>
          <a:prstGeom prst="line">
            <a:avLst/>
          </a:prstGeom>
          <a:noFill/>
          <a:ln w="25400">
            <a:solidFill>
              <a:srgbClr val="EC5A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40380" y="4091940"/>
            <a:ext cx="1005840" cy="502920"/>
          </a:xfrm>
          <a:prstGeom prst="line">
            <a:avLst/>
          </a:prstGeom>
          <a:noFill/>
          <a:ln w="25400">
            <a:solidFill>
              <a:srgbClr val="EC5A8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3543300" y="3589020"/>
            <a:ext cx="502920" cy="1005840"/>
          </a:xfrm>
          <a:prstGeom prst="line">
            <a:avLst/>
          </a:prstGeom>
          <a:noFill/>
          <a:ln w="25400">
            <a:solidFill>
              <a:srgbClr val="EC5A8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2537460" y="3086100"/>
            <a:ext cx="1005840" cy="502920"/>
          </a:xfrm>
          <a:prstGeom prst="line">
            <a:avLst/>
          </a:prstGeom>
          <a:noFill/>
          <a:ln w="25400">
            <a:solidFill>
              <a:srgbClr val="EC5A8C"/>
            </a:solidFill>
            <a:prstDash val="solid"/>
          </a:ln>
        </p:spPr>
      </p:sp>
      <p:pic>
        <p:nvPicPr>
          <p:cNvPr id="42" name="Image 0" descr="C:/Users/user/Desktop/창고/knight-tour/img/r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0466" y="2905049"/>
            <a:ext cx="419829" cy="362102"/>
          </a:xfrm>
          <a:prstGeom prst="rect">
            <a:avLst/>
          </a:prstGeom>
        </p:spPr>
      </p:pic>
      <p:pic>
        <p:nvPicPr>
          <p:cNvPr id="43" name="Image 1" descr="C:/Users/user/Desktop/창고/knight-tour/img/r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386" y="2905049"/>
            <a:ext cx="419829" cy="362102"/>
          </a:xfrm>
          <a:prstGeom prst="rect">
            <a:avLst/>
          </a:prstGeom>
        </p:spPr>
      </p:pic>
      <p:pic>
        <p:nvPicPr>
          <p:cNvPr id="44" name="Image 2" descr="C:/Users/user/Desktop/창고/knight-tour/img/r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306" y="2905049"/>
            <a:ext cx="419829" cy="362102"/>
          </a:xfrm>
          <a:prstGeom prst="rect">
            <a:avLst/>
          </a:prstGeom>
        </p:spPr>
      </p:pic>
      <p:pic>
        <p:nvPicPr>
          <p:cNvPr id="45" name="Image 3" descr="C:/Users/user/Desktop/창고/knight-tour/img/r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7546" y="3407969"/>
            <a:ext cx="419829" cy="362102"/>
          </a:xfrm>
          <a:prstGeom prst="rect">
            <a:avLst/>
          </a:prstGeom>
        </p:spPr>
      </p:pic>
      <p:pic>
        <p:nvPicPr>
          <p:cNvPr id="46" name="Image 4" descr="C:/Users/user/Desktop/창고/knight-tour/img/r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306" y="3407969"/>
            <a:ext cx="419829" cy="362102"/>
          </a:xfrm>
          <a:prstGeom prst="rect">
            <a:avLst/>
          </a:prstGeom>
        </p:spPr>
      </p:pic>
      <p:pic>
        <p:nvPicPr>
          <p:cNvPr id="47" name="Image 5" descr="C:/Users/user/Desktop/창고/knight-tour/img/r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4626" y="3910889"/>
            <a:ext cx="419829" cy="362102"/>
          </a:xfrm>
          <a:prstGeom prst="rect">
            <a:avLst/>
          </a:prstGeom>
        </p:spPr>
      </p:pic>
      <p:pic>
        <p:nvPicPr>
          <p:cNvPr id="48" name="Image 6" descr="C:/Users/user/Desktop/창고/knight-tour/img/r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7546" y="3910889"/>
            <a:ext cx="419829" cy="362102"/>
          </a:xfrm>
          <a:prstGeom prst="rect">
            <a:avLst/>
          </a:prstGeom>
        </p:spPr>
      </p:pic>
      <p:pic>
        <p:nvPicPr>
          <p:cNvPr id="49" name="Image 7" descr="C:/Users/user/Desktop/창고/knight-tour/img/ro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3386" y="3910889"/>
            <a:ext cx="419829" cy="362102"/>
          </a:xfrm>
          <a:prstGeom prst="rect">
            <a:avLst/>
          </a:prstGeom>
        </p:spPr>
      </p:pic>
      <p:pic>
        <p:nvPicPr>
          <p:cNvPr id="50" name="Image 8" descr="C:/Users/user/Desktop/창고/knight-tour/img/ro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4626" y="4413809"/>
            <a:ext cx="419829" cy="362102"/>
          </a:xfrm>
          <a:prstGeom prst="rect">
            <a:avLst/>
          </a:prstGeom>
        </p:spPr>
      </p:pic>
      <p:pic>
        <p:nvPicPr>
          <p:cNvPr id="51" name="Image 9" descr="C:/Users/user/Desktop/창고/knight-tour/img/ro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30466" y="4413809"/>
            <a:ext cx="419829" cy="362102"/>
          </a:xfrm>
          <a:prstGeom prst="rect">
            <a:avLst/>
          </a:prstGeom>
        </p:spPr>
      </p:pic>
      <p:pic>
        <p:nvPicPr>
          <p:cNvPr id="52" name="Image 10" descr="C:/Users/user/Desktop/창고/knight-tour/img/ro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33386" y="4413809"/>
            <a:ext cx="419829" cy="362102"/>
          </a:xfrm>
          <a:prstGeom prst="rect">
            <a:avLst/>
          </a:prstGeom>
        </p:spPr>
      </p:pic>
      <p:pic>
        <p:nvPicPr>
          <p:cNvPr id="53" name="Image 11" descr="C:/Users/user/Desktop/창고/knight-tour/img/r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4626" y="4916729"/>
            <a:ext cx="419829" cy="362102"/>
          </a:xfrm>
          <a:prstGeom prst="rect">
            <a:avLst/>
          </a:prstGeom>
        </p:spPr>
      </p:pic>
      <p:pic>
        <p:nvPicPr>
          <p:cNvPr id="54" name="Image 12" descr="C:/Users/user/Desktop/창고/knight-tour/img/ro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27546" y="4916729"/>
            <a:ext cx="419829" cy="362102"/>
          </a:xfrm>
          <a:prstGeom prst="rect">
            <a:avLst/>
          </a:prstGeom>
        </p:spPr>
      </p:pic>
      <p:pic>
        <p:nvPicPr>
          <p:cNvPr id="55" name="Image 13" descr="C:/Users/user/Desktop/창고/knight-tour/img/roc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30466" y="4916729"/>
            <a:ext cx="419829" cy="362102"/>
          </a:xfrm>
          <a:prstGeom prst="rect">
            <a:avLst/>
          </a:prstGeom>
        </p:spPr>
      </p:pic>
      <p:pic>
        <p:nvPicPr>
          <p:cNvPr id="56" name="Image 14" descr="C:/Users/user/Desktop/창고/knight-tour/img/rock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36306" y="4916729"/>
            <a:ext cx="419829" cy="362102"/>
          </a:xfrm>
          <a:prstGeom prst="rect">
            <a:avLst/>
          </a:prstGeom>
        </p:spPr>
      </p:pic>
      <p:pic>
        <p:nvPicPr>
          <p:cNvPr id="57" name="Image 15" descr="C:/Users/user/Desktop/창고/knight-tour/img/cast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317772" y="2869844"/>
            <a:ext cx="439376" cy="432511"/>
          </a:xfrm>
          <a:prstGeom prst="rect">
            <a:avLst/>
          </a:prstGeom>
        </p:spPr>
      </p:pic>
      <p:sp>
        <p:nvSpPr>
          <p:cNvPr id="58" name="Text 40"/>
          <p:cNvSpPr txBox="1"/>
          <p:nvPr/>
        </p:nvSpPr>
        <p:spPr>
          <a:xfrm>
            <a:off x="1783080" y="54406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487"/>
                </a:solidFill>
              </a:rPr>
              <a:t>예: LEN 10</a:t>
            </a:r>
            <a:endParaRPr lang="en-US" sz="1150" dirty="0"/>
          </a:p>
        </p:txBody>
      </p:sp>
      <p:sp>
        <p:nvSpPr>
          <p:cNvPr id="59" name="Shape 41"/>
          <p:cNvSpPr/>
          <p:nvPr/>
        </p:nvSpPr>
        <p:spPr>
          <a:xfrm>
            <a:off x="5897880" y="1371600"/>
            <a:ext cx="5760720" cy="4572000"/>
          </a:xfrm>
          <a:prstGeom prst="roundRect">
            <a:avLst>
              <a:gd name="adj" fmla="val 3000"/>
            </a:avLst>
          </a:prstGeom>
          <a:solidFill>
            <a:srgbClr val="FFE3EC"/>
          </a:solidFill>
          <a:ln w="12700">
            <a:solidFill>
              <a:srgbClr val="FFE3EC"/>
            </a:solidFill>
            <a:prstDash val="solid"/>
          </a:ln>
        </p:spPr>
      </p:sp>
      <p:sp>
        <p:nvSpPr>
          <p:cNvPr id="60" name="Text 42"/>
          <p:cNvSpPr txBox="1"/>
          <p:nvPr/>
        </p:nvSpPr>
        <p:spPr>
          <a:xfrm>
            <a:off x="6172200" y="1554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C5A8C"/>
                </a:solidFill>
              </a:rPr>
              <a:t>경우의 수</a:t>
            </a:r>
            <a:endParaRPr lang="en-US" sz="2200" dirty="0"/>
          </a:p>
        </p:txBody>
      </p:sp>
      <p:sp>
        <p:nvSpPr>
          <p:cNvPr id="61" name="Text 43"/>
          <p:cNvSpPr txBox="1"/>
          <p:nvPr/>
        </p:nvSpPr>
        <p:spPr>
          <a:xfrm>
            <a:off x="6172200" y="2011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B2F57"/>
                </a:solidFill>
              </a:rPr>
              <a:t>시작 칸에서 만들 수 있는 이동 순서의 총수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B2F57"/>
                </a:solidFill>
              </a:rPr>
              <a:t>(막힐 때까지의 모든 갈래 포함)</a:t>
            </a:r>
            <a:endParaRPr lang="en-US" sz="1350" dirty="0"/>
          </a:p>
        </p:txBody>
      </p:sp>
      <p:sp>
        <p:nvSpPr>
          <p:cNvPr id="62" name="Shape 44"/>
          <p:cNvSpPr/>
          <p:nvPr/>
        </p:nvSpPr>
        <p:spPr>
          <a:xfrm flipH="1">
            <a:off x="7589520" y="3182112"/>
            <a:ext cx="1188720" cy="539496"/>
          </a:xfrm>
          <a:prstGeom prst="line">
            <a:avLst/>
          </a:prstGeom>
          <a:noFill/>
          <a:ln w="15875">
            <a:solidFill>
              <a:srgbClr val="6E6487"/>
            </a:solidFill>
            <a:prstDash val="solid"/>
          </a:ln>
        </p:spPr>
      </p:sp>
      <p:sp>
        <p:nvSpPr>
          <p:cNvPr id="63" name="Shape 45"/>
          <p:cNvSpPr/>
          <p:nvPr/>
        </p:nvSpPr>
        <p:spPr>
          <a:xfrm>
            <a:off x="8778240" y="3182112"/>
            <a:ext cx="0" cy="539496"/>
          </a:xfrm>
          <a:prstGeom prst="line">
            <a:avLst/>
          </a:prstGeom>
          <a:noFill/>
          <a:ln w="15875">
            <a:solidFill>
              <a:srgbClr val="6E6487"/>
            </a:solidFill>
            <a:prstDash val="solid"/>
          </a:ln>
        </p:spPr>
      </p:sp>
      <p:sp>
        <p:nvSpPr>
          <p:cNvPr id="64" name="Shape 46"/>
          <p:cNvSpPr/>
          <p:nvPr/>
        </p:nvSpPr>
        <p:spPr>
          <a:xfrm>
            <a:off x="8778240" y="3182112"/>
            <a:ext cx="1188720" cy="539496"/>
          </a:xfrm>
          <a:prstGeom prst="line">
            <a:avLst/>
          </a:prstGeom>
          <a:noFill/>
          <a:ln w="15875">
            <a:solidFill>
              <a:srgbClr val="6E6487"/>
            </a:solidFill>
            <a:prstDash val="solid"/>
          </a:ln>
        </p:spPr>
      </p:sp>
      <p:sp>
        <p:nvSpPr>
          <p:cNvPr id="65" name="Shape 47"/>
          <p:cNvSpPr/>
          <p:nvPr/>
        </p:nvSpPr>
        <p:spPr>
          <a:xfrm flipH="1">
            <a:off x="7040880" y="4050792"/>
            <a:ext cx="548640" cy="539496"/>
          </a:xfrm>
          <a:prstGeom prst="line">
            <a:avLst/>
          </a:prstGeom>
          <a:noFill/>
          <a:ln w="15875">
            <a:solidFill>
              <a:srgbClr val="6E6487"/>
            </a:solidFill>
            <a:prstDash val="solid"/>
          </a:ln>
        </p:spPr>
      </p:sp>
      <p:sp>
        <p:nvSpPr>
          <p:cNvPr id="66" name="Shape 48"/>
          <p:cNvSpPr/>
          <p:nvPr/>
        </p:nvSpPr>
        <p:spPr>
          <a:xfrm>
            <a:off x="7589520" y="4050792"/>
            <a:ext cx="548640" cy="539496"/>
          </a:xfrm>
          <a:prstGeom prst="line">
            <a:avLst/>
          </a:prstGeom>
          <a:noFill/>
          <a:ln w="15875">
            <a:solidFill>
              <a:srgbClr val="6E6487"/>
            </a:solidFill>
            <a:prstDash val="solid"/>
          </a:ln>
        </p:spPr>
      </p:sp>
      <p:sp>
        <p:nvSpPr>
          <p:cNvPr id="67" name="Shape 49"/>
          <p:cNvSpPr/>
          <p:nvPr/>
        </p:nvSpPr>
        <p:spPr>
          <a:xfrm>
            <a:off x="8778240" y="4050792"/>
            <a:ext cx="0" cy="539496"/>
          </a:xfrm>
          <a:prstGeom prst="line">
            <a:avLst/>
          </a:prstGeom>
          <a:noFill/>
          <a:ln w="15875">
            <a:solidFill>
              <a:srgbClr val="6E6487"/>
            </a:solidFill>
            <a:prstDash val="solid"/>
          </a:ln>
        </p:spPr>
      </p:sp>
      <p:sp>
        <p:nvSpPr>
          <p:cNvPr id="68" name="Shape 50"/>
          <p:cNvSpPr/>
          <p:nvPr/>
        </p:nvSpPr>
        <p:spPr>
          <a:xfrm flipH="1">
            <a:off x="9509760" y="4050792"/>
            <a:ext cx="457200" cy="539496"/>
          </a:xfrm>
          <a:prstGeom prst="line">
            <a:avLst/>
          </a:prstGeom>
          <a:noFill/>
          <a:ln w="15875">
            <a:solidFill>
              <a:srgbClr val="6E6487"/>
            </a:solidFill>
            <a:prstDash val="solid"/>
          </a:ln>
        </p:spPr>
      </p:sp>
      <p:sp>
        <p:nvSpPr>
          <p:cNvPr id="69" name="Shape 51"/>
          <p:cNvSpPr/>
          <p:nvPr/>
        </p:nvSpPr>
        <p:spPr>
          <a:xfrm>
            <a:off x="9966960" y="4050792"/>
            <a:ext cx="457200" cy="539496"/>
          </a:xfrm>
          <a:prstGeom prst="line">
            <a:avLst/>
          </a:prstGeom>
          <a:noFill/>
          <a:ln w="15875">
            <a:solidFill>
              <a:srgbClr val="6E6487"/>
            </a:solidFill>
            <a:prstDash val="solid"/>
          </a:ln>
        </p:spPr>
      </p:sp>
      <p:sp>
        <p:nvSpPr>
          <p:cNvPr id="70" name="Shape 52"/>
          <p:cNvSpPr/>
          <p:nvPr/>
        </p:nvSpPr>
        <p:spPr>
          <a:xfrm>
            <a:off x="8613648" y="2852928"/>
            <a:ext cx="329184" cy="329184"/>
          </a:xfrm>
          <a:prstGeom prst="ellipse">
            <a:avLst/>
          </a:prstGeom>
          <a:solidFill>
            <a:srgbClr val="EC5A8C"/>
          </a:solidFill>
          <a:ln w="15875">
            <a:solidFill>
              <a:srgbClr val="3B2F57"/>
            </a:solidFill>
            <a:prstDash val="solid"/>
          </a:ln>
        </p:spPr>
      </p:sp>
      <p:sp>
        <p:nvSpPr>
          <p:cNvPr id="71" name="Shape 53"/>
          <p:cNvSpPr/>
          <p:nvPr/>
        </p:nvSpPr>
        <p:spPr>
          <a:xfrm>
            <a:off x="7424928" y="372160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B2F57"/>
            </a:solidFill>
            <a:prstDash val="solid"/>
          </a:ln>
        </p:spPr>
      </p:sp>
      <p:sp>
        <p:nvSpPr>
          <p:cNvPr id="72" name="Shape 54"/>
          <p:cNvSpPr/>
          <p:nvPr/>
        </p:nvSpPr>
        <p:spPr>
          <a:xfrm>
            <a:off x="8613648" y="372160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B2F57"/>
            </a:solidFill>
            <a:prstDash val="solid"/>
          </a:ln>
        </p:spPr>
      </p:sp>
      <p:sp>
        <p:nvSpPr>
          <p:cNvPr id="73" name="Shape 55"/>
          <p:cNvSpPr/>
          <p:nvPr/>
        </p:nvSpPr>
        <p:spPr>
          <a:xfrm>
            <a:off x="9802368" y="372160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B2F57"/>
            </a:solidFill>
            <a:prstDash val="solid"/>
          </a:ln>
        </p:spPr>
      </p:sp>
      <p:sp>
        <p:nvSpPr>
          <p:cNvPr id="74" name="Shape 56"/>
          <p:cNvSpPr/>
          <p:nvPr/>
        </p:nvSpPr>
        <p:spPr>
          <a:xfrm>
            <a:off x="6876288" y="459028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B2F57"/>
            </a:solidFill>
            <a:prstDash val="solid"/>
          </a:ln>
        </p:spPr>
      </p:sp>
      <p:sp>
        <p:nvSpPr>
          <p:cNvPr id="75" name="Shape 57"/>
          <p:cNvSpPr/>
          <p:nvPr/>
        </p:nvSpPr>
        <p:spPr>
          <a:xfrm>
            <a:off x="7973568" y="459028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B2F57"/>
            </a:solidFill>
            <a:prstDash val="solid"/>
          </a:ln>
        </p:spPr>
      </p:sp>
      <p:sp>
        <p:nvSpPr>
          <p:cNvPr id="76" name="Shape 58"/>
          <p:cNvSpPr/>
          <p:nvPr/>
        </p:nvSpPr>
        <p:spPr>
          <a:xfrm>
            <a:off x="8613648" y="459028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B2F57"/>
            </a:solidFill>
            <a:prstDash val="solid"/>
          </a:ln>
        </p:spPr>
      </p:sp>
      <p:sp>
        <p:nvSpPr>
          <p:cNvPr id="77" name="Shape 59"/>
          <p:cNvSpPr/>
          <p:nvPr/>
        </p:nvSpPr>
        <p:spPr>
          <a:xfrm>
            <a:off x="9345168" y="459028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B2F57"/>
            </a:solidFill>
            <a:prstDash val="solid"/>
          </a:ln>
        </p:spPr>
      </p:sp>
      <p:sp>
        <p:nvSpPr>
          <p:cNvPr id="78" name="Shape 60"/>
          <p:cNvSpPr/>
          <p:nvPr/>
        </p:nvSpPr>
        <p:spPr>
          <a:xfrm>
            <a:off x="10259568" y="4590288"/>
            <a:ext cx="329184" cy="3291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B2F57"/>
            </a:solidFill>
            <a:prstDash val="solid"/>
          </a:ln>
        </p:spPr>
      </p:sp>
      <p:sp>
        <p:nvSpPr>
          <p:cNvPr id="79" name="Text 61"/>
          <p:cNvSpPr txBox="1"/>
          <p:nvPr/>
        </p:nvSpPr>
        <p:spPr>
          <a:xfrm>
            <a:off x="9006840" y="29077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487"/>
                </a:solidFill>
              </a:rPr>
              <a:t>시작</a:t>
            </a:r>
            <a:endParaRPr lang="en-US" sz="1050" dirty="0"/>
          </a:p>
        </p:txBody>
      </p:sp>
      <p:sp>
        <p:nvSpPr>
          <p:cNvPr id="80" name="Text 62"/>
          <p:cNvSpPr txBox="1"/>
          <p:nvPr/>
        </p:nvSpPr>
        <p:spPr>
          <a:xfrm>
            <a:off x="6172200" y="5166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487"/>
                </a:solidFill>
              </a:rPr>
              <a:t>노드 1개 = 이동 순서 1가지 · 그림 예시 = 9가지</a:t>
            </a:r>
            <a:endParaRPr lang="en-US" sz="1150" dirty="0"/>
          </a:p>
        </p:txBody>
      </p:sp>
      <p:sp>
        <p:nvSpPr>
          <p:cNvPr id="81" name="Text 63"/>
          <p:cNvSpPr txBox="1"/>
          <p:nvPr/>
        </p:nvSpPr>
        <p:spPr>
          <a:xfrm>
            <a:off x="6172200" y="54681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487"/>
                </a:solidFill>
              </a:rPr>
              <a:t>40만 가지 초과 시 무작위 표본 추정 (Knuth 추정)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FFD45C"/>
                </a:solidFill>
              </a:rPr>
              <a:t>02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3063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규칙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40690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2EE"/>
                </a:solidFill>
              </a:rPr>
              <a:t>보드 구간 · 스테이지 유형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D2EE"/>
                </a:solidFill>
              </a:rPr>
              <a:t>목표 곡선</a:t>
            </a:r>
            <a:endParaRPr lang="en-US" sz="1600" dirty="0"/>
          </a:p>
        </p:txBody>
      </p:sp>
      <p:sp>
        <p:nvSpPr>
          <p:cNvPr id="5" name="chapter-card"/>
          <p:cNvSpPr/>
          <p:nvPr/>
        </p:nvSpPr>
        <p:spPr>
          <a:xfrm>
            <a:off x="7726680" y="1051560"/>
            <a:ext cx="4023360" cy="4023360"/>
          </a:xfrm>
          <a:prstGeom prst="roundRect">
            <a:avLst>
              <a:gd name="adj" fmla="val 6818"/>
            </a:avLst>
          </a:prstGeom>
          <a:solidFill>
            <a:srgbClr val="F6F3FC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6" name="chapter-art" descr="C:/Users/user/Desktop/창고/기획서/images/codex/deck/section_03_r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188720"/>
            <a:ext cx="37490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A8C"/>
                </a:solidFill>
              </a:rPr>
              <a:t>2.1 보드 구간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2F57"/>
                </a:solidFill>
              </a:rPr>
              <a:t>10스테이지 단위 보드 확장, 4×4 → 8×8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57400" cy="3840480"/>
          </a:xfrm>
          <a:prstGeom prst="roundRect">
            <a:avLst>
              <a:gd name="adj" fmla="val 6667"/>
            </a:avLst>
          </a:prstGeom>
          <a:solidFill>
            <a:srgbClr val="FFE3EC"/>
          </a:solidFill>
          <a:ln w="12700">
            <a:solidFill>
              <a:srgbClr val="FF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2F57"/>
                </a:solidFill>
              </a:rPr>
              <a:t>1–10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0956" y="2093976"/>
            <a:ext cx="1572768" cy="1572768"/>
          </a:xfrm>
          <a:prstGeom prst="roundRect">
            <a:avLst>
              <a:gd name="adj" fmla="val 5814"/>
            </a:avLst>
          </a:prstGeom>
          <a:solidFill>
            <a:srgbClr val="98D56E"/>
          </a:solidFill>
          <a:ln w="25400">
            <a:solidFill>
              <a:srgbClr val="3B2F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820" y="2148840"/>
            <a:ext cx="365760" cy="36576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1580" y="2148840"/>
            <a:ext cx="365760" cy="36576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77340" y="2148840"/>
            <a:ext cx="365760" cy="36576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3100" y="2148840"/>
            <a:ext cx="365760" cy="36576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5820" y="2514600"/>
            <a:ext cx="365760" cy="36576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1580" y="2514600"/>
            <a:ext cx="365760" cy="36576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77340" y="2514600"/>
            <a:ext cx="365760" cy="36576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2514600"/>
            <a:ext cx="365760" cy="36576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20" y="2880360"/>
            <a:ext cx="365760" cy="36576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11580" y="2880360"/>
            <a:ext cx="365760" cy="36576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77340" y="2880360"/>
            <a:ext cx="365760" cy="36576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3100" y="2880360"/>
            <a:ext cx="365760" cy="36576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5820" y="3246120"/>
            <a:ext cx="365760" cy="36576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11580" y="3246120"/>
            <a:ext cx="365760" cy="36576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77340" y="3246120"/>
            <a:ext cx="365760" cy="36576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43100" y="3246120"/>
            <a:ext cx="365760" cy="36576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749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5A8C"/>
                </a:solidFill>
              </a:rPr>
              <a:t>4×4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51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2F57"/>
                </a:solidFill>
              </a:rPr>
              <a:t>LEN 6~13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572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487"/>
                </a:solidFill>
              </a:rPr>
              <a:t>경우의 수 6~109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788920" y="1463040"/>
            <a:ext cx="2057400" cy="3840480"/>
          </a:xfrm>
          <a:prstGeom prst="roundRect">
            <a:avLst>
              <a:gd name="adj" fmla="val 6667"/>
            </a:avLst>
          </a:prstGeom>
          <a:solidFill>
            <a:srgbClr val="F6F3FC"/>
          </a:solidFill>
          <a:ln w="12700">
            <a:solidFill>
              <a:srgbClr val="F6F3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88920" y="1600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2F57"/>
                </a:solidFill>
              </a:rPr>
              <a:t>11–20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3031236" y="2093976"/>
            <a:ext cx="1572768" cy="1572768"/>
          </a:xfrm>
          <a:prstGeom prst="roundRect">
            <a:avLst>
              <a:gd name="adj" fmla="val 5814"/>
            </a:avLst>
          </a:prstGeom>
          <a:solidFill>
            <a:srgbClr val="98D56E"/>
          </a:solidFill>
          <a:ln w="25400">
            <a:solidFill>
              <a:srgbClr val="3B2F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86100" y="2148840"/>
            <a:ext cx="292608" cy="29260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78708" y="2148840"/>
            <a:ext cx="292608" cy="29260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71316" y="2148840"/>
            <a:ext cx="292608" cy="29260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63924" y="2148840"/>
            <a:ext cx="292608" cy="29260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56532" y="2148840"/>
            <a:ext cx="292608" cy="29260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86100" y="2441448"/>
            <a:ext cx="292608" cy="29260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78708" y="2441448"/>
            <a:ext cx="292608" cy="29260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71316" y="2441448"/>
            <a:ext cx="292608" cy="29260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63924" y="2441448"/>
            <a:ext cx="292608" cy="29260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56532" y="2441448"/>
            <a:ext cx="292608" cy="29260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86100" y="2734056"/>
            <a:ext cx="292608" cy="29260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78708" y="2734056"/>
            <a:ext cx="292608" cy="29260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71316" y="2734056"/>
            <a:ext cx="292608" cy="29260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63924" y="2734056"/>
            <a:ext cx="292608" cy="29260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56532" y="2734056"/>
            <a:ext cx="292608" cy="29260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86100" y="3026664"/>
            <a:ext cx="292608" cy="29260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78708" y="3026664"/>
            <a:ext cx="292608" cy="29260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71316" y="3026664"/>
            <a:ext cx="292608" cy="29260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63924" y="3026664"/>
            <a:ext cx="292608" cy="29260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56532" y="3026664"/>
            <a:ext cx="292608" cy="29260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86100" y="3319272"/>
            <a:ext cx="292608" cy="29260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78708" y="3319272"/>
            <a:ext cx="292608" cy="29260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71316" y="3319272"/>
            <a:ext cx="292608" cy="29260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963924" y="3319272"/>
            <a:ext cx="292608" cy="29260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56532" y="3319272"/>
            <a:ext cx="292608" cy="29260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788920" y="3749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5A8C"/>
                </a:solidFill>
              </a:rPr>
              <a:t>5×5</a:t>
            </a:r>
            <a:endParaRPr lang="en-US" sz="2200" dirty="0"/>
          </a:p>
        </p:txBody>
      </p:sp>
      <p:sp>
        <p:nvSpPr>
          <p:cNvPr id="55" name="Text 53"/>
          <p:cNvSpPr txBox="1"/>
          <p:nvPr/>
        </p:nvSpPr>
        <p:spPr>
          <a:xfrm>
            <a:off x="2788920" y="4251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2F57"/>
                </a:solidFill>
              </a:rPr>
              <a:t>LEN 11~17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2788920" y="4572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487"/>
                </a:solidFill>
              </a:rPr>
              <a:t>경우의 수 105~4194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5029200" y="1463040"/>
            <a:ext cx="2057400" cy="3840480"/>
          </a:xfrm>
          <a:prstGeom prst="roundRect">
            <a:avLst>
              <a:gd name="adj" fmla="val 6667"/>
            </a:avLst>
          </a:prstGeom>
          <a:solidFill>
            <a:srgbClr val="FFE3EC"/>
          </a:solidFill>
          <a:ln w="12700">
            <a:solidFill>
              <a:srgbClr val="FFE3E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029200" y="1600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2F57"/>
                </a:solidFill>
              </a:rPr>
              <a:t>21–30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5271516" y="2093976"/>
            <a:ext cx="1572768" cy="1572768"/>
          </a:xfrm>
          <a:prstGeom prst="roundRect">
            <a:avLst>
              <a:gd name="adj" fmla="val 5814"/>
            </a:avLst>
          </a:prstGeom>
          <a:solidFill>
            <a:srgbClr val="98D56E"/>
          </a:solidFill>
          <a:ln w="25400">
            <a:solidFill>
              <a:srgbClr val="3B2F5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26380" y="214884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70220" y="214884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14060" y="214884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57900" y="214884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01740" y="214884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545580" y="214884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26380" y="239268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570220" y="239268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14060" y="239268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057900" y="239268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01740" y="239268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545580" y="239268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326380" y="263652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70220" y="263652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814060" y="263652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057900" y="263652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01740" y="263652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545580" y="263652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326380" y="288036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570220" y="288036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814060" y="288036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57900" y="288036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301740" y="288036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545580" y="288036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326380" y="312420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570220" y="312420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814060" y="312420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057900" y="312420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301740" y="312420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545580" y="312420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326380" y="336804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570220" y="336804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814060" y="336804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057900" y="336804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01740" y="3368040"/>
            <a:ext cx="243840" cy="24384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545580" y="3368040"/>
            <a:ext cx="243840" cy="24384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5029200" y="3749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5A8C"/>
                </a:solidFill>
              </a:rPr>
              <a:t>6×6</a:t>
            </a:r>
            <a:endParaRPr lang="en-US" sz="2200" dirty="0"/>
          </a:p>
        </p:txBody>
      </p:sp>
      <p:sp>
        <p:nvSpPr>
          <p:cNvPr id="97" name="Text 95"/>
          <p:cNvSpPr txBox="1"/>
          <p:nvPr/>
        </p:nvSpPr>
        <p:spPr>
          <a:xfrm>
            <a:off x="5029200" y="4251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2F57"/>
                </a:solidFill>
              </a:rPr>
              <a:t>LEN 17~24</a:t>
            </a:r>
            <a:endParaRPr lang="en-US" sz="1250" dirty="0"/>
          </a:p>
        </p:txBody>
      </p:sp>
      <p:sp>
        <p:nvSpPr>
          <p:cNvPr id="98" name="Text 96"/>
          <p:cNvSpPr txBox="1"/>
          <p:nvPr/>
        </p:nvSpPr>
        <p:spPr>
          <a:xfrm>
            <a:off x="5029200" y="4572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487"/>
                </a:solidFill>
              </a:rPr>
              <a:t>경우의 수 3179~4.6만</a:t>
            </a:r>
            <a:endParaRPr lang="en-US" sz="1150" dirty="0"/>
          </a:p>
        </p:txBody>
      </p:sp>
      <p:sp>
        <p:nvSpPr>
          <p:cNvPr id="99" name="Shape 97"/>
          <p:cNvSpPr/>
          <p:nvPr/>
        </p:nvSpPr>
        <p:spPr>
          <a:xfrm>
            <a:off x="7269480" y="1463040"/>
            <a:ext cx="2057400" cy="3840480"/>
          </a:xfrm>
          <a:prstGeom prst="roundRect">
            <a:avLst>
              <a:gd name="adj" fmla="val 6667"/>
            </a:avLst>
          </a:prstGeom>
          <a:solidFill>
            <a:srgbClr val="F6F3FC"/>
          </a:solidFill>
          <a:ln w="12700">
            <a:solidFill>
              <a:srgbClr val="F6F3FC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7269480" y="1600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2F57"/>
                </a:solidFill>
              </a:rPr>
              <a:t>31–40</a:t>
            </a:r>
            <a:endParaRPr lang="en-US" sz="1700" dirty="0"/>
          </a:p>
        </p:txBody>
      </p:sp>
      <p:sp>
        <p:nvSpPr>
          <p:cNvPr id="101" name="Shape 99"/>
          <p:cNvSpPr/>
          <p:nvPr/>
        </p:nvSpPr>
        <p:spPr>
          <a:xfrm>
            <a:off x="7511796" y="2093976"/>
            <a:ext cx="1572768" cy="1572768"/>
          </a:xfrm>
          <a:prstGeom prst="roundRect">
            <a:avLst>
              <a:gd name="adj" fmla="val 5814"/>
            </a:avLst>
          </a:prstGeom>
          <a:solidFill>
            <a:srgbClr val="98D56E"/>
          </a:solidFill>
          <a:ln w="25400">
            <a:solidFill>
              <a:srgbClr val="3B2F57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566660" y="2148840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7775666" y="2148840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984671" y="2148840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193677" y="2148840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402683" y="2148840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11689" y="2148840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8820694" y="2148840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566660" y="2357846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775666" y="2357846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984671" y="2357846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93677" y="2357846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402683" y="2357846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611689" y="2357846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820694" y="2357846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566660" y="2566851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775666" y="2566851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84671" y="2566851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193677" y="2566851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402683" y="2566851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611689" y="2566851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820694" y="2566851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566660" y="2775857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775666" y="2775857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984671" y="2775857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193677" y="2775857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402683" y="2775857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8611689" y="2775857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8820694" y="2775857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566660" y="2984863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775666" y="2984863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984671" y="2984863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193677" y="2984863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8402683" y="2984863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8611689" y="2984863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820694" y="2984863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566660" y="3193869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775666" y="3193869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984671" y="3193869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193677" y="3193869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402683" y="3193869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8611689" y="3193869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820694" y="3193869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566660" y="3402874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775666" y="3402874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984671" y="3402874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193677" y="3402874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402683" y="3402874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611689" y="3402874"/>
            <a:ext cx="209006" cy="209006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820694" y="3402874"/>
            <a:ext cx="209006" cy="209006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7269480" y="3749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5A8C"/>
                </a:solidFill>
              </a:rPr>
              <a:t>7×7</a:t>
            </a:r>
            <a:endParaRPr lang="en-US" sz="2200" dirty="0"/>
          </a:p>
        </p:txBody>
      </p:sp>
      <p:sp>
        <p:nvSpPr>
          <p:cNvPr id="152" name="Text 150"/>
          <p:cNvSpPr txBox="1"/>
          <p:nvPr/>
        </p:nvSpPr>
        <p:spPr>
          <a:xfrm>
            <a:off x="7269480" y="4251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2F57"/>
                </a:solidFill>
              </a:rPr>
              <a:t>LEN 25~32</a:t>
            </a:r>
            <a:endParaRPr lang="en-US" sz="1250" dirty="0"/>
          </a:p>
        </p:txBody>
      </p:sp>
      <p:sp>
        <p:nvSpPr>
          <p:cNvPr id="153" name="Text 151"/>
          <p:cNvSpPr txBox="1"/>
          <p:nvPr/>
        </p:nvSpPr>
        <p:spPr>
          <a:xfrm>
            <a:off x="7269480" y="4572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487"/>
                </a:solidFill>
              </a:rPr>
              <a:t>경우의 수 2.7만~106.8만</a:t>
            </a:r>
            <a:endParaRPr lang="en-US" sz="1150" dirty="0"/>
          </a:p>
        </p:txBody>
      </p:sp>
      <p:sp>
        <p:nvSpPr>
          <p:cNvPr id="154" name="Shape 152"/>
          <p:cNvSpPr/>
          <p:nvPr/>
        </p:nvSpPr>
        <p:spPr>
          <a:xfrm>
            <a:off x="9509760" y="1463040"/>
            <a:ext cx="2057400" cy="3840480"/>
          </a:xfrm>
          <a:prstGeom prst="roundRect">
            <a:avLst>
              <a:gd name="adj" fmla="val 6667"/>
            </a:avLst>
          </a:prstGeom>
          <a:solidFill>
            <a:srgbClr val="FFE3EC"/>
          </a:solidFill>
          <a:ln w="12700">
            <a:solidFill>
              <a:srgbClr val="FFE3EC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9509760" y="1600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2F57"/>
                </a:solidFill>
              </a:rPr>
              <a:t>41–50</a:t>
            </a:r>
            <a:endParaRPr lang="en-US" sz="1700" dirty="0"/>
          </a:p>
        </p:txBody>
      </p:sp>
      <p:sp>
        <p:nvSpPr>
          <p:cNvPr id="156" name="Shape 154"/>
          <p:cNvSpPr/>
          <p:nvPr/>
        </p:nvSpPr>
        <p:spPr>
          <a:xfrm>
            <a:off x="9752076" y="2093976"/>
            <a:ext cx="1572768" cy="1572768"/>
          </a:xfrm>
          <a:prstGeom prst="roundRect">
            <a:avLst>
              <a:gd name="adj" fmla="val 5814"/>
            </a:avLst>
          </a:prstGeom>
          <a:solidFill>
            <a:srgbClr val="98D56E"/>
          </a:solidFill>
          <a:ln w="25400">
            <a:solidFill>
              <a:srgbClr val="3B2F57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9806940" y="214884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9989820" y="214884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172700" y="214884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0355580" y="214884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538460" y="214884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0721340" y="214884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904220" y="214884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1087100" y="214884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9806940" y="233172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989820" y="233172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172700" y="233172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0355580" y="233172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0538460" y="233172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721340" y="233172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904220" y="233172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1087100" y="233172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9806940" y="251460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9989820" y="251460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0172700" y="251460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355580" y="251460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538460" y="251460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0721340" y="251460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10904220" y="251460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1087100" y="251460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9806940" y="269748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9989820" y="269748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10172700" y="269748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10355580" y="269748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10538460" y="269748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721340" y="269748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904220" y="269748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11087100" y="269748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9806940" y="288036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9989820" y="288036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0172700" y="288036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10355580" y="288036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10538460" y="288036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721340" y="288036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904220" y="288036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1087100" y="288036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9806940" y="306324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989820" y="306324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172700" y="306324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355580" y="306324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538460" y="306324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10721340" y="306324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0904220" y="306324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1087100" y="306324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806940" y="324612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9989820" y="324612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10172700" y="324612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355580" y="324612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538460" y="324612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721340" y="324612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10904220" y="324612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1087100" y="324612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806940" y="342900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9989820" y="342900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172700" y="342900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10355580" y="342900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10538460" y="342900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10721340" y="342900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904220" y="3429000"/>
            <a:ext cx="182880" cy="182880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1087100" y="3429000"/>
            <a:ext cx="182880" cy="182880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21" name="Text 219"/>
          <p:cNvSpPr txBox="1"/>
          <p:nvPr/>
        </p:nvSpPr>
        <p:spPr>
          <a:xfrm>
            <a:off x="9509760" y="374904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5A8C"/>
                </a:solidFill>
              </a:rPr>
              <a:t>8×8</a:t>
            </a:r>
            <a:endParaRPr lang="en-US" sz="2200" dirty="0"/>
          </a:p>
        </p:txBody>
      </p:sp>
      <p:sp>
        <p:nvSpPr>
          <p:cNvPr id="222" name="Text 220"/>
          <p:cNvSpPr txBox="1"/>
          <p:nvPr/>
        </p:nvSpPr>
        <p:spPr>
          <a:xfrm>
            <a:off x="9509760" y="4251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B2F57"/>
                </a:solidFill>
              </a:rPr>
              <a:t>LEN 33~40</a:t>
            </a:r>
            <a:endParaRPr lang="en-US" sz="1250" dirty="0"/>
          </a:p>
        </p:txBody>
      </p:sp>
      <p:sp>
        <p:nvSpPr>
          <p:cNvPr id="223" name="Text 221"/>
          <p:cNvSpPr txBox="1"/>
          <p:nvPr/>
        </p:nvSpPr>
        <p:spPr>
          <a:xfrm>
            <a:off x="9509760" y="45720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6487"/>
                </a:solidFill>
              </a:rPr>
              <a:t>경우의 수 11.3만~1430.3만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A8C"/>
                </a:solidFill>
              </a:rPr>
              <a:t>2.2 스테이지 유형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2F57"/>
                </a:solidFill>
              </a:rPr>
              <a:t>일반 · 관문 · 먼 길 3종 + 전 스테이지 단일 해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3291840"/>
                <a:gridCol w="4069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2F57"/>
                          </a:solidFill>
                        </a:rPr>
                        <a:t>유형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2F57"/>
                          </a:solidFill>
                        </a:rPr>
                        <a:t>대상 스테이지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2F57"/>
                          </a:solidFill>
                        </a:rPr>
                        <a:t>LEN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2F57"/>
                          </a:solidFill>
                        </a:rPr>
                        <a:t>경우의 수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관문 · 먼 길 외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목표 경우의 수 도달 최소 LEN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목표 곡선 추종 · 직전 일반 대비 1.15배 이상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관문 (허들)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5의 배수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인접 일반 + 1~4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구간 내 최대 · 앞 스테이지 대비 1.5배 이상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먼 길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끝자리 3 · 8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앞뒤 일반 + 1~2 이상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앞뒤 일반 스테이지보다 적음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공통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전 스테이지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정답 경로 1개 (단일 해)만 채택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14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C5A8C"/>
                </a:solidFill>
              </a:rPr>
              <a:t>10스테이지 구간 리듬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480560"/>
            <a:ext cx="1005840" cy="868680"/>
          </a:xfrm>
          <a:prstGeom prst="roundRect">
            <a:avLst>
              <a:gd name="adj" fmla="val 12632"/>
            </a:avLst>
          </a:prstGeom>
          <a:solidFill>
            <a:srgbClr val="E9E4F7"/>
          </a:solidFill>
          <a:ln w="15875">
            <a:solidFill>
              <a:srgbClr val="3B2F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F57"/>
                </a:solidFill>
              </a:rPr>
              <a:t>1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B2F57"/>
                </a:solidFill>
              </a:rPr>
              <a:t>일반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59636" y="4480560"/>
            <a:ext cx="1005840" cy="868680"/>
          </a:xfrm>
          <a:prstGeom prst="roundRect">
            <a:avLst>
              <a:gd name="adj" fmla="val 12632"/>
            </a:avLst>
          </a:prstGeom>
          <a:solidFill>
            <a:srgbClr val="E9E4F7"/>
          </a:solidFill>
          <a:ln w="15875">
            <a:solidFill>
              <a:srgbClr val="3B2F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F57"/>
                </a:solidFill>
              </a:rPr>
              <a:t>2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B2F57"/>
                </a:solidFill>
              </a:rPr>
              <a:t>일반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70632" y="4480560"/>
            <a:ext cx="1005840" cy="868680"/>
          </a:xfrm>
          <a:prstGeom prst="roundRect">
            <a:avLst>
              <a:gd name="adj" fmla="val 12632"/>
            </a:avLst>
          </a:prstGeom>
          <a:solidFill>
            <a:srgbClr val="FFD45C"/>
          </a:solidFill>
          <a:ln w="15875">
            <a:solidFill>
              <a:srgbClr val="3B2F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F57"/>
                </a:solidFill>
              </a:rPr>
              <a:t>3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B2F57"/>
                </a:solidFill>
              </a:rPr>
              <a:t>먼 길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81628" y="4480560"/>
            <a:ext cx="1005840" cy="868680"/>
          </a:xfrm>
          <a:prstGeom prst="roundRect">
            <a:avLst>
              <a:gd name="adj" fmla="val 12632"/>
            </a:avLst>
          </a:prstGeom>
          <a:solidFill>
            <a:srgbClr val="E9E4F7"/>
          </a:solidFill>
          <a:ln w="15875">
            <a:solidFill>
              <a:srgbClr val="3B2F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F57"/>
                </a:solidFill>
              </a:rPr>
              <a:t>4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B2F57"/>
                </a:solidFill>
              </a:rPr>
              <a:t>일반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992624" y="4480560"/>
            <a:ext cx="1005840" cy="868680"/>
          </a:xfrm>
          <a:prstGeom prst="roundRect">
            <a:avLst>
              <a:gd name="adj" fmla="val 12632"/>
            </a:avLst>
          </a:prstGeom>
          <a:solidFill>
            <a:srgbClr val="EC5A8C"/>
          </a:solidFill>
          <a:ln w="15875">
            <a:solidFill>
              <a:srgbClr val="3B2F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관문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03620" y="4480560"/>
            <a:ext cx="1005840" cy="868680"/>
          </a:xfrm>
          <a:prstGeom prst="roundRect">
            <a:avLst>
              <a:gd name="adj" fmla="val 12632"/>
            </a:avLst>
          </a:prstGeom>
          <a:solidFill>
            <a:srgbClr val="E9E4F7"/>
          </a:solidFill>
          <a:ln w="15875">
            <a:solidFill>
              <a:srgbClr val="3B2F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F57"/>
                </a:solidFill>
              </a:rPr>
              <a:t>6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B2F57"/>
                </a:solidFill>
              </a:rPr>
              <a:t>일반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14616" y="4480560"/>
            <a:ext cx="1005840" cy="868680"/>
          </a:xfrm>
          <a:prstGeom prst="roundRect">
            <a:avLst>
              <a:gd name="adj" fmla="val 12632"/>
            </a:avLst>
          </a:prstGeom>
          <a:solidFill>
            <a:srgbClr val="E9E4F7"/>
          </a:solidFill>
          <a:ln w="15875">
            <a:solidFill>
              <a:srgbClr val="3B2F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F57"/>
                </a:solidFill>
              </a:rPr>
              <a:t>7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B2F57"/>
                </a:solidFill>
              </a:rPr>
              <a:t>일반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25612" y="4480560"/>
            <a:ext cx="1005840" cy="868680"/>
          </a:xfrm>
          <a:prstGeom prst="roundRect">
            <a:avLst>
              <a:gd name="adj" fmla="val 12632"/>
            </a:avLst>
          </a:prstGeom>
          <a:solidFill>
            <a:srgbClr val="FFD45C"/>
          </a:solidFill>
          <a:ln w="15875">
            <a:solidFill>
              <a:srgbClr val="3B2F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F57"/>
                </a:solidFill>
              </a:rPr>
              <a:t>8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B2F57"/>
                </a:solidFill>
              </a:rPr>
              <a:t>먼 길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436608" y="4480560"/>
            <a:ext cx="1005840" cy="868680"/>
          </a:xfrm>
          <a:prstGeom prst="roundRect">
            <a:avLst>
              <a:gd name="adj" fmla="val 12632"/>
            </a:avLst>
          </a:prstGeom>
          <a:solidFill>
            <a:srgbClr val="E9E4F7"/>
          </a:solidFill>
          <a:ln w="15875">
            <a:solidFill>
              <a:srgbClr val="3B2F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2F57"/>
                </a:solidFill>
              </a:rPr>
              <a:t>9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B2F57"/>
                </a:solidFill>
              </a:rPr>
              <a:t>일반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547604" y="4480560"/>
            <a:ext cx="1005840" cy="868680"/>
          </a:xfrm>
          <a:prstGeom prst="roundRect">
            <a:avLst>
              <a:gd name="adj" fmla="val 12632"/>
            </a:avLst>
          </a:prstGeom>
          <a:solidFill>
            <a:srgbClr val="EC5A8C"/>
          </a:solidFill>
          <a:ln w="15875">
            <a:solidFill>
              <a:srgbClr val="3B2F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관문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486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487"/>
                </a:solidFill>
              </a:rPr>
              <a:t>11~50스테이지 동일 패턴 (끝자리 기준)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A8C"/>
                </a:solidFill>
              </a:rPr>
              <a:t>2.3 목표 곡선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2F57"/>
                </a:solidFill>
              </a:rPr>
              <a:t>일반 스테이지 경우의 수 목표 (log10), 앵커 사이 선형 보간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1508760"/>
                <a:gridCol w="1508760"/>
                <a:gridCol w="1508760"/>
                <a:gridCol w="1508760"/>
                <a:gridCol w="1508760"/>
                <a:gridCol w="1508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2F57"/>
                          </a:solidFill>
                        </a:rPr>
                        <a:t>앵커 스테이지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2F57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2F57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2F57"/>
                          </a:solidFill>
                        </a:rPr>
                        <a:t>19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2F57"/>
                          </a:solidFill>
                        </a:rPr>
                        <a:t>29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2F57"/>
                          </a:solidFill>
                        </a:rPr>
                        <a:t>39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2F57"/>
                          </a:solidFill>
                        </a:rPr>
                        <a:t>49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목표 log10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0.78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1.8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3.4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4.5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5.6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6.8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목표 경우의 수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약 6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약 63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약 2,500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약 3.2만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약 40만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약 630만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48640" y="3063240"/>
          <a:ext cx="11109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FFD45C"/>
                </a:solidFill>
              </a:rPr>
              <a:t>03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3063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제작 프로세스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40690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2EE"/>
                </a:solidFill>
              </a:rPr>
              <a:t>후보 생성 · 측정 · 선택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D2EE"/>
                </a:solidFill>
              </a:rPr>
              <a:t>규칙 검사</a:t>
            </a:r>
            <a:endParaRPr lang="en-US" sz="1600" dirty="0"/>
          </a:p>
        </p:txBody>
      </p:sp>
      <p:sp>
        <p:nvSpPr>
          <p:cNvPr id="5" name="chapter-card"/>
          <p:cNvSpPr/>
          <p:nvPr/>
        </p:nvSpPr>
        <p:spPr>
          <a:xfrm>
            <a:off x="7726680" y="1051560"/>
            <a:ext cx="4023360" cy="4023360"/>
          </a:xfrm>
          <a:prstGeom prst="roundRect">
            <a:avLst>
              <a:gd name="adj" fmla="val 6818"/>
            </a:avLst>
          </a:prstGeom>
          <a:solidFill>
            <a:srgbClr val="F6F3FC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6" name="chapter-art" descr="C:/Users/user/Desktop/창고/기획서/images/codex/deck/section_02_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188720"/>
            <a:ext cx="37490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A8C"/>
                </a:solidFill>
              </a:rPr>
              <a:t>3.1 레벨 제작 흐름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2F57"/>
                </a:solidFill>
              </a:rPr>
              <a:t>후보 맵 생성 → 경우의 수 측정 → 목표 · 규칙 충족 맵 고정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8096" y="1911096"/>
            <a:ext cx="2944368" cy="2944368"/>
          </a:xfrm>
          <a:prstGeom prst="roundRect">
            <a:avLst>
              <a:gd name="adj" fmla="val 3106"/>
            </a:avLst>
          </a:prstGeom>
          <a:solidFill>
            <a:srgbClr val="98D56E"/>
          </a:solidFill>
          <a:ln w="25400">
            <a:solidFill>
              <a:srgbClr val="3B2F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9888" y="1965960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56816" y="1965960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23744" y="1965960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90672" y="1965960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32888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89888" y="2532888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56816" y="2532888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23744" y="2532888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2532888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099816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89888" y="3099816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56816" y="3099816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3744" y="3099816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90672" y="3099816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666744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89888" y="3666744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56816" y="3666744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23744" y="3666744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90672" y="3666744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233672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89888" y="4233672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56816" y="4233672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3744" y="4233672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90672" y="4233672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06424" y="2249424"/>
            <a:ext cx="1133856" cy="566928"/>
          </a:xfrm>
          <a:prstGeom prst="line">
            <a:avLst/>
          </a:prstGeom>
          <a:noFill/>
          <a:ln w="31750">
            <a:solidFill>
              <a:srgbClr val="EC5A8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2816352"/>
            <a:ext cx="1133856" cy="566928"/>
          </a:xfrm>
          <a:prstGeom prst="line">
            <a:avLst/>
          </a:prstGeom>
          <a:noFill/>
          <a:ln w="31750">
            <a:solidFill>
              <a:srgbClr val="EC5A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2807208" y="3383280"/>
            <a:ext cx="566928" cy="1133856"/>
          </a:xfrm>
          <a:prstGeom prst="line">
            <a:avLst/>
          </a:prstGeom>
          <a:noFill/>
          <a:ln w="31750">
            <a:solidFill>
              <a:srgbClr val="EC5A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1673352" y="3950208"/>
            <a:ext cx="1133856" cy="566928"/>
          </a:xfrm>
          <a:prstGeom prst="line">
            <a:avLst/>
          </a:prstGeom>
          <a:noFill/>
          <a:ln w="31750">
            <a:solidFill>
              <a:srgbClr val="EC5A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1106424" y="2816352"/>
            <a:ext cx="566928" cy="1133856"/>
          </a:xfrm>
          <a:prstGeom prst="line">
            <a:avLst/>
          </a:prstGeom>
          <a:noFill/>
          <a:ln w="31750">
            <a:solidFill>
              <a:srgbClr val="EC5A8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06424" y="2816352"/>
            <a:ext cx="1133856" cy="566928"/>
          </a:xfrm>
          <a:prstGeom prst="line">
            <a:avLst/>
          </a:prstGeom>
          <a:noFill/>
          <a:ln w="31750">
            <a:solidFill>
              <a:srgbClr val="EC5A8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40280" y="3383280"/>
            <a:ext cx="1133856" cy="566928"/>
          </a:xfrm>
          <a:prstGeom prst="line">
            <a:avLst/>
          </a:prstGeom>
          <a:noFill/>
          <a:ln w="31750">
            <a:solidFill>
              <a:srgbClr val="EC5A8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2807208" y="2816352"/>
            <a:ext cx="566928" cy="1133856"/>
          </a:xfrm>
          <a:prstGeom prst="line">
            <a:avLst/>
          </a:prstGeom>
          <a:noFill/>
          <a:ln w="31750">
            <a:solidFill>
              <a:srgbClr val="EC5A8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1673352" y="2249424"/>
            <a:ext cx="1133856" cy="566928"/>
          </a:xfrm>
          <a:prstGeom prst="line">
            <a:avLst/>
          </a:prstGeom>
          <a:noFill/>
          <a:ln w="31750">
            <a:solidFill>
              <a:srgbClr val="EC5A8C"/>
            </a:solidFill>
            <a:prstDash val="solid"/>
          </a:ln>
        </p:spPr>
      </p:sp>
      <p:pic>
        <p:nvPicPr>
          <p:cNvPr id="39" name="Image 0" descr="C:/Users/user/Desktop/창고/knight-tour/img/r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3649" y="2045330"/>
            <a:ext cx="473262" cy="408188"/>
          </a:xfrm>
          <a:prstGeom prst="rect">
            <a:avLst/>
          </a:prstGeom>
        </p:spPr>
      </p:pic>
      <p:pic>
        <p:nvPicPr>
          <p:cNvPr id="40" name="Image 1" descr="C:/Users/user/Desktop/창고/knight-tour/img/r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577" y="2045330"/>
            <a:ext cx="473262" cy="408188"/>
          </a:xfrm>
          <a:prstGeom prst="rect">
            <a:avLst/>
          </a:prstGeom>
        </p:spPr>
      </p:pic>
      <p:pic>
        <p:nvPicPr>
          <p:cNvPr id="41" name="Image 2" descr="C:/Users/user/Desktop/창고/knight-tour/img/r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505" y="2045330"/>
            <a:ext cx="473262" cy="408188"/>
          </a:xfrm>
          <a:prstGeom prst="rect">
            <a:avLst/>
          </a:prstGeom>
        </p:spPr>
      </p:pic>
      <p:pic>
        <p:nvPicPr>
          <p:cNvPr id="42" name="Image 3" descr="C:/Users/user/Desktop/창고/knight-tour/img/r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721" y="2612258"/>
            <a:ext cx="473262" cy="408188"/>
          </a:xfrm>
          <a:prstGeom prst="rect">
            <a:avLst/>
          </a:prstGeom>
        </p:spPr>
      </p:pic>
      <p:pic>
        <p:nvPicPr>
          <p:cNvPr id="43" name="Image 4" descr="C:/Users/user/Desktop/창고/knight-tour/img/r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7505" y="2612258"/>
            <a:ext cx="473262" cy="408188"/>
          </a:xfrm>
          <a:prstGeom prst="rect">
            <a:avLst/>
          </a:prstGeom>
        </p:spPr>
      </p:pic>
      <p:pic>
        <p:nvPicPr>
          <p:cNvPr id="44" name="Image 5" descr="C:/Users/user/Desktop/창고/knight-tour/img/r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793" y="3179186"/>
            <a:ext cx="473262" cy="408188"/>
          </a:xfrm>
          <a:prstGeom prst="rect">
            <a:avLst/>
          </a:prstGeom>
        </p:spPr>
      </p:pic>
      <p:pic>
        <p:nvPicPr>
          <p:cNvPr id="45" name="Image 6" descr="C:/Users/user/Desktop/창고/knight-tour/img/r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6721" y="3179186"/>
            <a:ext cx="473262" cy="408188"/>
          </a:xfrm>
          <a:prstGeom prst="rect">
            <a:avLst/>
          </a:prstGeom>
        </p:spPr>
      </p:pic>
      <p:pic>
        <p:nvPicPr>
          <p:cNvPr id="46" name="Image 7" descr="C:/Users/user/Desktop/창고/knight-tour/img/ro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0577" y="3179186"/>
            <a:ext cx="473262" cy="408188"/>
          </a:xfrm>
          <a:prstGeom prst="rect">
            <a:avLst/>
          </a:prstGeom>
        </p:spPr>
      </p:pic>
      <p:pic>
        <p:nvPicPr>
          <p:cNvPr id="47" name="Image 8" descr="C:/Users/user/Desktop/창고/knight-tour/img/ro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793" y="3746114"/>
            <a:ext cx="473262" cy="408188"/>
          </a:xfrm>
          <a:prstGeom prst="rect">
            <a:avLst/>
          </a:prstGeom>
        </p:spPr>
      </p:pic>
      <p:pic>
        <p:nvPicPr>
          <p:cNvPr id="48" name="Image 9" descr="C:/Users/user/Desktop/창고/knight-tour/img/ro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03649" y="3746114"/>
            <a:ext cx="473262" cy="408188"/>
          </a:xfrm>
          <a:prstGeom prst="rect">
            <a:avLst/>
          </a:prstGeom>
        </p:spPr>
      </p:pic>
      <p:pic>
        <p:nvPicPr>
          <p:cNvPr id="49" name="Image 10" descr="C:/Users/user/Desktop/창고/knight-tour/img/rock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70577" y="3746114"/>
            <a:ext cx="473262" cy="408188"/>
          </a:xfrm>
          <a:prstGeom prst="rect">
            <a:avLst/>
          </a:prstGeom>
        </p:spPr>
      </p:pic>
      <p:pic>
        <p:nvPicPr>
          <p:cNvPr id="50" name="Image 11" descr="C:/Users/user/Desktop/창고/knight-tour/img/r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793" y="4313042"/>
            <a:ext cx="473262" cy="408188"/>
          </a:xfrm>
          <a:prstGeom prst="rect">
            <a:avLst/>
          </a:prstGeom>
        </p:spPr>
      </p:pic>
      <p:pic>
        <p:nvPicPr>
          <p:cNvPr id="51" name="Image 12" descr="C:/Users/user/Desktop/창고/knight-tour/img/rock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36721" y="4313042"/>
            <a:ext cx="473262" cy="408188"/>
          </a:xfrm>
          <a:prstGeom prst="rect">
            <a:avLst/>
          </a:prstGeom>
        </p:spPr>
      </p:pic>
      <p:pic>
        <p:nvPicPr>
          <p:cNvPr id="52" name="Image 13" descr="C:/Users/user/Desktop/창고/knight-tour/img/roc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03649" y="4313042"/>
            <a:ext cx="473262" cy="408188"/>
          </a:xfrm>
          <a:prstGeom prst="rect">
            <a:avLst/>
          </a:prstGeom>
        </p:spPr>
      </p:pic>
      <p:pic>
        <p:nvPicPr>
          <p:cNvPr id="53" name="Image 14" descr="C:/Users/user/Desktop/창고/knight-tour/img/rock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37505" y="4313042"/>
            <a:ext cx="473262" cy="408188"/>
          </a:xfrm>
          <a:prstGeom prst="rect">
            <a:avLst/>
          </a:prstGeom>
        </p:spPr>
      </p:pic>
      <p:pic>
        <p:nvPicPr>
          <p:cNvPr id="54" name="Image 15" descr="C:/Users/user/Desktop/창고/knight-tour/img/castl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25703" y="2005645"/>
            <a:ext cx="495297" cy="487558"/>
          </a:xfrm>
          <a:prstGeom prst="rect">
            <a:avLst/>
          </a:prstGeom>
        </p:spPr>
      </p:pic>
      <p:sp>
        <p:nvSpPr>
          <p:cNvPr id="55" name="Shape 37"/>
          <p:cNvSpPr/>
          <p:nvPr/>
        </p:nvSpPr>
        <p:spPr>
          <a:xfrm>
            <a:off x="4562856" y="1911096"/>
            <a:ext cx="2944368" cy="2944368"/>
          </a:xfrm>
          <a:prstGeom prst="roundRect">
            <a:avLst>
              <a:gd name="adj" fmla="val 3106"/>
            </a:avLst>
          </a:prstGeom>
          <a:solidFill>
            <a:srgbClr val="98D56E"/>
          </a:solidFill>
          <a:ln w="25400">
            <a:solidFill>
              <a:srgbClr val="3B2F57"/>
            </a:solidFill>
            <a:prstDash val="solid"/>
          </a:ln>
        </p:spPr>
      </p:sp>
      <p:sp>
        <p:nvSpPr>
          <p:cNvPr id="56" name="Shape 38"/>
          <p:cNvSpPr/>
          <p:nvPr/>
        </p:nvSpPr>
        <p:spPr>
          <a:xfrm>
            <a:off x="4617720" y="1965960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57" name="Shape 39"/>
          <p:cNvSpPr/>
          <p:nvPr/>
        </p:nvSpPr>
        <p:spPr>
          <a:xfrm>
            <a:off x="5184648" y="1965960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58" name="Shape 40"/>
          <p:cNvSpPr/>
          <p:nvPr/>
        </p:nvSpPr>
        <p:spPr>
          <a:xfrm>
            <a:off x="5751576" y="1965960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59" name="Shape 41"/>
          <p:cNvSpPr/>
          <p:nvPr/>
        </p:nvSpPr>
        <p:spPr>
          <a:xfrm>
            <a:off x="6318504" y="1965960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0" name="Shape 42"/>
          <p:cNvSpPr/>
          <p:nvPr/>
        </p:nvSpPr>
        <p:spPr>
          <a:xfrm>
            <a:off x="6885432" y="1965960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1" name="Shape 43"/>
          <p:cNvSpPr/>
          <p:nvPr/>
        </p:nvSpPr>
        <p:spPr>
          <a:xfrm>
            <a:off x="4617720" y="2532888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2" name="Shape 44"/>
          <p:cNvSpPr/>
          <p:nvPr/>
        </p:nvSpPr>
        <p:spPr>
          <a:xfrm>
            <a:off x="5184648" y="2532888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3" name="Shape 45"/>
          <p:cNvSpPr/>
          <p:nvPr/>
        </p:nvSpPr>
        <p:spPr>
          <a:xfrm>
            <a:off x="5751576" y="2532888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4" name="Shape 46"/>
          <p:cNvSpPr/>
          <p:nvPr/>
        </p:nvSpPr>
        <p:spPr>
          <a:xfrm>
            <a:off x="6318504" y="2532888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5" name="Shape 47"/>
          <p:cNvSpPr/>
          <p:nvPr/>
        </p:nvSpPr>
        <p:spPr>
          <a:xfrm>
            <a:off x="6885432" y="2532888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6" name="Shape 48"/>
          <p:cNvSpPr/>
          <p:nvPr/>
        </p:nvSpPr>
        <p:spPr>
          <a:xfrm>
            <a:off x="4617720" y="3099816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7" name="Shape 49"/>
          <p:cNvSpPr/>
          <p:nvPr/>
        </p:nvSpPr>
        <p:spPr>
          <a:xfrm>
            <a:off x="5184648" y="3099816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8" name="Shape 50"/>
          <p:cNvSpPr/>
          <p:nvPr/>
        </p:nvSpPr>
        <p:spPr>
          <a:xfrm>
            <a:off x="5751576" y="3099816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69" name="Shape 51"/>
          <p:cNvSpPr/>
          <p:nvPr/>
        </p:nvSpPr>
        <p:spPr>
          <a:xfrm>
            <a:off x="6318504" y="3099816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0" name="Shape 52"/>
          <p:cNvSpPr/>
          <p:nvPr/>
        </p:nvSpPr>
        <p:spPr>
          <a:xfrm>
            <a:off x="6885432" y="3099816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1" name="Shape 53"/>
          <p:cNvSpPr/>
          <p:nvPr/>
        </p:nvSpPr>
        <p:spPr>
          <a:xfrm>
            <a:off x="4617720" y="3666744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2" name="Shape 54"/>
          <p:cNvSpPr/>
          <p:nvPr/>
        </p:nvSpPr>
        <p:spPr>
          <a:xfrm>
            <a:off x="5184648" y="3666744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3" name="Shape 55"/>
          <p:cNvSpPr/>
          <p:nvPr/>
        </p:nvSpPr>
        <p:spPr>
          <a:xfrm>
            <a:off x="5751576" y="3666744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4" name="Shape 56"/>
          <p:cNvSpPr/>
          <p:nvPr/>
        </p:nvSpPr>
        <p:spPr>
          <a:xfrm>
            <a:off x="6318504" y="3666744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5" name="Shape 57"/>
          <p:cNvSpPr/>
          <p:nvPr/>
        </p:nvSpPr>
        <p:spPr>
          <a:xfrm>
            <a:off x="6885432" y="3666744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6" name="Shape 58"/>
          <p:cNvSpPr/>
          <p:nvPr/>
        </p:nvSpPr>
        <p:spPr>
          <a:xfrm>
            <a:off x="4617720" y="4233672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7" name="Shape 59"/>
          <p:cNvSpPr/>
          <p:nvPr/>
        </p:nvSpPr>
        <p:spPr>
          <a:xfrm>
            <a:off x="5184648" y="4233672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8" name="Shape 60"/>
          <p:cNvSpPr/>
          <p:nvPr/>
        </p:nvSpPr>
        <p:spPr>
          <a:xfrm>
            <a:off x="5751576" y="4233672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79" name="Shape 61"/>
          <p:cNvSpPr/>
          <p:nvPr/>
        </p:nvSpPr>
        <p:spPr>
          <a:xfrm>
            <a:off x="6318504" y="4233672"/>
            <a:ext cx="566928" cy="566928"/>
          </a:xfrm>
          <a:prstGeom prst="rect">
            <a:avLst/>
          </a:prstGeom>
          <a:solidFill>
            <a:srgbClr val="98D56E"/>
          </a:solidFill>
          <a:ln w="12700">
            <a:solidFill>
              <a:srgbClr val="98D56E"/>
            </a:solidFill>
            <a:prstDash val="solid"/>
          </a:ln>
        </p:spPr>
      </p:sp>
      <p:sp>
        <p:nvSpPr>
          <p:cNvPr id="80" name="Shape 62"/>
          <p:cNvSpPr/>
          <p:nvPr/>
        </p:nvSpPr>
        <p:spPr>
          <a:xfrm>
            <a:off x="6885432" y="4233672"/>
            <a:ext cx="566928" cy="566928"/>
          </a:xfrm>
          <a:prstGeom prst="rect">
            <a:avLst/>
          </a:prstGeom>
          <a:solidFill>
            <a:srgbClr val="AEE283"/>
          </a:solidFill>
          <a:ln w="12700">
            <a:solidFill>
              <a:srgbClr val="98D56E"/>
            </a:solidFill>
            <a:prstDash val="solid"/>
          </a:ln>
        </p:spPr>
      </p:sp>
      <p:pic>
        <p:nvPicPr>
          <p:cNvPr id="81" name="Image 16" descr="C:/Users/user/Desktop/창고/knight-tour/img/rock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98409" y="2045330"/>
            <a:ext cx="473262" cy="408188"/>
          </a:xfrm>
          <a:prstGeom prst="rect">
            <a:avLst/>
          </a:prstGeom>
        </p:spPr>
      </p:pic>
      <p:pic>
        <p:nvPicPr>
          <p:cNvPr id="82" name="Image 17" descr="C:/Users/user/Desktop/창고/knight-tour/img/rock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5337" y="2045330"/>
            <a:ext cx="473262" cy="408188"/>
          </a:xfrm>
          <a:prstGeom prst="rect">
            <a:avLst/>
          </a:prstGeom>
        </p:spPr>
      </p:pic>
      <p:pic>
        <p:nvPicPr>
          <p:cNvPr id="83" name="Image 18" descr="C:/Users/user/Desktop/창고/knight-tour/img/rock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32265" y="2045330"/>
            <a:ext cx="473262" cy="408188"/>
          </a:xfrm>
          <a:prstGeom prst="rect">
            <a:avLst/>
          </a:prstGeom>
        </p:spPr>
      </p:pic>
      <p:pic>
        <p:nvPicPr>
          <p:cNvPr id="84" name="Image 19" descr="C:/Users/user/Desktop/창고/knight-tour/img/rock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31481" y="2612258"/>
            <a:ext cx="473262" cy="408188"/>
          </a:xfrm>
          <a:prstGeom prst="rect">
            <a:avLst/>
          </a:prstGeom>
        </p:spPr>
      </p:pic>
      <p:pic>
        <p:nvPicPr>
          <p:cNvPr id="85" name="Image 20" descr="C:/Users/user/Desktop/창고/knight-tour/img/rock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32265" y="2612258"/>
            <a:ext cx="473262" cy="408188"/>
          </a:xfrm>
          <a:prstGeom prst="rect">
            <a:avLst/>
          </a:prstGeom>
        </p:spPr>
      </p:pic>
      <p:pic>
        <p:nvPicPr>
          <p:cNvPr id="86" name="Image 21" descr="C:/Users/user/Desktop/창고/knight-tour/img/rock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664553" y="3179186"/>
            <a:ext cx="473262" cy="408188"/>
          </a:xfrm>
          <a:prstGeom prst="rect">
            <a:avLst/>
          </a:prstGeom>
        </p:spPr>
      </p:pic>
      <p:pic>
        <p:nvPicPr>
          <p:cNvPr id="87" name="Image 22" descr="C:/Users/user/Desktop/창고/knight-tour/img/rock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31481" y="3179186"/>
            <a:ext cx="473262" cy="408188"/>
          </a:xfrm>
          <a:prstGeom prst="rect">
            <a:avLst/>
          </a:prstGeom>
        </p:spPr>
      </p:pic>
      <p:pic>
        <p:nvPicPr>
          <p:cNvPr id="88" name="Image 23" descr="C:/Users/user/Desktop/창고/knight-tour/img/rock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65337" y="3179186"/>
            <a:ext cx="473262" cy="408188"/>
          </a:xfrm>
          <a:prstGeom prst="rect">
            <a:avLst/>
          </a:prstGeom>
        </p:spPr>
      </p:pic>
      <p:pic>
        <p:nvPicPr>
          <p:cNvPr id="89" name="Image 24" descr="C:/Users/user/Desktop/창고/knight-tour/img/rock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64553" y="3746114"/>
            <a:ext cx="473262" cy="408188"/>
          </a:xfrm>
          <a:prstGeom prst="rect">
            <a:avLst/>
          </a:prstGeom>
        </p:spPr>
      </p:pic>
      <p:pic>
        <p:nvPicPr>
          <p:cNvPr id="90" name="Image 25" descr="C:/Users/user/Desktop/창고/knight-tour/img/rock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98409" y="3746114"/>
            <a:ext cx="473262" cy="408188"/>
          </a:xfrm>
          <a:prstGeom prst="rect">
            <a:avLst/>
          </a:prstGeom>
        </p:spPr>
      </p:pic>
      <p:pic>
        <p:nvPicPr>
          <p:cNvPr id="91" name="Image 26" descr="C:/Users/user/Desktop/창고/knight-tour/img/rock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65337" y="3746114"/>
            <a:ext cx="473262" cy="408188"/>
          </a:xfrm>
          <a:prstGeom prst="rect">
            <a:avLst/>
          </a:prstGeom>
        </p:spPr>
      </p:pic>
      <p:pic>
        <p:nvPicPr>
          <p:cNvPr id="92" name="Image 27" descr="C:/Users/user/Desktop/창고/knight-tour/img/rock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64553" y="4313042"/>
            <a:ext cx="473262" cy="408188"/>
          </a:xfrm>
          <a:prstGeom prst="rect">
            <a:avLst/>
          </a:prstGeom>
        </p:spPr>
      </p:pic>
      <p:pic>
        <p:nvPicPr>
          <p:cNvPr id="93" name="Image 28" descr="C:/Users/user/Desktop/창고/knight-tour/img/rock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231481" y="4313042"/>
            <a:ext cx="473262" cy="408188"/>
          </a:xfrm>
          <a:prstGeom prst="rect">
            <a:avLst/>
          </a:prstGeom>
        </p:spPr>
      </p:pic>
      <p:pic>
        <p:nvPicPr>
          <p:cNvPr id="94" name="Image 29" descr="C:/Users/user/Desktop/창고/knight-tour/img/rock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798409" y="4313042"/>
            <a:ext cx="473262" cy="408188"/>
          </a:xfrm>
          <a:prstGeom prst="rect">
            <a:avLst/>
          </a:prstGeom>
        </p:spPr>
      </p:pic>
      <p:pic>
        <p:nvPicPr>
          <p:cNvPr id="95" name="Image 30" descr="C:/Users/user/Desktop/창고/knight-tour/img/rock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932265" y="4313042"/>
            <a:ext cx="473262" cy="408188"/>
          </a:xfrm>
          <a:prstGeom prst="rect">
            <a:avLst/>
          </a:prstGeom>
        </p:spPr>
      </p:pic>
      <p:pic>
        <p:nvPicPr>
          <p:cNvPr id="96" name="Image 31" descr="C:/Users/user/Desktop/창고/knight-tour/img/castl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220463" y="2005645"/>
            <a:ext cx="495297" cy="487558"/>
          </a:xfrm>
          <a:prstGeom prst="rect">
            <a:avLst/>
          </a:prstGeom>
        </p:spPr>
      </p:pic>
      <p:sp>
        <p:nvSpPr>
          <p:cNvPr id="97" name="Shape 63"/>
          <p:cNvSpPr/>
          <p:nvPr/>
        </p:nvSpPr>
        <p:spPr>
          <a:xfrm>
            <a:off x="5938662" y="2719974"/>
            <a:ext cx="192756" cy="1927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2F57"/>
            </a:solidFill>
            <a:prstDash val="solid"/>
          </a:ln>
        </p:spPr>
      </p:sp>
      <p:sp>
        <p:nvSpPr>
          <p:cNvPr id="98" name="Shape 64"/>
          <p:cNvSpPr/>
          <p:nvPr/>
        </p:nvSpPr>
        <p:spPr>
          <a:xfrm>
            <a:off x="5371734" y="3286902"/>
            <a:ext cx="192756" cy="1927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B2F57"/>
            </a:solidFill>
            <a:prstDash val="solid"/>
          </a:ln>
        </p:spPr>
      </p:sp>
      <p:pic>
        <p:nvPicPr>
          <p:cNvPr id="99" name="Image 32" descr="C:/Users/user/Desktop/창고/knight-tour/img/knight_normal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645579" y="1693835"/>
            <a:ext cx="511210" cy="822046"/>
          </a:xfrm>
          <a:prstGeom prst="rect">
            <a:avLst/>
          </a:prstGeom>
        </p:spPr>
      </p:pic>
      <p:sp>
        <p:nvSpPr>
          <p:cNvPr id="100" name="Shape 65"/>
          <p:cNvSpPr/>
          <p:nvPr/>
        </p:nvSpPr>
        <p:spPr>
          <a:xfrm>
            <a:off x="8412480" y="1965960"/>
            <a:ext cx="2834640" cy="2834640"/>
          </a:xfrm>
          <a:prstGeom prst="roundRect">
            <a:avLst>
              <a:gd name="adj" fmla="val 4839"/>
            </a:avLst>
          </a:prstGeom>
          <a:solidFill>
            <a:srgbClr val="F6F3FC"/>
          </a:solidFill>
          <a:ln w="19050">
            <a:solidFill>
              <a:srgbClr val="3B2F57"/>
            </a:solidFill>
            <a:prstDash val="solid"/>
          </a:ln>
        </p:spPr>
      </p:sp>
      <p:sp>
        <p:nvSpPr>
          <p:cNvPr id="101" name="Text 66"/>
          <p:cNvSpPr/>
          <p:nvPr/>
        </p:nvSpPr>
        <p:spPr>
          <a:xfrm>
            <a:off x="8595360" y="2194560"/>
            <a:ext cx="914400" cy="640080"/>
          </a:xfrm>
          <a:prstGeom prst="roundRect">
            <a:avLst>
              <a:gd name="adj" fmla="val 17143"/>
            </a:avLst>
          </a:prstGeom>
          <a:solidFill>
            <a:srgbClr val="E9E4F7"/>
          </a:solidFill>
          <a:ln w="19050">
            <a:solidFill>
              <a:srgbClr val="3B2F57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F57"/>
                </a:solidFill>
              </a:rPr>
              <a:t>일반</a:t>
            </a:r>
            <a:endParaRPr lang="en-US" sz="1300" dirty="0"/>
          </a:p>
        </p:txBody>
      </p:sp>
      <p:sp>
        <p:nvSpPr>
          <p:cNvPr id="102" name="Text 67"/>
          <p:cNvSpPr txBox="1"/>
          <p:nvPr/>
        </p:nvSpPr>
        <p:spPr>
          <a:xfrm>
            <a:off x="960120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57"/>
                </a:solidFill>
              </a:rPr>
              <a:t>목표 곡선 근접</a:t>
            </a:r>
            <a:endParaRPr lang="en-US" sz="1100" dirty="0"/>
          </a:p>
        </p:txBody>
      </p:sp>
      <p:sp>
        <p:nvSpPr>
          <p:cNvPr id="103" name="Text 68"/>
          <p:cNvSpPr/>
          <p:nvPr/>
        </p:nvSpPr>
        <p:spPr>
          <a:xfrm>
            <a:off x="8595360" y="3063240"/>
            <a:ext cx="914400" cy="640080"/>
          </a:xfrm>
          <a:prstGeom prst="roundRect">
            <a:avLst>
              <a:gd name="adj" fmla="val 17143"/>
            </a:avLst>
          </a:prstGeom>
          <a:solidFill>
            <a:srgbClr val="FFE3EC"/>
          </a:solidFill>
          <a:ln w="19050">
            <a:solidFill>
              <a:srgbClr val="3B2F57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F57"/>
                </a:solidFill>
              </a:rPr>
              <a:t>관문</a:t>
            </a:r>
            <a:endParaRPr lang="en-US" sz="1300" dirty="0"/>
          </a:p>
        </p:txBody>
      </p:sp>
      <p:sp>
        <p:nvSpPr>
          <p:cNvPr id="104" name="Text 69"/>
          <p:cNvSpPr txBox="1"/>
          <p:nvPr/>
        </p:nvSpPr>
        <p:spPr>
          <a:xfrm>
            <a:off x="9601200" y="3063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57"/>
                </a:solidFill>
              </a:rPr>
              <a:t>구간 최대</a:t>
            </a:r>
            <a:endParaRPr lang="en-US" sz="1100" dirty="0"/>
          </a:p>
        </p:txBody>
      </p:sp>
      <p:sp>
        <p:nvSpPr>
          <p:cNvPr id="105" name="Text 70"/>
          <p:cNvSpPr/>
          <p:nvPr/>
        </p:nvSpPr>
        <p:spPr>
          <a:xfrm>
            <a:off x="8595360" y="3931920"/>
            <a:ext cx="914400" cy="640080"/>
          </a:xfrm>
          <a:prstGeom prst="roundRect">
            <a:avLst>
              <a:gd name="adj" fmla="val 17143"/>
            </a:avLst>
          </a:prstGeom>
          <a:solidFill>
            <a:srgbClr val="FFF3C9"/>
          </a:solidFill>
          <a:ln w="19050">
            <a:solidFill>
              <a:srgbClr val="3B2F57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F57"/>
                </a:solidFill>
              </a:rPr>
              <a:t>먼 길</a:t>
            </a:r>
            <a:endParaRPr lang="en-US" sz="1300" dirty="0"/>
          </a:p>
        </p:txBody>
      </p:sp>
      <p:sp>
        <p:nvSpPr>
          <p:cNvPr id="106" name="Text 71"/>
          <p:cNvSpPr txBox="1"/>
          <p:nvPr/>
        </p:nvSpPr>
        <p:spPr>
          <a:xfrm>
            <a:off x="9601200" y="3931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B2F57"/>
                </a:solidFill>
              </a:rPr>
              <a:t>인접 일반보다 적음</a:t>
            </a:r>
            <a:endParaRPr lang="en-US" sz="1100" dirty="0"/>
          </a:p>
        </p:txBody>
      </p:sp>
      <p:sp>
        <p:nvSpPr>
          <p:cNvPr id="107" name="Shape 72"/>
          <p:cNvSpPr/>
          <p:nvPr/>
        </p:nvSpPr>
        <p:spPr>
          <a:xfrm>
            <a:off x="3840480" y="3383280"/>
            <a:ext cx="594360" cy="0"/>
          </a:xfrm>
          <a:prstGeom prst="line">
            <a:avLst/>
          </a:prstGeom>
          <a:noFill/>
          <a:ln w="31750">
            <a:solidFill>
              <a:srgbClr val="3B2F57"/>
            </a:solidFill>
            <a:prstDash val="solid"/>
            <a:tailEnd type="triangle"/>
          </a:ln>
        </p:spPr>
      </p:sp>
      <p:sp>
        <p:nvSpPr>
          <p:cNvPr id="108" name="Shape 73"/>
          <p:cNvSpPr/>
          <p:nvPr/>
        </p:nvSpPr>
        <p:spPr>
          <a:xfrm>
            <a:off x="7635240" y="3383280"/>
            <a:ext cx="594360" cy="0"/>
          </a:xfrm>
          <a:prstGeom prst="line">
            <a:avLst/>
          </a:prstGeom>
          <a:noFill/>
          <a:ln w="31750">
            <a:solidFill>
              <a:srgbClr val="3B2F57"/>
            </a:solidFill>
            <a:prstDash val="solid"/>
            <a:tailEnd type="triangle"/>
          </a:ln>
        </p:spPr>
      </p:sp>
      <p:sp>
        <p:nvSpPr>
          <p:cNvPr id="109" name="Text 74"/>
          <p:cNvSpPr/>
          <p:nvPr/>
        </p:nvSpPr>
        <p:spPr>
          <a:xfrm>
            <a:off x="813816" y="1316736"/>
            <a:ext cx="384048" cy="384048"/>
          </a:xfrm>
          <a:prstGeom prst="ellipse">
            <a:avLst/>
          </a:prstGeom>
          <a:solidFill>
            <a:srgbClr val="EC5A8C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0" name="Text 75"/>
          <p:cNvSpPr txBox="1"/>
          <p:nvPr/>
        </p:nvSpPr>
        <p:spPr>
          <a:xfrm>
            <a:off x="1325880" y="1371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F57"/>
                </a:solidFill>
              </a:rPr>
              <a:t>후보 맵 생성</a:t>
            </a:r>
            <a:endParaRPr lang="en-US" sz="1600" dirty="0"/>
          </a:p>
        </p:txBody>
      </p:sp>
      <p:sp>
        <p:nvSpPr>
          <p:cNvPr id="111" name="Text 76"/>
          <p:cNvSpPr txBox="1"/>
          <p:nvPr/>
        </p:nvSpPr>
        <p:spPr>
          <a:xfrm>
            <a:off x="822960" y="5074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487"/>
                </a:solidFill>
              </a:rPr>
              <a:t>LEN별 시드 120개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6487"/>
                </a:solidFill>
              </a:rPr>
              <a:t>정답 경로 선생성 · 나머지 칸 바위</a:t>
            </a:r>
            <a:endParaRPr lang="en-US" sz="1250" dirty="0"/>
          </a:p>
        </p:txBody>
      </p:sp>
      <p:sp>
        <p:nvSpPr>
          <p:cNvPr id="112" name="Text 77"/>
          <p:cNvSpPr/>
          <p:nvPr/>
        </p:nvSpPr>
        <p:spPr>
          <a:xfrm>
            <a:off x="4608576" y="1316736"/>
            <a:ext cx="384048" cy="384048"/>
          </a:xfrm>
          <a:prstGeom prst="ellipse">
            <a:avLst/>
          </a:prstGeom>
          <a:solidFill>
            <a:srgbClr val="EC5A8C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3" name="Text 78"/>
          <p:cNvSpPr txBox="1"/>
          <p:nvPr/>
        </p:nvSpPr>
        <p:spPr>
          <a:xfrm>
            <a:off x="5120640" y="1371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F57"/>
                </a:solidFill>
              </a:rPr>
              <a:t>정답 수 · 경우의 수 측정</a:t>
            </a:r>
            <a:endParaRPr lang="en-US" sz="1600" dirty="0"/>
          </a:p>
        </p:txBody>
      </p:sp>
      <p:sp>
        <p:nvSpPr>
          <p:cNvPr id="114" name="Text 79"/>
          <p:cNvSpPr txBox="1"/>
          <p:nvPr/>
        </p:nvSpPr>
        <p:spPr>
          <a:xfrm>
            <a:off x="4617720" y="5074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487"/>
                </a:solidFill>
              </a:rPr>
              <a:t>정답 경로 1개인 맵만 통과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6487"/>
                </a:solidFill>
              </a:rPr>
              <a:t>이동 순서 총수 측정</a:t>
            </a:r>
            <a:endParaRPr lang="en-US" sz="1250" dirty="0"/>
          </a:p>
        </p:txBody>
      </p:sp>
      <p:sp>
        <p:nvSpPr>
          <p:cNvPr id="115" name="Text 80"/>
          <p:cNvSpPr/>
          <p:nvPr/>
        </p:nvSpPr>
        <p:spPr>
          <a:xfrm>
            <a:off x="8403336" y="1316736"/>
            <a:ext cx="384048" cy="384048"/>
          </a:xfrm>
          <a:prstGeom prst="ellipse">
            <a:avLst/>
          </a:prstGeom>
          <a:solidFill>
            <a:srgbClr val="EC5A8C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16" name="Text 81"/>
          <p:cNvSpPr txBox="1"/>
          <p:nvPr/>
        </p:nvSpPr>
        <p:spPr>
          <a:xfrm>
            <a:off x="8915400" y="1371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2F57"/>
                </a:solidFill>
              </a:rPr>
              <a:t>맵 선택 · 고정</a:t>
            </a:r>
            <a:endParaRPr lang="en-US" sz="1600" dirty="0"/>
          </a:p>
        </p:txBody>
      </p:sp>
      <p:sp>
        <p:nvSpPr>
          <p:cNvPr id="117" name="Text 82"/>
          <p:cNvSpPr txBox="1"/>
          <p:nvPr/>
        </p:nvSpPr>
        <p:spPr>
          <a:xfrm>
            <a:off x="8412480" y="50749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487"/>
                </a:solidFill>
              </a:rPr>
              <a:t>일반 → 먼 길 → 관문 순 선택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E6487"/>
                </a:solidFill>
              </a:rPr>
              <a:t>선택 시드 StageTable 고정</a:t>
            </a:r>
            <a:endParaRPr lang="en-US" sz="1250" dirty="0"/>
          </a:p>
        </p:txBody>
      </p:sp>
      <p:sp>
        <p:nvSpPr>
          <p:cNvPr id="118" name="Shape 83"/>
          <p:cNvSpPr/>
          <p:nvPr/>
        </p:nvSpPr>
        <p:spPr>
          <a:xfrm>
            <a:off x="822960" y="5623560"/>
            <a:ext cx="10789920" cy="594360"/>
          </a:xfrm>
          <a:prstGeom prst="roundRect">
            <a:avLst>
              <a:gd name="adj" fmla="val 23077"/>
            </a:avLst>
          </a:prstGeom>
          <a:solidFill>
            <a:srgbClr val="FFF3C9"/>
          </a:solidFill>
          <a:ln w="12700">
            <a:solidFill>
              <a:srgbClr val="FFF3C9"/>
            </a:solidFill>
            <a:prstDash val="solid"/>
          </a:ln>
        </p:spPr>
      </p:sp>
      <p:sp>
        <p:nvSpPr>
          <p:cNvPr id="119" name="Text 84"/>
          <p:cNvSpPr txBox="1"/>
          <p:nvPr/>
        </p:nvSpPr>
        <p:spPr>
          <a:xfrm>
            <a:off x="1051560" y="56235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F57"/>
                </a:solidFill>
              </a:rPr>
              <a:t>제작 도구: tools/leveldesign3.js · 실행 1회 약 15초 · 결과 = StageTable 50행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A8C"/>
                </a:solidFill>
              </a:rPr>
              <a:t>3.2 규칙 검사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2F57"/>
                </a:solidFill>
              </a:rPr>
              <a:t>선택 결과 자동 검사, 50스테이지 전 항목 통과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172200"/>
                <a:gridCol w="27432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2F57"/>
                          </a:solidFill>
                        </a:rPr>
                        <a:t>검사 항목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2F57"/>
                          </a:solidFill>
                        </a:rPr>
                        <a:t>조건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B2F57"/>
                          </a:solidFill>
                        </a:rPr>
                        <a:t>결과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일반 증가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직전 일반 스테이지보다 경우의 수 증가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통과 (29/29)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먼 길 LEN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앞뒤 일반 스테이지보다 LEN 김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통과 (10/10)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먼 길 경우의 수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앞뒤 일반 스테이지보다 경우의 수 적음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통과 (10/10)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관문 경우의 수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같은 구간 앞 스테이지 · 다음 스테이지보다 많음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통과 (10/10)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정답 1개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모든 스테이지 정답 경로 정확히 1개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통과 (50/50)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힌트 완주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막힘 상태에서 힌트만으로 성 도착 (스테이지당 15판)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B2F57"/>
                          </a:solidFill>
                        </a:rPr>
                        <a:t>통과 (750/750)</a:t>
                      </a:r>
                      <a:endParaRPr lang="en-US" sz="13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FFD45C"/>
                </a:solidFill>
              </a:rPr>
              <a:t>04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3063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결과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40690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2EE"/>
                </a:solidFill>
              </a:rPr>
              <a:t>난이도 곡선 · 증가폭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D2EE"/>
                </a:solidFill>
              </a:rPr>
              <a:t>스테이지 일람</a:t>
            </a:r>
            <a:endParaRPr lang="en-US" sz="1600" dirty="0"/>
          </a:p>
        </p:txBody>
      </p:sp>
      <p:sp>
        <p:nvSpPr>
          <p:cNvPr id="5" name="chapter-card"/>
          <p:cNvSpPr/>
          <p:nvPr/>
        </p:nvSpPr>
        <p:spPr>
          <a:xfrm>
            <a:off x="7726680" y="1051560"/>
            <a:ext cx="4023360" cy="4023360"/>
          </a:xfrm>
          <a:prstGeom prst="roundRect">
            <a:avLst>
              <a:gd name="adj" fmla="val 6818"/>
            </a:avLst>
          </a:prstGeom>
          <a:solidFill>
            <a:srgbClr val="F6F3FC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6" name="chapter-art" descr="C:/Users/user/Desktop/창고/기획서/images/codex/deck/section_04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188720"/>
            <a:ext cx="37490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A8C"/>
                </a:solidFill>
              </a:rPr>
              <a:t>4.1 난이도 곡선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2F57"/>
                </a:solidFill>
              </a:rPr>
              <a:t>스테이지별 LEN · 경우의 수 (실측)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111099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" y="3794760"/>
          <a:ext cx="111099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A8C"/>
                </a:solidFill>
              </a:rPr>
              <a:t>4.2 경우의 수 증가폭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2F57"/>
                </a:solidFill>
              </a:rPr>
              <a:t>6×6부터 증가율 완화 (스테이지당 약 1.2~1.3배)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C5A8C"/>
                </a:solidFill>
              </a:rPr>
              <a:t>구간별 일반 스테이지 경우의 수 · 스테이지당 증가 배율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09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2926080"/>
                <a:gridCol w="1188720"/>
                <a:gridCol w="333756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스테이지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보드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이전 설계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배율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현재 설계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배율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1–10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4×4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6 → 63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×1.34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6 → 56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×1.32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11–20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5×5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249 → 3916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×1.41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129 → 2341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×1.44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21–30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6×6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9319 → 12.6만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×1.39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4953 → 2.8만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×1.24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31–40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7×7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15.5만 → 1074.6만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×1.70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8.1만 → 41.1만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×1.23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41–50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8×8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4439.6만 → 110.7억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×1.99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62.3만 → 578.4만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×1.32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617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C5A8C"/>
                </a:solidFill>
              </a:rPr>
              <a:t>1~10스테이지 경우의 수</a:t>
            </a:r>
            <a:endParaRPr lang="en-US" sz="13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83480"/>
          <a:ext cx="11109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987552"/>
                <a:gridCol w="987552"/>
                <a:gridCol w="987552"/>
                <a:gridCol w="987552"/>
                <a:gridCol w="987552"/>
                <a:gridCol w="987552"/>
                <a:gridCol w="987552"/>
                <a:gridCol w="987552"/>
                <a:gridCol w="987552"/>
                <a:gridCol w="9875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구분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7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8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9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B2F57"/>
                          </a:solidFill>
                        </a:rPr>
                        <a:t>10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이전 설계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9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8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13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106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45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53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49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63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181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현재 설계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22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15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26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50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31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44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32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56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B2F57"/>
                          </a:solidFill>
                        </a:rPr>
                        <a:t>109</a:t>
                      </a:r>
                      <a:endParaRPr lang="en-US" sz="125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A8C"/>
                </a:solidFill>
              </a:rPr>
              <a:t>4.3 스테이지 일람 (1–25)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2F57"/>
                </a:solidFill>
              </a:rPr>
              <a:t>4×4 ~ 6×6 초반, 관문 · 먼 길 리듬 확인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4406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77240"/>
                <a:gridCol w="685800"/>
                <a:gridCol w="868680"/>
                <a:gridCol w="1417320"/>
                <a:gridCol w="9601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stage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보드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LEN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유형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경우의 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정답 1개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4×4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4×4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4×4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먼 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4×4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4×4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4×4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4×4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4×4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먼 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4×4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4×4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109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5×5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129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5×5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178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5×5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먼 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105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25880"/>
          <a:ext cx="54406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77240"/>
                <a:gridCol w="685800"/>
                <a:gridCol w="868680"/>
                <a:gridCol w="1417320"/>
                <a:gridCol w="9601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stage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보드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LEN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유형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경우의 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정답 1개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5×5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420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5×5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1418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5×5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816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5×5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1094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5×5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먼 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537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5×5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2341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5×5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4194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6×6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4953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6×6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5783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6×6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먼 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3179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6×6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7949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6×6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2.6만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A8C"/>
                </a:solidFill>
              </a:rPr>
              <a:t>4.4 스테이지 일람 (26–50)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2F57"/>
                </a:solidFill>
              </a:rPr>
              <a:t>6×6 후반 ~ 8×8, 최대 경우의 수 약 1,430만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4406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77240"/>
                <a:gridCol w="685800"/>
                <a:gridCol w="868680"/>
                <a:gridCol w="1417320"/>
                <a:gridCol w="9601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stage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보드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LEN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유형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경우의 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정답 1개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6×6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1.4만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6×6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1.9만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6×6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먼 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9791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6×6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2.8만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6×6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4.6만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7×7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8.1만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7×7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9.6만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7×7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먼 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2.7만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7×7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18.7만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7×7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35.5만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7×7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22.0만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7×7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25.9만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7×7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먼 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10.5만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25880"/>
          <a:ext cx="54406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77240"/>
                <a:gridCol w="685800"/>
                <a:gridCol w="868680"/>
                <a:gridCol w="1417320"/>
                <a:gridCol w="96012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stage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보드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LEN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유형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경우의 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2F57"/>
                          </a:solidFill>
                        </a:rPr>
                        <a:t>정답 1개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7×7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41.1만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7×7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106.8만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41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8×8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62.3만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42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8×8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93.4만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43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8×8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먼 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11.3만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8×8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128.9만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8×8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798.5만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46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8×8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34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239.2만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47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8×8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35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302.0만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8×8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먼 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70.5만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49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8×8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578.4만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8×8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39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1430.3만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B2F57"/>
                          </a:solidFill>
                        </a:rPr>
                        <a:t>Y</a:t>
                      </a:r>
                      <a:endParaRPr lang="en-US" sz="11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FFD45C"/>
                </a:solidFill>
              </a:rPr>
              <a:t>05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3063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데이터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40690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2EE"/>
                </a:solidFill>
              </a:rPr>
              <a:t>LevelConfig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D2EE"/>
                </a:solidFill>
              </a:rPr>
              <a:t>StageTable</a:t>
            </a:r>
            <a:endParaRPr lang="en-US" sz="1600" dirty="0"/>
          </a:p>
        </p:txBody>
      </p:sp>
      <p:sp>
        <p:nvSpPr>
          <p:cNvPr id="5" name="chapter-card"/>
          <p:cNvSpPr/>
          <p:nvPr/>
        </p:nvSpPr>
        <p:spPr>
          <a:xfrm>
            <a:off x="7726680" y="1051560"/>
            <a:ext cx="4023360" cy="4023360"/>
          </a:xfrm>
          <a:prstGeom prst="roundRect">
            <a:avLst>
              <a:gd name="adj" fmla="val 6818"/>
            </a:avLst>
          </a:prstGeom>
          <a:solidFill>
            <a:srgbClr val="F6F3FC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6" name="chapter-art" descr="C:/Users/user/Desktop/창고/기획서/images/codex/deck/section_05_scre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188720"/>
            <a:ext cx="37490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A8C"/>
                </a:solidFill>
              </a:rPr>
              <a:t>5.1 LevelConfig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2F57"/>
                </a:solidFill>
              </a:rPr>
              <a:t>레벨 디자인 조정 값 11행, 수치 변경 후 도구 재실행으로 반영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1188720"/>
                <a:gridCol w="498348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config_key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unit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STAGE_COUNT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개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전체 스테이지 수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BOARD_STEP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스테이지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보드 확장 단위 (4×4 → 8×8)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HURDLE_INTERVAL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스테이지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관문 스테이지 간격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HURDLE_CASE_RATIO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1.5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배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관문 경우의 수 최소 배율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LONG_STAGE_DIGIT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3, 8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끝자리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먼 길 스테이지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NORMAL_MIN_GROWTH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1.15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배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일반 스테이지 최소 증가 배율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CASE_TARGET_ANCHOR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1:0.78 … 49:6.8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log10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목표 곡선 앵커 (2.3 참조)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SOLUTION_LIMIT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개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허용 정답 경로 수 (단일 해)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MAX_FILL_RATIO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0.82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비율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보드 대비 최대 LEN (4×4는 13칸)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CANDIDATE_COUNT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개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LEN별 후보 맵 수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EXACT_COUNT_LIMIT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400000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가지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정확 계산 한도, 초과 시 표본 추정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A8C"/>
                </a:solidFill>
              </a:rPr>
              <a:t>5.2 StageTable 데이터 예시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2F57"/>
                </a:solidFill>
              </a:rPr>
              <a:t>관문 · 먼 길 위주 10행 발췌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109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34440"/>
                <a:gridCol w="1234440"/>
                <a:gridCol w="1280160"/>
                <a:gridCol w="1737360"/>
                <a:gridCol w="1280160"/>
                <a:gridCol w="1280160"/>
                <a:gridCol w="19659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stage_id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board_size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step_count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stage_type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seed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start_cell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goal_cell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2F57"/>
                          </a:solidFill>
                        </a:rPr>
                        <a:t>case_count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5D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일반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109407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먼 길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232940264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250237000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277716819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109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먼 길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16442334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23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105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22888075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4194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30680068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2.6만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38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32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먼 길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258156417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10.5만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45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37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29486779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35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798.5만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50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39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관문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163790178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36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B2F57"/>
                          </a:solidFill>
                        </a:rPr>
                        <a:t>1430.3만</a:t>
                      </a:r>
                      <a:endParaRPr lang="en-US" sz="1200" dirty="0"/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487"/>
                </a:solidFill>
              </a:rPr>
              <a:t>필드 정의: 퍼즐 시스템 기획서 5.2 StageTable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FFD45C"/>
                </a:solidFill>
              </a:rPr>
              <a:t>06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30632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부록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406908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2EE"/>
                </a:solidFill>
              </a:rPr>
              <a:t>검증 결과 · 미결 사항</a:t>
            </a:r>
            <a:endParaRPr lang="en-US" sz="1600" dirty="0"/>
          </a:p>
        </p:txBody>
      </p:sp>
      <p:sp>
        <p:nvSpPr>
          <p:cNvPr id="5" name="chapter-card"/>
          <p:cNvSpPr/>
          <p:nvPr/>
        </p:nvSpPr>
        <p:spPr>
          <a:xfrm>
            <a:off x="7726680" y="1051560"/>
            <a:ext cx="4023360" cy="4023360"/>
          </a:xfrm>
          <a:prstGeom prst="roundRect">
            <a:avLst>
              <a:gd name="adj" fmla="val 6818"/>
            </a:avLst>
          </a:prstGeom>
          <a:solidFill>
            <a:srgbClr val="F6F3FC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6" name="chapter-art" descr="C:/Users/user/Desktop/창고/기획서/images/codex/deck/section_06_append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188720"/>
            <a:ext cx="374904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C5A8C"/>
                </a:solidFill>
              </a:rPr>
              <a:t>6.1 검증 결과 · 미결 사항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2F57"/>
                </a:solidFill>
              </a:rPr>
              <a:t>전 스테이지 단일 해 · 규칙 · 힌트 검증 통과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325880" cy="1280160"/>
          </a:xfrm>
          <a:prstGeom prst="roundRect">
            <a:avLst>
              <a:gd name="adj" fmla="val 10714"/>
            </a:avLst>
          </a:prstGeom>
          <a:solidFill>
            <a:srgbClr val="FFE3EC"/>
          </a:solidFill>
          <a:ln w="12700">
            <a:solidFill>
              <a:srgbClr val="FF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5A8C"/>
                </a:solidFill>
              </a:rPr>
              <a:t>50/50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487"/>
                </a:solidFill>
              </a:rPr>
              <a:t>규칙 검사 통과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11680" y="1371600"/>
            <a:ext cx="1325880" cy="1280160"/>
          </a:xfrm>
          <a:prstGeom prst="roundRect">
            <a:avLst>
              <a:gd name="adj" fmla="val 10714"/>
            </a:avLst>
          </a:prstGeom>
          <a:solidFill>
            <a:srgbClr val="F6F3FC"/>
          </a:solidFill>
          <a:ln w="12700">
            <a:solidFill>
              <a:srgbClr val="F6F3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14630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5A8C"/>
                </a:solidFill>
              </a:rPr>
              <a:t>750/750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2103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487"/>
                </a:solidFill>
              </a:rPr>
              <a:t>힌트 완주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1371600"/>
            <a:ext cx="1325880" cy="1280160"/>
          </a:xfrm>
          <a:prstGeom prst="roundRect">
            <a:avLst>
              <a:gd name="adj" fmla="val 10714"/>
            </a:avLst>
          </a:prstGeom>
          <a:solidFill>
            <a:srgbClr val="FFE3EC"/>
          </a:solidFill>
          <a:ln w="12700">
            <a:solidFill>
              <a:srgbClr val="FF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4630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C5A8C"/>
                </a:solidFill>
              </a:rPr>
              <a:t>50/50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03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487"/>
                </a:solidFill>
              </a:rPr>
              <a:t>정답 1개 스테이지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37760" y="1371600"/>
            <a:ext cx="1325880" cy="1280160"/>
          </a:xfrm>
          <a:prstGeom prst="roundRect">
            <a:avLst>
              <a:gd name="adj" fmla="val 10714"/>
            </a:avLst>
          </a:prstGeom>
          <a:solidFill>
            <a:srgbClr val="F6F3FC"/>
          </a:solidFill>
          <a:ln w="12700">
            <a:solidFill>
              <a:srgbClr val="F6F3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14630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C5A8C"/>
                </a:solidFill>
              </a:rPr>
              <a:t>최대 2ms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1031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487"/>
                </a:solidFill>
              </a:rPr>
              <a:t>힌트 계산 시간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5A8C"/>
                </a:solidFill>
              </a:rPr>
              <a:t>미결 사항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49440" y="1874520"/>
            <a:ext cx="4663440" cy="868680"/>
          </a:xfrm>
          <a:prstGeom prst="roundRect">
            <a:avLst>
              <a:gd name="adj" fmla="val 15789"/>
            </a:avLst>
          </a:prstGeom>
          <a:solidFill>
            <a:srgbClr val="F6F3FC"/>
          </a:solidFill>
          <a:ln w="12700">
            <a:solidFill>
              <a:srgbClr val="E9E4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78040" y="214884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22225">
            <a:solidFill>
              <a:srgbClr val="3B2F5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0" y="1993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2F57"/>
                </a:solidFill>
              </a:rPr>
              <a:t>체감 난이도 검증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23317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487"/>
                </a:solidFill>
              </a:rPr>
              <a:t>경우의 수와 실제 클리어율 · 시간 상관 확인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2898648"/>
            <a:ext cx="466344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9E4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31729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22225">
            <a:solidFill>
              <a:srgbClr val="3B2F5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0" y="3017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2F57"/>
                </a:solidFill>
              </a:rPr>
              <a:t>4×4 구간 한계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33558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487"/>
                </a:solidFill>
              </a:rPr>
              <a:t>칸 16개, 단일 해 기준 경우의 수 최대 약 130가지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3922776"/>
            <a:ext cx="4663440" cy="868680"/>
          </a:xfrm>
          <a:prstGeom prst="roundRect">
            <a:avLst>
              <a:gd name="adj" fmla="val 15789"/>
            </a:avLst>
          </a:prstGeom>
          <a:solidFill>
            <a:srgbClr val="F6F3FC"/>
          </a:solidFill>
          <a:ln w="12700">
            <a:solidFill>
              <a:srgbClr val="E9E4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78040" y="41970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22225">
            <a:solidFill>
              <a:srgbClr val="3B2F5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0" y="40416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2F57"/>
                </a:solidFill>
              </a:rPr>
              <a:t>단일 해 상한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43799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487"/>
                </a:solidFill>
              </a:rPr>
              <a:t>8×8 단일 해 경우의 수 상한 약 3천만, 51+ 확장 시 9×9 검토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49440" y="4946904"/>
            <a:ext cx="4663440" cy="86868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9E4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522122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22225">
            <a:solidFill>
              <a:srgbClr val="3B2F5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0" y="50657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2F57"/>
                </a:solidFill>
              </a:rPr>
              <a:t>후반 체감 난이도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54041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487"/>
                </a:solidFill>
              </a:rPr>
              <a:t>8×8 관문(45 · 50) 플레이 테스트</a:t>
            </a:r>
            <a:endParaRPr lang="en-US" sz="1200" dirty="0"/>
          </a:p>
        </p:txBody>
      </p:sp>
      <p:pic>
        <p:nvPicPr>
          <p:cNvPr id="33" name="Image 0" descr="C:/Users/user/Desktop/창고/knight-tour/img/knight_happ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6853" y="3383280"/>
            <a:ext cx="1704213" cy="2560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48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night Journey">
  <a:themeElements>
    <a:clrScheme name="Knight Journey">
      <a:dk1>
        <a:srgbClr val="3B2F57"/>
      </a:dk1>
      <a:lt1>
        <a:srgbClr val="FFFFFF"/>
      </a:lt1>
      <a:dk2>
        <a:srgbClr val="6E6487"/>
      </a:dk2>
      <a:lt2>
        <a:srgbClr val="F6F3FC"/>
      </a:lt2>
      <a:accent1>
        <a:srgbClr val="EC5A8C"/>
      </a:accent1>
      <a:accent2>
        <a:srgbClr val="FFD45C"/>
      </a:accent2>
      <a:accent3>
        <a:srgbClr val="4E8F2E"/>
      </a:accent3>
      <a:accent4>
        <a:srgbClr val="8FC9F2"/>
      </a:accent4>
      <a:accent5>
        <a:srgbClr val="B9AEDB"/>
      </a:accent5>
      <a:accent6>
        <a:srgbClr val="FF7FA8"/>
      </a:accent6>
      <a:hlink>
        <a:srgbClr val="EC5A8C"/>
      </a:hlink>
      <a:folHlink>
        <a:srgbClr val="6E6487"/>
      </a:folHlink>
    </a:clrScheme>
    <a:fontScheme name="Knight Journey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기사의 여행 — 레벨 디자인 기획서</dc:title>
  <dc:subject>PptxGenJS Presentation</dc:subject>
  <dc:creator>기획</dc:creator>
  <cp:lastModifiedBy>기획</cp:lastModifiedBy>
  <cp:revision>1</cp:revision>
  <dcterms:created xsi:type="dcterms:W3CDTF">2026-10-14T07:32:17Z</dcterms:created>
  <dcterms:modified xsi:type="dcterms:W3CDTF">2026-10-14T07:32:17Z</dcterms:modified>
</cp:coreProperties>
</file>