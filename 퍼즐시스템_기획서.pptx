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64" r:id="rId11"/>
    <p:sldId id="266" r:id="rId12"/>
    <p:sldId id="267" r:id="rId13"/>
    <p:sldId id="268" r:id="rId14"/>
    <p:sldId id="269" r:id="rId15"/>
    <p:sldId id="270" r:id="rId16"/>
    <p:sldId id="286" r:id="rId17"/>
    <p:sldId id="279" r:id="rId18"/>
    <p:sldId id="289" r:id="rId19"/>
    <p:sldId id="281" r:id="rId20"/>
    <p:sldId id="287" r:id="rId21"/>
    <p:sldId id="290" r:id="rId22"/>
    <p:sldId id="283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5915A1C0-C80A-7BF2-5FE3-AFC45482D123}">
          <p14:sldIdLst>
            <p14:sldId id="256"/>
            <p14:sldId id="257"/>
            <p14:sldId id="258"/>
          </p14:sldIdLst>
        </p14:section>
        <p14:section name="개요" id="{F247F884-FF55-C531-545F-E680AC5AA982}">
          <p14:sldIdLst>
            <p14:sldId id="259"/>
            <p14:sldId id="260"/>
            <p14:sldId id="261"/>
          </p14:sldIdLst>
        </p14:section>
        <p14:section name="규칙" id="{892C3BEF-EE19-54C4-1250-44AB5EED8579}">
          <p14:sldIdLst>
            <p14:sldId id="262"/>
          </p14:sldIdLst>
        </p14:section>
        <p14:section name="흐름" id="{BA81C79C-7368-5884-64C8-58FB9FB4B501}">
          <p14:sldIdLst>
            <p14:sldId id="263"/>
            <p14:sldId id="276"/>
            <p14:sldId id="264"/>
            <p14:sldId id="266"/>
          </p14:sldIdLst>
        </p14:section>
        <p14:section name="화면" id="{2392D54A-E8C6-A3EA-D8D8-DD6C6AF5D64F}">
          <p14:sldIdLst>
            <p14:sldId id="267"/>
            <p14:sldId id="268"/>
            <p14:sldId id="269"/>
            <p14:sldId id="270"/>
            <p14:sldId id="286"/>
          </p14:sldIdLst>
        </p14:section>
        <p14:section name="구조" id="{B0EEB438-052B-D02F-CE42-C3D23AEA7F5C}">
          <p14:sldIdLst>
            <p14:sldId id="279"/>
            <p14:sldId id="289"/>
            <p14:sldId id="281"/>
            <p14:sldId id="287"/>
            <p14:sldId id="290"/>
            <p14:sldId id="283"/>
          </p14:sldIdLst>
        </p14:section>
        <p14:section name="부록" id="{DB0271D8-2DEF-022D-F5DC-A642D64CF75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8E3"/>
    <a:srgbClr val="FFF5F8"/>
    <a:srgbClr val="EFEBF9"/>
    <a:srgbClr val="FFA4C1"/>
    <a:srgbClr val="FAF8FD"/>
    <a:srgbClr val="F6F3FB"/>
    <a:srgbClr val="F0F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94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512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3B2F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6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306324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3B2F57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406908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6E6487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dirty="0">
                <a:solidFill>
                  <a:srgbClr val="EC5A8C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3B2F57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Noto Sans KR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Noto Sans KR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Noto Sans KR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Noto Sans KR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Noto Sans KR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Noto Sans K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Noto Sans K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Noto Sans K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Noto Sans K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art" descr="C:/Users/user/Desktop/창고/기획서/images/codex/deck/cover_keyart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-card"/>
          <p:cNvSpPr/>
          <p:nvPr/>
        </p:nvSpPr>
        <p:spPr>
          <a:xfrm>
            <a:off x="411480" y="3977640"/>
            <a:ext cx="3611880" cy="2514600"/>
          </a:xfrm>
          <a:prstGeom prst="rect">
            <a:avLst/>
          </a:prstGeom>
          <a:solidFill>
            <a:srgbClr val="F6F3FB">
              <a:alpha val="92000"/>
            </a:srgbClr>
          </a:solidFill>
          <a:ln w="25400">
            <a:solidFill>
              <a:srgbClr val="EFEB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 txBox="1"/>
          <p:nvPr/>
        </p:nvSpPr>
        <p:spPr>
          <a:xfrm>
            <a:off x="68580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C5A8C"/>
                </a:solidFill>
              </a:rPr>
              <a:t>퍼즐 시스템 기획서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526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3B2F57"/>
                </a:solidFill>
              </a:rPr>
              <a:t>기사의 여행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/>
              <a:t>체스 나이트 기반 움직임으로 </a:t>
            </a:r>
            <a:endParaRPr lang="en-US" altLang="ko-KR" sz="1200" dirty="0"/>
          </a:p>
          <a:p>
            <a:pPr marL="0" indent="0">
              <a:buNone/>
            </a:pPr>
            <a:r>
              <a:rPr lang="ko-KR" altLang="en-US" sz="1200" dirty="0"/>
              <a:t>보드를 꽃밭으로 가득 채우는 퍼즐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035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6487"/>
                </a:solidFill>
              </a:rPr>
              <a:t>v4 | 2026-10-16 | </a:t>
            </a:r>
            <a:r>
              <a:rPr lang="ko-KR" altLang="en-US" sz="1000" dirty="0" err="1">
                <a:solidFill>
                  <a:srgbClr val="6E6487"/>
                </a:solidFill>
              </a:rPr>
              <a:t>김규장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C5A8C"/>
                </a:solidFill>
              </a:rPr>
              <a:t>버전 관리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F57"/>
                </a:solidFill>
              </a:rPr>
              <a:t>문서 변경 이력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948287"/>
              </p:ext>
            </p:extLst>
          </p:nvPr>
        </p:nvGraphicFramePr>
        <p:xfrm>
          <a:off x="548640" y="1280160"/>
          <a:ext cx="11109960" cy="17373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2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버전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날짜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변경 내용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rgbClr val="3B2F57"/>
                          </a:solidFill>
                        </a:rPr>
                        <a:t>작성자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v4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2026-10-16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dirty="0"/>
                        <a:t>레이아웃 다듬기 및 문서 퇴고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내용검수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dirty="0" err="1"/>
                        <a:t>김규장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v3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2026-10-15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규칙과 흐름을 시스템으로 통합 및 내용 기능 단위로 재구성</a:t>
                      </a:r>
                      <a:r>
                        <a:rPr lang="en-US" altLang="ko-KR" sz="1200" dirty="0">
                          <a:solidFill>
                            <a:srgbClr val="3B2F57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테이블 작성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/>
                        <a:t>김규장</a:t>
                      </a:r>
                      <a:endParaRPr lang="en-US" altLang="ko-KR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v2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2026-10-14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UI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화면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추가</a:t>
                      </a:r>
                      <a:r>
                        <a:rPr lang="en-US" altLang="ko-KR" sz="1200" dirty="0">
                          <a:solidFill>
                            <a:srgbClr val="3B2F57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레이아웃 재정비</a:t>
                      </a:r>
                      <a:r>
                        <a:rPr lang="en-US" altLang="ko-KR" sz="1200" dirty="0">
                          <a:solidFill>
                            <a:srgbClr val="3B2F57"/>
                          </a:solidFill>
                        </a:rPr>
                        <a:t>,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힌트동작 설계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/>
                        <a:t>김규장</a:t>
                      </a:r>
                      <a:endParaRPr lang="en-US" altLang="ko-KR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28794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v1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2026-10-13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초안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작성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목차 작성</a:t>
                      </a:r>
                      <a:r>
                        <a:rPr lang="en-US" altLang="ko-KR" sz="1200" dirty="0">
                          <a:solidFill>
                            <a:srgbClr val="3B2F57"/>
                          </a:solidFill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rgbClr val="3B2F57"/>
                          </a:solidFill>
                        </a:rPr>
                        <a:t>플로우차트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 작성</a:t>
                      </a:r>
                      <a:r>
                        <a:rPr lang="en-US" altLang="ko-KR" sz="1200" dirty="0">
                          <a:solidFill>
                            <a:srgbClr val="3B2F57"/>
                          </a:solidFill>
                        </a:rPr>
                        <a:t>,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 원페이지 기획서 작성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/>
                        <a:t>김규장</a:t>
                      </a:r>
                      <a:endParaRPr lang="en-US" altLang="ko-KR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9652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19"/>
            <a:ext cx="8229600" cy="59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EC5A8C"/>
                </a:solidFill>
              </a:rPr>
              <a:t>목차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651760" cy="4846320"/>
          </a:xfrm>
          <a:prstGeom prst="rect">
            <a:avLst/>
          </a:prstGeom>
          <a:solidFill>
            <a:srgbClr val="F0F8FF"/>
          </a:solidFill>
          <a:ln w="12700">
            <a:solidFill>
              <a:srgbClr val="FFF1F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picto-toc_overview" descr="C:/Users/user/Desktop/창고/기획서/images/picto/deck/toc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371600"/>
            <a:ext cx="777240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B2F57"/>
                </a:solidFill>
              </a:rPr>
              <a:t>개요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1089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C5A8C"/>
                </a:solidFill>
              </a:rPr>
              <a:t>1.1  </a:t>
            </a:r>
            <a:r>
              <a:rPr lang="en-US" sz="1200" b="0" dirty="0">
                <a:solidFill>
                  <a:srgbClr val="3B2F57"/>
                </a:solidFill>
              </a:rPr>
              <a:t>원페이지 기획서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C5A8C"/>
                </a:solidFill>
              </a:rPr>
              <a:t>1.2  </a:t>
            </a:r>
            <a:r>
              <a:rPr lang="en-US" sz="1200" b="0" dirty="0">
                <a:solidFill>
                  <a:srgbClr val="3B2F57"/>
                </a:solidFill>
              </a:rPr>
              <a:t>기획 의도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68040" y="1097280"/>
            <a:ext cx="2651760" cy="4846320"/>
          </a:xfrm>
          <a:prstGeom prst="rect">
            <a:avLst/>
          </a:prstGeom>
          <a:solidFill>
            <a:srgbClr val="F6F3FB"/>
          </a:solidFill>
          <a:ln w="12700">
            <a:solidFill>
              <a:srgbClr val="FAF8F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picto-toc_rules" descr="C:/Users/user/Desktop/창고/기획서/images/picto/deck/toc_ru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3960" y="1371600"/>
            <a:ext cx="777240" cy="777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9664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B2F57"/>
                </a:solidFill>
              </a:rPr>
              <a:t>게임 시스템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3596640" y="31089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C5A8C"/>
                </a:solidFill>
              </a:rPr>
              <a:t>2.1  </a:t>
            </a:r>
            <a:r>
              <a:rPr lang="en-US" sz="1200" b="0" dirty="0">
                <a:solidFill>
                  <a:srgbClr val="3B2F57"/>
                </a:solidFill>
              </a:rPr>
              <a:t>플레이 흐름, 이동 규칙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C5A8C"/>
                </a:solidFill>
              </a:rPr>
              <a:t>2.2  </a:t>
            </a:r>
            <a:r>
              <a:rPr lang="en-US" sz="1200" b="0" dirty="0">
                <a:solidFill>
                  <a:srgbClr val="3B2F57"/>
                </a:solidFill>
              </a:rPr>
              <a:t>충돌 판정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C5A8C"/>
                </a:solidFill>
              </a:rPr>
              <a:t>2.3  </a:t>
            </a:r>
            <a:r>
              <a:rPr lang="en-US" sz="1200" b="0" dirty="0">
                <a:solidFill>
                  <a:srgbClr val="3B2F57"/>
                </a:solidFill>
              </a:rPr>
              <a:t>판정, 상태 전이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C5A8C"/>
                </a:solidFill>
              </a:rPr>
              <a:t>2.4  </a:t>
            </a:r>
            <a:r>
              <a:rPr lang="en-US" sz="1200" b="0" dirty="0">
                <a:solidFill>
                  <a:srgbClr val="3B2F57"/>
                </a:solidFill>
              </a:rPr>
              <a:t>보조 기능, 힌트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187440" y="1097280"/>
            <a:ext cx="2651760" cy="4846320"/>
          </a:xfrm>
          <a:prstGeom prst="rect">
            <a:avLst/>
          </a:prstGeom>
          <a:solidFill>
            <a:srgbClr val="FFF5F8"/>
          </a:solidFill>
          <a:ln w="12700">
            <a:solidFill>
              <a:srgbClr val="FAF8F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picto-toc_screen" descr="C:/Users/user/Desktop/창고/기획서/images/picto/deck/toc_sc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3360" y="1371600"/>
            <a:ext cx="777240" cy="7772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41604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B2F57"/>
                </a:solidFill>
              </a:rPr>
              <a:t>화면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16040" y="31089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C5A8C"/>
                </a:solidFill>
              </a:rPr>
              <a:t>3.1  </a:t>
            </a:r>
            <a:r>
              <a:rPr lang="en-US" sz="1200" b="0" dirty="0">
                <a:solidFill>
                  <a:srgbClr val="3B2F57"/>
                </a:solidFill>
              </a:rPr>
              <a:t>UX 구조도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C5A8C"/>
                </a:solidFill>
              </a:rPr>
              <a:t>3.2  </a:t>
            </a:r>
            <a:r>
              <a:rPr lang="en-US" sz="1200" b="0" dirty="0">
                <a:solidFill>
                  <a:srgbClr val="3B2F57"/>
                </a:solidFill>
              </a:rPr>
              <a:t>화면 명세 (인게임)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C5A8C"/>
                </a:solidFill>
              </a:rPr>
              <a:t>3.3  </a:t>
            </a:r>
            <a:r>
              <a:rPr lang="en-US" sz="1200" b="0" dirty="0">
                <a:solidFill>
                  <a:srgbClr val="3B2F57"/>
                </a:solidFill>
              </a:rPr>
              <a:t>클리어 팝업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C5A8C"/>
                </a:solidFill>
              </a:rPr>
              <a:t>3.4  </a:t>
            </a:r>
            <a:r>
              <a:rPr lang="en-US" sz="1200" b="0" dirty="0">
                <a:solidFill>
                  <a:srgbClr val="3B2F57"/>
                </a:solidFill>
              </a:rPr>
              <a:t>광고 시청 팝업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9006840" y="1097280"/>
            <a:ext cx="2651760" cy="4846320"/>
          </a:xfrm>
          <a:prstGeom prst="rect">
            <a:avLst/>
          </a:prstGeom>
          <a:solidFill>
            <a:srgbClr val="FFF8E3"/>
          </a:solidFill>
          <a:ln w="12700">
            <a:solidFill>
              <a:srgbClr val="FAF8F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picto-toc_structure" descr="C:/Users/user/Desktop/창고/기획서/images/picto/deck/toc_struc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2760" y="1371600"/>
            <a:ext cx="777240" cy="7772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23544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B2F57"/>
                </a:solidFill>
              </a:rPr>
              <a:t>테이블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9235440" y="31089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C5A8C"/>
                </a:solidFill>
              </a:rPr>
              <a:t>4.1  </a:t>
            </a:r>
            <a:r>
              <a:rPr lang="en-US" sz="1200" b="0" dirty="0">
                <a:solidFill>
                  <a:srgbClr val="3B2F57"/>
                </a:solidFill>
              </a:rPr>
              <a:t>ER 다이어그램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C5A8C"/>
                </a:solidFill>
              </a:rPr>
              <a:t>4.2  </a:t>
            </a:r>
            <a:r>
              <a:rPr lang="en-US" sz="1200" b="0" dirty="0">
                <a:solidFill>
                  <a:srgbClr val="3B2F57"/>
                </a:solidFill>
              </a:rPr>
              <a:t>StageTable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C5A8C"/>
                </a:solidFill>
              </a:rPr>
              <a:t>4.3  </a:t>
            </a:r>
            <a:r>
              <a:rPr lang="en-US" sz="1200" b="0" dirty="0">
                <a:solidFill>
                  <a:srgbClr val="3B2F57"/>
                </a:solidFill>
              </a:rPr>
              <a:t>Player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C5A8C"/>
                </a:solidFill>
              </a:rPr>
              <a:t>4.4  </a:t>
            </a:r>
            <a:r>
              <a:rPr lang="en-US" sz="1200" b="0" dirty="0">
                <a:solidFill>
                  <a:srgbClr val="3B2F57"/>
                </a:solidFill>
              </a:rPr>
              <a:t>PlayLog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C5A8C"/>
                </a:solidFill>
              </a:rPr>
              <a:t>4.5  </a:t>
            </a:r>
            <a:r>
              <a:rPr lang="en-US" sz="1200" b="0" dirty="0">
                <a:solidFill>
                  <a:srgbClr val="3B2F57"/>
                </a:solidFill>
              </a:rPr>
              <a:t>StringTable</a:t>
            </a:r>
            <a:endParaRPr lang="en-US"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777240" y="1280160"/>
            <a:ext cx="1280160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4400" b="1">
                <a:solidFill>
                  <a:srgbClr val="EC5A8C"/>
                </a:solidFill>
                <a:latin typeface="Noto Sans KR"/>
                <a:ea typeface="Noto Sans KR"/>
              </a:rPr>
              <a:t>01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2880360"/>
            <a:ext cx="2194560" cy="0"/>
          </a:xfrm>
          <a:prstGeom prst="line">
            <a:avLst/>
          </a:prstGeom>
          <a:ln w="19050">
            <a:solidFill>
              <a:srgbClr val="CF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596640" y="1280160"/>
            <a:ext cx="1280160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4400" b="1">
                <a:solidFill>
                  <a:srgbClr val="EC5A8C"/>
                </a:solidFill>
                <a:latin typeface="Noto Sans KR"/>
                <a:ea typeface="Noto Sans KR"/>
              </a:rPr>
              <a:t>02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596640" y="2880360"/>
            <a:ext cx="2194560" cy="0"/>
          </a:xfrm>
          <a:prstGeom prst="line">
            <a:avLst/>
          </a:prstGeom>
          <a:ln w="19050">
            <a:solidFill>
              <a:srgbClr val="DDD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16040" y="1280160"/>
            <a:ext cx="1280160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4400" b="1">
                <a:solidFill>
                  <a:srgbClr val="EC5A8C"/>
                </a:solidFill>
                <a:latin typeface="Noto Sans KR"/>
                <a:ea typeface="Noto Sans KR"/>
              </a:rPr>
              <a:t>03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16040" y="2880360"/>
            <a:ext cx="2194560" cy="0"/>
          </a:xfrm>
          <a:prstGeom prst="line">
            <a:avLst/>
          </a:prstGeom>
          <a:ln w="19050">
            <a:solidFill>
              <a:srgbClr val="F9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235440" y="1280160"/>
            <a:ext cx="1280160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4400" b="1">
                <a:solidFill>
                  <a:srgbClr val="EC5A8C"/>
                </a:solidFill>
                <a:latin typeface="Noto Sans KR"/>
                <a:ea typeface="Noto Sans KR"/>
              </a:rPr>
              <a:t>04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235440" y="2880360"/>
            <a:ext cx="2194560" cy="0"/>
          </a:xfrm>
          <a:prstGeom prst="line">
            <a:avLst/>
          </a:prstGeom>
          <a:ln w="19050">
            <a:solidFill>
              <a:srgbClr val="F2D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600" b="1" dirty="0">
                <a:solidFill>
                  <a:srgbClr val="EC5A8C"/>
                </a:solidFill>
              </a:rPr>
              <a:t>01</a:t>
            </a:r>
            <a:endParaRPr lang="en-US" sz="96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0632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B2F57"/>
                </a:solidFill>
              </a:rPr>
              <a:t>개요</a:t>
            </a:r>
            <a:endParaRPr lang="en-US" sz="4000" dirty="0"/>
          </a:p>
        </p:txBody>
      </p:sp>
      <p:sp>
        <p:nvSpPr>
          <p:cNvPr id="5" name="chapter-card"/>
          <p:cNvSpPr/>
          <p:nvPr/>
        </p:nvSpPr>
        <p:spPr>
          <a:xfrm>
            <a:off x="7635240" y="1051560"/>
            <a:ext cx="4023360" cy="4023360"/>
          </a:xfrm>
          <a:prstGeom prst="rect">
            <a:avLst/>
          </a:prstGeom>
          <a:solidFill>
            <a:srgbClr val="FFFFFF"/>
          </a:solidFill>
          <a:ln w="31750">
            <a:solidFill>
              <a:srgbClr val="CFE3F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chapter-art" descr="C:/Users/user/Desktop/창고/기획서/images/codex/deck/section_01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188720"/>
            <a:ext cx="3749040" cy="3749040"/>
          </a:xfrm>
          <a:prstGeom prst="rect">
            <a:avLst/>
          </a:prstGeom>
        </p:spPr>
      </p:pic>
      <p:pic>
        <p:nvPicPr>
          <p:cNvPr id="7" name="picto-toc_overview" descr="C:/Users/user/Desktop/창고/기획서/images/picto/deck/toc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1755648"/>
            <a:ext cx="960120" cy="960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160520"/>
            <a:ext cx="5852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EC5A8C"/>
                </a:solidFill>
                <a:latin typeface="Noto Sans KR"/>
                <a:ea typeface="Noto Sans KR"/>
              </a:rPr>
              <a:t>1.1</a:t>
            </a:r>
            <a:r>
              <a:rPr sz="1600" b="0">
                <a:solidFill>
                  <a:srgbClr val="3B2F57"/>
                </a:solidFill>
                <a:latin typeface="Noto Sans KR"/>
                <a:ea typeface="Noto Sans KR"/>
              </a:rPr>
              <a:t>      원페이지 기획서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553712"/>
            <a:ext cx="5852160" cy="0"/>
          </a:xfrm>
          <a:prstGeom prst="line">
            <a:avLst/>
          </a:prstGeom>
          <a:ln w="12700">
            <a:solidFill>
              <a:srgbClr val="CF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4553712"/>
            <a:ext cx="5852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EC5A8C"/>
                </a:solidFill>
                <a:latin typeface="Noto Sans KR"/>
                <a:ea typeface="Noto Sans KR"/>
              </a:rPr>
              <a:t>1.2</a:t>
            </a:r>
            <a:r>
              <a:rPr sz="1600" b="0">
                <a:solidFill>
                  <a:srgbClr val="3B2F57"/>
                </a:solidFill>
                <a:latin typeface="Noto Sans KR"/>
                <a:ea typeface="Noto Sans KR"/>
              </a:rPr>
              <a:t>      기획 의도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4946903"/>
            <a:ext cx="5852160" cy="0"/>
          </a:xfrm>
          <a:prstGeom prst="line">
            <a:avLst/>
          </a:prstGeom>
          <a:ln w="12700">
            <a:solidFill>
              <a:srgbClr val="CF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" y="4160520"/>
            <a:ext cx="5852160" cy="0"/>
          </a:xfrm>
          <a:prstGeom prst="line">
            <a:avLst/>
          </a:prstGeom>
          <a:ln w="12700">
            <a:solidFill>
              <a:srgbClr val="CF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C5A8C"/>
                </a:solidFill>
              </a:rPr>
              <a:t>개요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F57"/>
                </a:solidFill>
              </a:rPr>
              <a:t>1.1 원페이지 기획서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82304"/>
            <a:ext cx="5272561" cy="2323501"/>
          </a:xfrm>
          <a:prstGeom prst="rect">
            <a:avLst/>
          </a:prstGeom>
          <a:solidFill>
            <a:srgbClr val="F0F8FF"/>
          </a:solidFill>
          <a:ln w="12700">
            <a:solidFill>
              <a:srgbClr val="FAF8F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72053" y="1816352"/>
            <a:ext cx="2680963" cy="31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C5A8C"/>
                </a:solidFill>
              </a:rPr>
              <a:t>기본 정보</a:t>
            </a:r>
            <a:endParaRPr lang="en-US" sz="1600" dirty="0">
              <a:solidFill>
                <a:srgbClr val="EC5A8C"/>
              </a:solidFill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741328"/>
              </p:ext>
            </p:extLst>
          </p:nvPr>
        </p:nvGraphicFramePr>
        <p:xfrm>
          <a:off x="772053" y="2173814"/>
          <a:ext cx="4825733" cy="1552910"/>
        </p:xfrm>
        <a:graphic>
          <a:graphicData uri="http://schemas.openxmlformats.org/drawingml/2006/table">
            <a:tbl>
              <a:tblPr/>
              <a:tblGrid>
                <a:gridCol w="1206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2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장르</a:t>
                      </a:r>
                      <a:endParaRPr lang="en-US" sz="1200" b="1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하이퍼 캐주얼 퍼즐 (한붓그리기)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b="1" dirty="0" err="1"/>
                        <a:t>타겟유저</a:t>
                      </a:r>
                      <a:endParaRPr lang="en-US" sz="1200" b="1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 err="1"/>
                        <a:t>스도쿠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길찾기</a:t>
                      </a:r>
                      <a:r>
                        <a:rPr lang="ko-KR" altLang="en-US" sz="1200" dirty="0"/>
                        <a:t> 퍼즐을 좋아하는 사람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플랫폼</a:t>
                      </a:r>
                      <a:endParaRPr lang="en-US" sz="1200" b="1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모바일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(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세로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화면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플레이 시간</a:t>
                      </a:r>
                      <a:endParaRPr lang="en-US" sz="1200" b="1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스테이지당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20초 ~ 5분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2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레퍼런스</a:t>
                      </a:r>
                      <a:endParaRPr lang="en-US" sz="1200" b="1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체스 나이트기반  이동 </a:t>
                      </a:r>
                      <a:endParaRPr lang="en-US" altLang="ko-KR" sz="1200" dirty="0">
                        <a:solidFill>
                          <a:srgbClr val="3B2F57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이산수학 그래프 이론 알고리즘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133980" y="1682304"/>
            <a:ext cx="5272561" cy="2323501"/>
          </a:xfrm>
          <a:prstGeom prst="rect">
            <a:avLst/>
          </a:prstGeom>
          <a:solidFill>
            <a:srgbClr val="FAF8FD"/>
          </a:solidFill>
          <a:ln w="12700">
            <a:solidFill>
              <a:srgbClr val="FAF8F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6357393" y="1816352"/>
            <a:ext cx="2680963" cy="31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C5A8C"/>
                </a:solidFill>
              </a:rPr>
              <a:t>게임 특징</a:t>
            </a:r>
            <a:endParaRPr lang="en-US" sz="1600" dirty="0">
              <a:solidFill>
                <a:srgbClr val="EC5A8C"/>
              </a:solidFill>
            </a:endParaRPr>
          </a:p>
        </p:txBody>
      </p:sp>
      <p:pic>
        <p:nvPicPr>
          <p:cNvPr id="9" name="picto-eye" descr="C:/Users/user/Desktop/창고/기획서/images/picto/deck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711" y="2272115"/>
            <a:ext cx="464700" cy="4647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48903" y="2307861"/>
            <a:ext cx="4378906" cy="250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3B2F57"/>
                </a:solidFill>
              </a:rPr>
              <a:t>직관적인</a:t>
            </a:r>
            <a:r>
              <a:rPr lang="en-US" sz="1200" b="1" dirty="0">
                <a:solidFill>
                  <a:srgbClr val="3B2F57"/>
                </a:solidFill>
              </a:rPr>
              <a:t> 규칙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848903" y="2558085"/>
            <a:ext cx="4423589" cy="250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>
                <a:solidFill>
                  <a:srgbClr val="6E6487"/>
                </a:solidFill>
              </a:rPr>
              <a:t>텍스트</a:t>
            </a:r>
            <a:r>
              <a:rPr lang="en-US" sz="1200" dirty="0">
                <a:solidFill>
                  <a:srgbClr val="6E6487"/>
                </a:solidFill>
              </a:rPr>
              <a:t> </a:t>
            </a:r>
            <a:r>
              <a:rPr lang="ko-KR" altLang="en-US" sz="1200" dirty="0">
                <a:solidFill>
                  <a:srgbClr val="6E6487"/>
                </a:solidFill>
              </a:rPr>
              <a:t>설명 </a:t>
            </a:r>
            <a:r>
              <a:rPr lang="en-US" sz="1200" dirty="0" err="1">
                <a:solidFill>
                  <a:srgbClr val="6E6487"/>
                </a:solidFill>
              </a:rPr>
              <a:t>없이</a:t>
            </a:r>
            <a:r>
              <a:rPr lang="en-US" sz="1200" dirty="0">
                <a:solidFill>
                  <a:srgbClr val="6E6487"/>
                </a:solidFill>
              </a:rPr>
              <a:t> </a:t>
            </a:r>
            <a:r>
              <a:rPr lang="en-US" sz="1200" dirty="0" err="1">
                <a:solidFill>
                  <a:srgbClr val="6E6487"/>
                </a:solidFill>
              </a:rPr>
              <a:t>바로</a:t>
            </a:r>
            <a:r>
              <a:rPr lang="en-US" sz="1200" dirty="0">
                <a:solidFill>
                  <a:srgbClr val="6E6487"/>
                </a:solidFill>
              </a:rPr>
              <a:t> </a:t>
            </a:r>
            <a:r>
              <a:rPr lang="en-US" sz="1200" dirty="0" err="1">
                <a:solidFill>
                  <a:srgbClr val="6E6487"/>
                </a:solidFill>
              </a:rPr>
              <a:t>플레이</a:t>
            </a:r>
            <a:r>
              <a:rPr lang="en-US" altLang="ko-KR" sz="1200" dirty="0">
                <a:solidFill>
                  <a:srgbClr val="6E6487"/>
                </a:solidFill>
              </a:rPr>
              <a:t> </a:t>
            </a:r>
            <a:r>
              <a:rPr lang="ko-KR" altLang="en-US" sz="1200" dirty="0">
                <a:solidFill>
                  <a:srgbClr val="6E6487"/>
                </a:solidFill>
              </a:rPr>
              <a:t>가능</a:t>
            </a:r>
            <a:endParaRPr lang="en-US" sz="1200" dirty="0"/>
          </a:p>
        </p:txBody>
      </p:sp>
      <p:pic>
        <p:nvPicPr>
          <p:cNvPr id="12" name="picto-bloom" descr="C:/Users/user/Desktop/창고/기획서/images/picto/deck/bl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711" y="2826182"/>
            <a:ext cx="464700" cy="4647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848903" y="2861928"/>
            <a:ext cx="4378906" cy="250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3B2F57"/>
                </a:solidFill>
              </a:rPr>
              <a:t>직관적인 </a:t>
            </a:r>
            <a:r>
              <a:rPr lang="en-US" sz="1200" b="1" dirty="0" err="1">
                <a:solidFill>
                  <a:srgbClr val="3B2F57"/>
                </a:solidFill>
              </a:rPr>
              <a:t>진행</a:t>
            </a:r>
            <a:r>
              <a:rPr lang="ko-KR" altLang="en-US" sz="1200" b="1" dirty="0">
                <a:solidFill>
                  <a:srgbClr val="3B2F57"/>
                </a:solidFill>
              </a:rPr>
              <a:t>도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848903" y="3112150"/>
            <a:ext cx="4423589" cy="250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487"/>
                </a:solidFill>
              </a:rPr>
              <a:t>밟은 </a:t>
            </a:r>
            <a:r>
              <a:rPr lang="en-US" sz="1200" dirty="0" err="1">
                <a:solidFill>
                  <a:srgbClr val="6E6487"/>
                </a:solidFill>
              </a:rPr>
              <a:t>칸마다</a:t>
            </a:r>
            <a:r>
              <a:rPr lang="en-US" sz="1200" dirty="0">
                <a:solidFill>
                  <a:srgbClr val="6E6487"/>
                </a:solidFill>
              </a:rPr>
              <a:t> </a:t>
            </a:r>
            <a:r>
              <a:rPr lang="en-US" sz="1200" dirty="0" err="1">
                <a:solidFill>
                  <a:srgbClr val="6E6487"/>
                </a:solidFill>
              </a:rPr>
              <a:t>꽃,번호</a:t>
            </a:r>
            <a:r>
              <a:rPr lang="en-US" sz="1200" dirty="0">
                <a:solidFill>
                  <a:srgbClr val="6E6487"/>
                </a:solidFill>
              </a:rPr>
              <a:t>,</a:t>
            </a:r>
            <a:r>
              <a:rPr lang="ko-KR" altLang="en-US" sz="1200" dirty="0">
                <a:solidFill>
                  <a:srgbClr val="6E6487"/>
                </a:solidFill>
              </a:rPr>
              <a:t>경로</a:t>
            </a:r>
            <a:r>
              <a:rPr lang="en-US" sz="1200" dirty="0">
                <a:solidFill>
                  <a:srgbClr val="6E6487"/>
                </a:solidFill>
              </a:rPr>
              <a:t> </a:t>
            </a:r>
            <a:r>
              <a:rPr lang="ko-KR" altLang="en-US" sz="1200" dirty="0">
                <a:solidFill>
                  <a:srgbClr val="6E6487"/>
                </a:solidFill>
              </a:rPr>
              <a:t>표시로 </a:t>
            </a:r>
            <a:r>
              <a:rPr lang="ko-KR" altLang="en-US" sz="1200" dirty="0" err="1">
                <a:solidFill>
                  <a:srgbClr val="6E6487"/>
                </a:solidFill>
              </a:rPr>
              <a:t>왔던길</a:t>
            </a:r>
            <a:r>
              <a:rPr lang="ko-KR" altLang="en-US" sz="1200" dirty="0">
                <a:solidFill>
                  <a:srgbClr val="6E6487"/>
                </a:solidFill>
              </a:rPr>
              <a:t> 표시</a:t>
            </a:r>
            <a:endParaRPr lang="en-US" sz="1200" dirty="0"/>
          </a:p>
        </p:txBody>
      </p:sp>
      <p:pic>
        <p:nvPicPr>
          <p:cNvPr id="15" name="picto-static" descr="C:/Users/user/Desktop/창고/기획서/images/picto/deck/sa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2711" y="3380247"/>
            <a:ext cx="464700" cy="4647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848903" y="3415994"/>
            <a:ext cx="4378906" cy="250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3B2F57"/>
                </a:solidFill>
              </a:rPr>
              <a:t>정적인 문제 해결 퍼즐 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6848903" y="3666217"/>
            <a:ext cx="4423589" cy="250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 err="1">
                <a:solidFill>
                  <a:srgbClr val="6E6487"/>
                </a:solidFill>
              </a:rPr>
              <a:t>랜덤성</a:t>
            </a:r>
            <a:r>
              <a:rPr lang="ko-KR" altLang="en-US" sz="1200" dirty="0">
                <a:solidFill>
                  <a:srgbClr val="6E6487"/>
                </a:solidFill>
              </a:rPr>
              <a:t> 없음</a:t>
            </a:r>
            <a:r>
              <a:rPr lang="en-US" altLang="ko-KR" sz="1200" dirty="0">
                <a:solidFill>
                  <a:srgbClr val="6E6487"/>
                </a:solidFill>
              </a:rPr>
              <a:t>, </a:t>
            </a:r>
            <a:r>
              <a:rPr lang="ko-KR" altLang="en-US" sz="1200" dirty="0">
                <a:solidFill>
                  <a:srgbClr val="6E6487"/>
                </a:solidFill>
              </a:rPr>
              <a:t>논리적인 길 찾기를 계산하는 재미</a:t>
            </a:r>
            <a:r>
              <a:rPr lang="en-US" altLang="ko-KR" sz="1200" dirty="0">
                <a:solidFill>
                  <a:srgbClr val="6E6487"/>
                </a:solidFill>
              </a:rPr>
              <a:t> 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48640" y="4095171"/>
            <a:ext cx="5272561" cy="2278818"/>
          </a:xfrm>
          <a:prstGeom prst="rect">
            <a:avLst/>
          </a:prstGeom>
          <a:solidFill>
            <a:srgbClr val="FFF1F5"/>
          </a:solidFill>
          <a:ln w="12700">
            <a:solidFill>
              <a:srgbClr val="FF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/>
          <p:cNvSpPr txBox="1"/>
          <p:nvPr/>
        </p:nvSpPr>
        <p:spPr>
          <a:xfrm>
            <a:off x="772053" y="4229219"/>
            <a:ext cx="2680963" cy="31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C5A8C"/>
                </a:solidFill>
              </a:rPr>
              <a:t>비주얼 컨셉</a:t>
            </a:r>
            <a:endParaRPr lang="en-US" sz="1600" dirty="0">
              <a:solidFill>
                <a:srgbClr val="EC5A8C"/>
              </a:solidFill>
            </a:endParaRPr>
          </a:p>
        </p:txBody>
      </p:sp>
      <p:pic>
        <p:nvPicPr>
          <p:cNvPr id="20" name="turnaround" descr="C:/Users/user/Desktop/창고/기획서/images/codex/deck/character_turnaround.png"/>
          <p:cNvPicPr>
            <a:picLocks noChangeAspect="1"/>
          </p:cNvPicPr>
          <p:nvPr/>
        </p:nvPicPr>
        <p:blipFill>
          <a:blip r:embed="rId6"/>
          <a:srcRect r="66667"/>
          <a:stretch>
            <a:fillRect/>
          </a:stretch>
        </p:blipFill>
        <p:spPr>
          <a:xfrm>
            <a:off x="2565751" y="4586681"/>
            <a:ext cx="848971" cy="169794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2208289" y="6150576"/>
            <a:ext cx="1563895" cy="250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487"/>
                </a:solidFill>
              </a:rPr>
              <a:t>기사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3303016" y="6150576"/>
            <a:ext cx="2680963" cy="250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200" dirty="0"/>
              <a:t>오브젝트 디자인</a:t>
            </a:r>
            <a:endParaRPr lang="en-US" sz="1200" dirty="0"/>
          </a:p>
        </p:txBody>
      </p:sp>
      <p:sp>
        <p:nvSpPr>
          <p:cNvPr id="28" name="Text 18"/>
          <p:cNvSpPr txBox="1"/>
          <p:nvPr/>
        </p:nvSpPr>
        <p:spPr>
          <a:xfrm>
            <a:off x="772053" y="4698388"/>
            <a:ext cx="2323501" cy="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2F57"/>
                </a:solidFill>
              </a:rPr>
              <a:t>2등신 SD, 굵은 보라 외곽선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2F57"/>
                </a:solidFill>
              </a:rPr>
              <a:t>파스텔 동화풍 들판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6133980" y="4095171"/>
            <a:ext cx="5272561" cy="2278818"/>
          </a:xfrm>
          <a:prstGeom prst="rect">
            <a:avLst/>
          </a:prstGeom>
          <a:solidFill>
            <a:srgbClr val="FFF8E3"/>
          </a:solidFill>
          <a:ln w="12700">
            <a:solidFill>
              <a:srgbClr val="FFF8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0"/>
          <p:cNvSpPr txBox="1"/>
          <p:nvPr/>
        </p:nvSpPr>
        <p:spPr>
          <a:xfrm>
            <a:off x="6357393" y="4229219"/>
            <a:ext cx="2680963" cy="31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C5A8C"/>
                </a:solidFill>
              </a:rPr>
              <a:t>1판 흐름, 목표</a:t>
            </a:r>
            <a:endParaRPr lang="en-US" sz="1600" dirty="0">
              <a:solidFill>
                <a:srgbClr val="EC5A8C"/>
              </a:solidFill>
            </a:endParaRPr>
          </a:p>
        </p:txBody>
      </p:sp>
      <p:sp>
        <p:nvSpPr>
          <p:cNvPr id="31" name="Shape 21"/>
          <p:cNvSpPr/>
          <p:nvPr/>
        </p:nvSpPr>
        <p:spPr>
          <a:xfrm>
            <a:off x="6536124" y="4586681"/>
            <a:ext cx="893654" cy="89365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2F5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2" name="Image 7" descr="C:/Users/user/Desktop/창고/knight-tour/img/knight_norm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6762" y="4653705"/>
            <a:ext cx="472380" cy="759606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6178663" y="5525018"/>
            <a:ext cx="1608578" cy="250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F57"/>
                </a:solidFill>
              </a:rPr>
              <a:t>시작</a:t>
            </a:r>
            <a:endParaRPr lang="en-US" sz="1200" dirty="0"/>
          </a:p>
        </p:txBody>
      </p:sp>
      <p:sp>
        <p:nvSpPr>
          <p:cNvPr id="34" name="Text 23"/>
          <p:cNvSpPr txBox="1"/>
          <p:nvPr/>
        </p:nvSpPr>
        <p:spPr>
          <a:xfrm>
            <a:off x="6178663" y="5757368"/>
            <a:ext cx="1608578" cy="22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487"/>
                </a:solidFill>
              </a:rPr>
              <a:t>시작 칸의 기사</a:t>
            </a:r>
            <a:endParaRPr lang="en-US" sz="1000" dirty="0"/>
          </a:p>
        </p:txBody>
      </p:sp>
      <p:sp>
        <p:nvSpPr>
          <p:cNvPr id="35" name="Shape 24"/>
          <p:cNvSpPr/>
          <p:nvPr/>
        </p:nvSpPr>
        <p:spPr>
          <a:xfrm>
            <a:off x="7519144" y="5033508"/>
            <a:ext cx="714923" cy="0"/>
          </a:xfrm>
          <a:prstGeom prst="line">
            <a:avLst/>
          </a:prstGeom>
          <a:noFill/>
          <a:ln w="25400">
            <a:solidFill>
              <a:srgbClr val="3B2F57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6" name="Shape 25"/>
          <p:cNvSpPr/>
          <p:nvPr/>
        </p:nvSpPr>
        <p:spPr>
          <a:xfrm>
            <a:off x="8323433" y="4586681"/>
            <a:ext cx="893654" cy="89365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2F5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7" name="Image 8" descr="C:/Users/user/Desktop/창고/knight-tour/img/flow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4291" y="4765412"/>
            <a:ext cx="571938" cy="536192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7965971" y="5525018"/>
            <a:ext cx="1608578" cy="250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F57"/>
                </a:solidFill>
              </a:rPr>
              <a:t>풀밭 채우기</a:t>
            </a:r>
            <a:endParaRPr lang="en-US" sz="1200" dirty="0"/>
          </a:p>
        </p:txBody>
      </p:sp>
      <p:sp>
        <p:nvSpPr>
          <p:cNvPr id="39" name="Text 27"/>
          <p:cNvSpPr txBox="1"/>
          <p:nvPr/>
        </p:nvSpPr>
        <p:spPr>
          <a:xfrm>
            <a:off x="7965971" y="5757368"/>
            <a:ext cx="1608578" cy="22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487"/>
                </a:solidFill>
              </a:rPr>
              <a:t>빈 칸 N → 0</a:t>
            </a:r>
            <a:endParaRPr lang="en-US" sz="1000" dirty="0"/>
          </a:p>
        </p:txBody>
      </p:sp>
      <p:sp>
        <p:nvSpPr>
          <p:cNvPr id="40" name="Shape 28"/>
          <p:cNvSpPr/>
          <p:nvPr/>
        </p:nvSpPr>
        <p:spPr>
          <a:xfrm>
            <a:off x="9306453" y="5033508"/>
            <a:ext cx="714923" cy="0"/>
          </a:xfrm>
          <a:prstGeom prst="line">
            <a:avLst/>
          </a:prstGeom>
          <a:noFill/>
          <a:ln w="25400">
            <a:solidFill>
              <a:srgbClr val="3B2F57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1" name="Shape 29"/>
          <p:cNvSpPr/>
          <p:nvPr/>
        </p:nvSpPr>
        <p:spPr>
          <a:xfrm>
            <a:off x="10110742" y="4586681"/>
            <a:ext cx="893654" cy="89365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2F5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2" name="Image 9" descr="C:/Users/user/Desktop/창고/knight-tour/img/cast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5218" y="4765412"/>
            <a:ext cx="544704" cy="536192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9753280" y="5525018"/>
            <a:ext cx="1608578" cy="250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F57"/>
                </a:solidFill>
              </a:rPr>
              <a:t>성 도착</a:t>
            </a:r>
            <a:endParaRPr lang="en-US" sz="1200" dirty="0"/>
          </a:p>
        </p:txBody>
      </p:sp>
      <p:sp>
        <p:nvSpPr>
          <p:cNvPr id="44" name="Text 31"/>
          <p:cNvSpPr txBox="1"/>
          <p:nvPr/>
        </p:nvSpPr>
        <p:spPr>
          <a:xfrm>
            <a:off x="9753280" y="5757368"/>
            <a:ext cx="1608578" cy="22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487"/>
                </a:solidFill>
              </a:rPr>
              <a:t>마지막 한 수</a:t>
            </a:r>
            <a:endParaRPr lang="en-US" sz="1000" dirty="0"/>
          </a:p>
        </p:txBody>
      </p:sp>
      <p:sp>
        <p:nvSpPr>
          <p:cNvPr id="45" name="Text 32"/>
          <p:cNvSpPr/>
          <p:nvPr/>
        </p:nvSpPr>
        <p:spPr>
          <a:xfrm>
            <a:off x="6357393" y="5971703"/>
            <a:ext cx="4825734" cy="3395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D45C"/>
            </a:solidFill>
          </a:ln>
        </p:spPr>
        <p:txBody>
          <a:bodyPr wrap="square" lIns="0" tIns="101600" rIns="10160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C5A8C"/>
                </a:solidFill>
              </a:rPr>
              <a:t>  </a:t>
            </a:r>
            <a:r>
              <a:rPr lang="en-US" sz="1200" b="1" dirty="0" err="1">
                <a:solidFill>
                  <a:srgbClr val="EC5A8C"/>
                </a:solidFill>
              </a:rPr>
              <a:t>목표</a:t>
            </a:r>
            <a:r>
              <a:rPr lang="en-US" sz="1200" b="1" dirty="0">
                <a:solidFill>
                  <a:srgbClr val="EC5A8C"/>
                </a:solidFill>
              </a:rPr>
              <a:t> </a:t>
            </a:r>
            <a:r>
              <a:rPr lang="en-US" sz="1200" dirty="0">
                <a:solidFill>
                  <a:srgbClr val="3B2F57"/>
                </a:solidFill>
              </a:rPr>
              <a:t>바위 외 모든 칸을 한 번씩 밟고 성에서 끝내기</a:t>
            </a:r>
            <a:endParaRPr lang="en-US" sz="1200" dirty="0"/>
          </a:p>
        </p:txBody>
      </p:sp>
      <p:pic>
        <p:nvPicPr>
          <p:cNvPr id="46" name="Picture 45" descr="board_icon_51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8574" y="4676046"/>
            <a:ext cx="1429847" cy="1429847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548640" y="1280160"/>
            <a:ext cx="10857901" cy="339588"/>
          </a:xfrm>
          <a:prstGeom prst="rect">
            <a:avLst/>
          </a:prstGeom>
          <a:solidFill>
            <a:srgbClr val="F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/>
            <a:r>
              <a:rPr sz="1200" b="1" dirty="0" err="1">
                <a:solidFill>
                  <a:srgbClr val="EC5A8C"/>
                </a:solidFill>
                <a:latin typeface="Noto Sans KR"/>
                <a:ea typeface="Noto Sans KR"/>
              </a:rPr>
              <a:t>한줄</a:t>
            </a:r>
            <a:r>
              <a:rPr sz="1200" b="1" dirty="0">
                <a:solidFill>
                  <a:srgbClr val="EC5A8C"/>
                </a:solidFill>
                <a:latin typeface="Noto Sans KR"/>
                <a:ea typeface="Noto Sans KR"/>
              </a:rPr>
              <a:t> </a:t>
            </a:r>
            <a:r>
              <a:rPr sz="1200" b="1" dirty="0" err="1">
                <a:solidFill>
                  <a:srgbClr val="EC5A8C"/>
                </a:solidFill>
                <a:latin typeface="Noto Sans KR"/>
                <a:ea typeface="Noto Sans KR"/>
              </a:rPr>
              <a:t>요약</a:t>
            </a:r>
            <a:r>
              <a:rPr sz="1200" b="1" dirty="0">
                <a:solidFill>
                  <a:srgbClr val="EC5A8C"/>
                </a:solidFill>
                <a:latin typeface="Noto Sans KR"/>
                <a:ea typeface="Noto Sans KR"/>
              </a:rPr>
              <a:t>   </a:t>
            </a:r>
            <a:r>
              <a:rPr lang="ko-KR" altLang="en-US" sz="1200" b="1" dirty="0">
                <a:solidFill>
                  <a:srgbClr val="3B2F57"/>
                </a:solidFill>
                <a:latin typeface="Noto Sans KR"/>
                <a:ea typeface="Noto Sans KR"/>
              </a:rPr>
              <a:t>체스 나이트</a:t>
            </a:r>
            <a:r>
              <a:rPr sz="1200" b="1" dirty="0">
                <a:solidFill>
                  <a:srgbClr val="3B2F57"/>
                </a:solidFill>
                <a:latin typeface="Noto Sans KR"/>
                <a:ea typeface="Noto Sans KR"/>
              </a:rPr>
              <a:t> </a:t>
            </a:r>
            <a:r>
              <a:rPr lang="ko-KR" altLang="en-US" sz="1200" b="1" dirty="0">
                <a:solidFill>
                  <a:srgbClr val="3B2F57"/>
                </a:solidFill>
                <a:latin typeface="Noto Sans KR"/>
                <a:ea typeface="Noto Sans KR"/>
              </a:rPr>
              <a:t>기반 움직임으로</a:t>
            </a:r>
            <a:r>
              <a:rPr sz="1200" b="1" dirty="0">
                <a:solidFill>
                  <a:srgbClr val="3B2F57"/>
                </a:solidFill>
                <a:latin typeface="Noto Sans KR"/>
                <a:ea typeface="Noto Sans KR"/>
              </a:rPr>
              <a:t> </a:t>
            </a:r>
            <a:r>
              <a:rPr lang="ko-KR" altLang="en-US" sz="1200" b="1" dirty="0">
                <a:solidFill>
                  <a:srgbClr val="3B2F57"/>
                </a:solidFill>
                <a:latin typeface="Noto Sans KR"/>
                <a:ea typeface="Noto Sans KR"/>
              </a:rPr>
              <a:t>보드를 꽃밭으로 가득 채우는 퍼즐</a:t>
            </a:r>
            <a:endParaRPr sz="1200" b="1" dirty="0">
              <a:solidFill>
                <a:srgbClr val="3B2F57"/>
              </a:solidFill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6"/>
          <p:cNvSpPr/>
          <p:nvPr/>
        </p:nvSpPr>
        <p:spPr>
          <a:xfrm>
            <a:off x="6400800" y="1280160"/>
            <a:ext cx="5257800" cy="3749040"/>
          </a:xfrm>
          <a:prstGeom prst="rect">
            <a:avLst/>
          </a:prstGeom>
          <a:solidFill>
            <a:srgbClr val="FFF1F5">
              <a:alpha val="70000"/>
            </a:srgbClr>
          </a:solidFill>
          <a:ln w="12700">
            <a:solidFill>
              <a:srgbClr val="FF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C5A8C"/>
                </a:solidFill>
              </a:rPr>
              <a:t>개요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F57"/>
                </a:solidFill>
              </a:rPr>
              <a:t>1.2 기획 의도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257800" cy="3749040"/>
          </a:xfrm>
          <a:prstGeom prst="rect">
            <a:avLst/>
          </a:prstGeom>
          <a:solidFill>
            <a:srgbClr val="FAF8FD"/>
          </a:solidFill>
          <a:ln w="12700">
            <a:solidFill>
              <a:srgbClr val="FAF8F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picto-network" descr="C:/Users/user/Desktop/창고/기획서/images/picto/deck/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417320"/>
            <a:ext cx="685800" cy="685800"/>
          </a:xfrm>
          <a:prstGeom prst="rect">
            <a:avLst/>
          </a:prstGeom>
        </p:spPr>
      </p:pic>
      <p:pic>
        <p:nvPicPr>
          <p:cNvPr id="6" name="picto-focus" descr="C:/Users/user/Desktop/창고/기획서/images/picto/deck/foc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417320"/>
            <a:ext cx="685800" cy="685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B2F57"/>
                </a:solidFill>
              </a:rPr>
              <a:t>기존: </a:t>
            </a:r>
            <a:r>
              <a:rPr lang="en-US" sz="1600" b="1" dirty="0" err="1">
                <a:solidFill>
                  <a:srgbClr val="3B2F57"/>
                </a:solidFill>
              </a:rPr>
              <a:t>기사의</a:t>
            </a:r>
            <a:r>
              <a:rPr lang="en-US" sz="1600" b="1" dirty="0">
                <a:solidFill>
                  <a:srgbClr val="3B2F57"/>
                </a:solidFill>
              </a:rPr>
              <a:t> 여</a:t>
            </a:r>
            <a:r>
              <a:rPr lang="ko-KR" altLang="en-US" sz="1600" b="1" dirty="0">
                <a:solidFill>
                  <a:srgbClr val="3B2F57"/>
                </a:solidFill>
              </a:rPr>
              <a:t>행</a:t>
            </a:r>
            <a:r>
              <a:rPr lang="en-US" sz="1600" b="1" dirty="0">
                <a:solidFill>
                  <a:srgbClr val="3B2F57"/>
                </a:solidFill>
              </a:rPr>
              <a:t> (</a:t>
            </a:r>
            <a:r>
              <a:rPr lang="ko-KR" altLang="en-US" sz="1600" b="1" dirty="0">
                <a:solidFill>
                  <a:srgbClr val="3B2F57"/>
                </a:solidFill>
              </a:rPr>
              <a:t>컴퓨터 알고리즘</a:t>
            </a:r>
            <a:r>
              <a:rPr lang="en-US" sz="1600" b="1" dirty="0">
                <a:solidFill>
                  <a:srgbClr val="3B2F57"/>
                </a:solidFill>
              </a:rPr>
              <a:t>)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/>
              <a:t>체스 나이트로 판의 모든 칸을 한 번씩 밟는 경로 탐색 알고리즘</a:t>
            </a:r>
          </a:p>
        </p:txBody>
      </p:sp>
      <p:sp>
        <p:nvSpPr>
          <p:cNvPr id="19" name="Shape 15"/>
          <p:cNvSpPr/>
          <p:nvPr/>
        </p:nvSpPr>
        <p:spPr>
          <a:xfrm>
            <a:off x="5897880" y="3154680"/>
            <a:ext cx="457200" cy="0"/>
          </a:xfrm>
          <a:prstGeom prst="line">
            <a:avLst/>
          </a:prstGeom>
          <a:noFill/>
          <a:ln w="38100">
            <a:solidFill>
              <a:srgbClr val="3B2F57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 txBox="1"/>
          <p:nvPr/>
        </p:nvSpPr>
        <p:spPr>
          <a:xfrm>
            <a:off x="667512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B2F57"/>
                </a:solidFill>
              </a:rPr>
              <a:t>개선: 기사의 여행 (본 게임)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667512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/>
              <a:t>경로 축소, 시작 및 도착 고정, 정답 1개, 힌트</a:t>
            </a:r>
          </a:p>
        </p:txBody>
      </p:sp>
      <p:sp>
        <p:nvSpPr>
          <p:cNvPr id="33" name="Shape 29"/>
          <p:cNvSpPr/>
          <p:nvPr/>
        </p:nvSpPr>
        <p:spPr>
          <a:xfrm>
            <a:off x="548640" y="5257800"/>
            <a:ext cx="11109960" cy="868680"/>
          </a:xfrm>
          <a:prstGeom prst="rect">
            <a:avLst/>
          </a:prstGeom>
          <a:solidFill>
            <a:srgbClr val="FFF8E3"/>
          </a:solidFill>
          <a:ln w="12700">
            <a:solidFill>
              <a:srgbClr val="FFF8E3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4" name="Image 2" descr="C:/Users/user/Desktop/창고/knight-tour/img/knight_norm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887" y="5303520"/>
            <a:ext cx="483346" cy="77724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1554480" y="52578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2F57"/>
                </a:solidFill>
              </a:rPr>
              <a:t>방대한 </a:t>
            </a:r>
            <a:r>
              <a:rPr lang="en-US" sz="1600" b="1" dirty="0" err="1">
                <a:solidFill>
                  <a:srgbClr val="3B2F57"/>
                </a:solidFill>
              </a:rPr>
              <a:t>경우의</a:t>
            </a:r>
            <a:r>
              <a:rPr lang="en-US" sz="1600" b="1" dirty="0">
                <a:solidFill>
                  <a:srgbClr val="3B2F57"/>
                </a:solidFill>
              </a:rPr>
              <a:t> 수</a:t>
            </a:r>
            <a:r>
              <a:rPr lang="ko-KR" altLang="en-US" sz="1600" b="1" dirty="0">
                <a:solidFill>
                  <a:srgbClr val="3B2F57"/>
                </a:solidFill>
              </a:rPr>
              <a:t>를 대폭 축소하고</a:t>
            </a:r>
            <a:r>
              <a:rPr lang="en-US" sz="1600" b="1" dirty="0">
                <a:solidFill>
                  <a:srgbClr val="3B2F57"/>
                </a:solidFill>
              </a:rPr>
              <a:t> 힌트를 더해, 짧고 </a:t>
            </a:r>
            <a:r>
              <a:rPr lang="en-US" sz="1600" b="1" dirty="0" err="1">
                <a:solidFill>
                  <a:srgbClr val="3B2F57"/>
                </a:solidFill>
              </a:rPr>
              <a:t>명확한</a:t>
            </a:r>
            <a:r>
              <a:rPr lang="en-US" sz="1600" b="1" dirty="0">
                <a:solidFill>
                  <a:srgbClr val="3B2F57"/>
                </a:solidFill>
              </a:rPr>
              <a:t> </a:t>
            </a:r>
            <a:r>
              <a:rPr lang="en-US" sz="1600" b="1" dirty="0" err="1">
                <a:solidFill>
                  <a:srgbClr val="3B2F57"/>
                </a:solidFill>
              </a:rPr>
              <a:t>한붓그리기</a:t>
            </a:r>
            <a:r>
              <a:rPr lang="en-US" sz="1600" b="1" dirty="0">
                <a:solidFill>
                  <a:srgbClr val="3B2F57"/>
                </a:solidFill>
              </a:rPr>
              <a:t> 퍼즐 경험 제공</a:t>
            </a:r>
            <a:endParaRPr lang="en-US" sz="1600" dirty="0"/>
          </a:p>
        </p:txBody>
      </p:sp>
      <p:sp>
        <p:nvSpPr>
          <p:cNvPr id="36" name="Rectangle 35"/>
          <p:cNvSpPr/>
          <p:nvPr/>
        </p:nvSpPr>
        <p:spPr>
          <a:xfrm>
            <a:off x="822960" y="2194560"/>
            <a:ext cx="1828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600" b="1" dirty="0" err="1">
                <a:solidFill>
                  <a:srgbClr val="EC5A8C"/>
                </a:solidFill>
                <a:latin typeface="Noto Sans KR"/>
                <a:ea typeface="Noto Sans KR"/>
              </a:rPr>
              <a:t>문제점</a:t>
            </a:r>
            <a:endParaRPr sz="1600" b="1" dirty="0">
              <a:solidFill>
                <a:srgbClr val="EC5A8C"/>
              </a:solidFill>
              <a:latin typeface="Noto Sans KR"/>
              <a:ea typeface="Noto Sans KR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675120" y="2194560"/>
            <a:ext cx="1828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600" b="1" dirty="0" err="1">
                <a:solidFill>
                  <a:srgbClr val="EC5A8C"/>
                </a:solidFill>
                <a:latin typeface="Noto Sans KR"/>
                <a:ea typeface="Noto Sans KR"/>
              </a:rPr>
              <a:t>개선</a:t>
            </a:r>
            <a:endParaRPr sz="1600" b="1" dirty="0">
              <a:solidFill>
                <a:srgbClr val="EC5A8C"/>
              </a:solidFill>
              <a:latin typeface="Noto Sans KR"/>
              <a:ea typeface="Noto Sans KR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22960" y="2560320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600" b="1" dirty="0">
                <a:solidFill>
                  <a:srgbClr val="3B2F57"/>
                </a:solidFill>
                <a:latin typeface="Noto Sans KR"/>
                <a:ea typeface="Noto Sans KR"/>
              </a:rPr>
              <a:t>약 13조 개</a:t>
            </a:r>
          </a:p>
          <a:p>
            <a:pPr algn="ctr"/>
            <a:r>
              <a:rPr sz="1000" b="0" dirty="0" err="1">
                <a:solidFill>
                  <a:srgbClr val="6E6487"/>
                </a:solidFill>
                <a:latin typeface="Noto Sans KR"/>
                <a:ea typeface="Noto Sans KR"/>
              </a:rPr>
              <a:t>과도한</a:t>
            </a:r>
            <a:r>
              <a:rPr sz="1000" b="0" dirty="0">
                <a:solidFill>
                  <a:srgbClr val="6E6487"/>
                </a:solidFill>
                <a:latin typeface="Noto Sans KR"/>
                <a:ea typeface="Noto Sans KR"/>
              </a:rPr>
              <a:t> </a:t>
            </a:r>
            <a:r>
              <a:rPr sz="1000" b="0" dirty="0" err="1">
                <a:solidFill>
                  <a:srgbClr val="6E6487"/>
                </a:solidFill>
                <a:latin typeface="Noto Sans KR"/>
                <a:ea typeface="Noto Sans KR"/>
              </a:rPr>
              <a:t>경우의</a:t>
            </a:r>
            <a:r>
              <a:rPr sz="1000" b="0" dirty="0">
                <a:solidFill>
                  <a:srgbClr val="6E6487"/>
                </a:solidFill>
                <a:latin typeface="Noto Sans KR"/>
                <a:ea typeface="Noto Sans KR"/>
              </a:rPr>
              <a:t> 수</a:t>
            </a:r>
            <a:r>
              <a:rPr lang="en-US" altLang="ko-KR" sz="1000" dirty="0">
                <a:solidFill>
                  <a:srgbClr val="6E6487"/>
                </a:solidFill>
                <a:ea typeface="Noto Sans KR"/>
              </a:rPr>
              <a:t> (8×8 </a:t>
            </a:r>
            <a:r>
              <a:rPr lang="ko-KR" altLang="en-US" sz="1000" dirty="0">
                <a:solidFill>
                  <a:srgbClr val="6E6487"/>
                </a:solidFill>
                <a:ea typeface="Noto Sans KR"/>
              </a:rPr>
              <a:t>기준</a:t>
            </a:r>
            <a:r>
              <a:rPr lang="en-US" altLang="ko-KR" sz="1000" dirty="0">
                <a:solidFill>
                  <a:srgbClr val="6E6487"/>
                </a:solidFill>
                <a:ea typeface="Noto Sans KR"/>
              </a:rPr>
              <a:t>)</a:t>
            </a:r>
          </a:p>
          <a:p>
            <a:pPr algn="ctr"/>
            <a:endParaRPr sz="1000" b="0" dirty="0">
              <a:solidFill>
                <a:srgbClr val="6E6487"/>
              </a:solidFill>
              <a:latin typeface="Noto Sans KR"/>
              <a:ea typeface="Noto Sans KR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291840" y="2560320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600" b="1" dirty="0" err="1">
                <a:solidFill>
                  <a:srgbClr val="3B2F57"/>
                </a:solidFill>
                <a:latin typeface="Noto Sans KR"/>
                <a:ea typeface="Noto Sans KR"/>
              </a:rPr>
              <a:t>복수</a:t>
            </a:r>
            <a:r>
              <a:rPr sz="1600" b="1" dirty="0">
                <a:solidFill>
                  <a:srgbClr val="3B2F57"/>
                </a:solidFill>
                <a:latin typeface="Noto Sans KR"/>
                <a:ea typeface="Noto Sans KR"/>
              </a:rPr>
              <a:t> </a:t>
            </a:r>
            <a:r>
              <a:rPr sz="1600" b="1" dirty="0" err="1">
                <a:solidFill>
                  <a:srgbClr val="3B2F57"/>
                </a:solidFill>
                <a:latin typeface="Noto Sans KR"/>
                <a:ea typeface="Noto Sans KR"/>
              </a:rPr>
              <a:t>정답</a:t>
            </a:r>
            <a:r>
              <a:rPr sz="1000" b="0" dirty="0">
                <a:solidFill>
                  <a:srgbClr val="6E6487"/>
                </a:solidFill>
                <a:latin typeface="Noto Sans KR"/>
                <a:ea typeface="Noto Sans KR"/>
              </a:rPr>
              <a:t>
</a:t>
            </a:r>
            <a:r>
              <a:rPr lang="ko-KR" altLang="en-US" sz="1000" dirty="0">
                <a:solidFill>
                  <a:srgbClr val="6E6487"/>
                </a:solidFill>
                <a:latin typeface="Noto Sans KR"/>
                <a:ea typeface="Noto Sans KR"/>
              </a:rPr>
              <a:t>경우의 수 증가 </a:t>
            </a:r>
            <a:br>
              <a:rPr lang="en-US" altLang="ko-KR" sz="1000" b="0" dirty="0">
                <a:solidFill>
                  <a:srgbClr val="6E6487"/>
                </a:solidFill>
                <a:latin typeface="Noto Sans KR"/>
                <a:ea typeface="Noto Sans KR"/>
              </a:rPr>
            </a:br>
            <a:r>
              <a:rPr lang="ko-KR" altLang="en-US" sz="1000" b="0" dirty="0">
                <a:solidFill>
                  <a:srgbClr val="6E6487"/>
                </a:solidFill>
                <a:latin typeface="Noto Sans KR"/>
                <a:ea typeface="Noto Sans KR"/>
              </a:rPr>
              <a:t>힌트 제공 어려움</a:t>
            </a:r>
            <a:endParaRPr sz="1000" b="0" dirty="0">
              <a:solidFill>
                <a:srgbClr val="6E6487"/>
              </a:solidFill>
              <a:latin typeface="Noto Sans KR"/>
              <a:ea typeface="Noto Sans KR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22960" y="3767328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600" b="1" dirty="0">
                <a:solidFill>
                  <a:srgbClr val="3B2F57"/>
                </a:solidFill>
                <a:latin typeface="Noto Sans KR"/>
                <a:ea typeface="Noto Sans KR"/>
              </a:rPr>
              <a:t>긴 </a:t>
            </a:r>
            <a:r>
              <a:rPr sz="1600" b="1" dirty="0" err="1">
                <a:solidFill>
                  <a:srgbClr val="3B2F57"/>
                </a:solidFill>
                <a:latin typeface="Noto Sans KR"/>
                <a:ea typeface="Noto Sans KR"/>
              </a:rPr>
              <a:t>플레이</a:t>
            </a:r>
            <a:r>
              <a:rPr sz="1600" b="1" dirty="0">
                <a:solidFill>
                  <a:srgbClr val="3B2F57"/>
                </a:solidFill>
                <a:latin typeface="Noto Sans KR"/>
                <a:ea typeface="Noto Sans KR"/>
              </a:rPr>
              <a:t> </a:t>
            </a:r>
            <a:r>
              <a:rPr sz="1600" b="1" dirty="0" err="1">
                <a:solidFill>
                  <a:srgbClr val="3B2F57"/>
                </a:solidFill>
                <a:latin typeface="Noto Sans KR"/>
                <a:ea typeface="Noto Sans KR"/>
              </a:rPr>
              <a:t>시간</a:t>
            </a:r>
            <a:r>
              <a:rPr sz="1000" b="0" dirty="0">
                <a:solidFill>
                  <a:srgbClr val="6E6487"/>
                </a:solidFill>
                <a:latin typeface="Noto Sans KR"/>
                <a:ea typeface="Noto Sans KR"/>
              </a:rPr>
              <a:t>
</a:t>
            </a:r>
            <a:r>
              <a:rPr lang="ko-KR" altLang="en-US" sz="1000" dirty="0">
                <a:solidFill>
                  <a:srgbClr val="6E6487"/>
                </a:solidFill>
                <a:latin typeface="Noto Sans KR"/>
                <a:ea typeface="Noto Sans KR"/>
              </a:rPr>
              <a:t>포기나 이탈 가능성 높음</a:t>
            </a:r>
            <a:endParaRPr sz="1000" b="0" dirty="0">
              <a:solidFill>
                <a:srgbClr val="6E6487"/>
              </a:solidFill>
              <a:latin typeface="Noto Sans KR"/>
              <a:ea typeface="Noto Sans KR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291840" y="3767328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600" b="1" dirty="0" err="1">
                <a:solidFill>
                  <a:srgbClr val="3B2F57"/>
                </a:solidFill>
                <a:latin typeface="Noto Sans KR"/>
                <a:ea typeface="Noto Sans KR"/>
              </a:rPr>
              <a:t>계산</a:t>
            </a:r>
            <a:r>
              <a:rPr sz="1600" b="1" dirty="0">
                <a:solidFill>
                  <a:srgbClr val="3B2F57"/>
                </a:solidFill>
                <a:latin typeface="Noto Sans KR"/>
                <a:ea typeface="Noto Sans KR"/>
              </a:rPr>
              <a:t> </a:t>
            </a:r>
            <a:r>
              <a:rPr lang="ko-KR" altLang="en-US" sz="1600" b="1" dirty="0">
                <a:solidFill>
                  <a:srgbClr val="3B2F57"/>
                </a:solidFill>
                <a:latin typeface="Noto Sans KR"/>
                <a:ea typeface="Noto Sans KR"/>
              </a:rPr>
              <a:t>어려움</a:t>
            </a:r>
            <a:r>
              <a:rPr lang="ko-KR" altLang="en-US" sz="1000" b="0" dirty="0">
                <a:solidFill>
                  <a:srgbClr val="6E6487"/>
                </a:solidFill>
                <a:latin typeface="Noto Sans KR"/>
                <a:ea typeface="Noto Sans KR"/>
              </a:rPr>
              <a:t>
현실적 계산 불가능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2560320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600" b="1" dirty="0">
                <a:solidFill>
                  <a:srgbClr val="EC5A8C"/>
                </a:solidFill>
                <a:latin typeface="Noto Sans KR"/>
                <a:ea typeface="Noto Sans KR"/>
              </a:rPr>
              <a:t>10만 개 </a:t>
            </a:r>
            <a:r>
              <a:rPr sz="1600" b="1" dirty="0" err="1">
                <a:solidFill>
                  <a:srgbClr val="EC5A8C"/>
                </a:solidFill>
                <a:latin typeface="Noto Sans KR"/>
                <a:ea typeface="Noto Sans KR"/>
              </a:rPr>
              <a:t>이하</a:t>
            </a:r>
            <a:endParaRPr sz="1600" b="1" dirty="0">
              <a:solidFill>
                <a:srgbClr val="EC5A8C"/>
              </a:solidFill>
              <a:latin typeface="Noto Sans KR"/>
              <a:ea typeface="Noto Sans KR"/>
            </a:endParaRPr>
          </a:p>
          <a:p>
            <a:pPr algn="ctr"/>
            <a:r>
              <a:rPr lang="ko-KR" altLang="en-US" sz="1000" dirty="0" err="1">
                <a:solidFill>
                  <a:srgbClr val="6E6487"/>
                </a:solidFill>
                <a:latin typeface="Noto Sans KR"/>
                <a:ea typeface="Noto Sans KR"/>
              </a:rPr>
              <a:t>경우의수</a:t>
            </a:r>
            <a:r>
              <a:rPr lang="ko-KR" altLang="en-US" sz="1000" dirty="0">
                <a:solidFill>
                  <a:srgbClr val="6E6487"/>
                </a:solidFill>
                <a:latin typeface="Noto Sans KR"/>
                <a:ea typeface="Noto Sans KR"/>
              </a:rPr>
              <a:t> 축소로 난이도 하락</a:t>
            </a:r>
            <a:endParaRPr lang="en-US" altLang="ko-KR" sz="1000" dirty="0">
              <a:solidFill>
                <a:srgbClr val="6E6487"/>
              </a:solidFill>
              <a:latin typeface="Noto Sans KR"/>
              <a:ea typeface="Noto Sans KR"/>
            </a:endParaRPr>
          </a:p>
          <a:p>
            <a:pPr algn="ctr"/>
            <a:endParaRPr sz="1000" b="0" dirty="0">
              <a:solidFill>
                <a:srgbClr val="6E6487"/>
              </a:solidFill>
              <a:latin typeface="Noto Sans KR"/>
              <a:ea typeface="Noto Sans KR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144000" y="2560320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600" b="1" dirty="0" err="1">
                <a:solidFill>
                  <a:srgbClr val="EC5A8C"/>
                </a:solidFill>
                <a:latin typeface="Noto Sans KR"/>
                <a:ea typeface="Noto Sans KR"/>
              </a:rPr>
              <a:t>시작</a:t>
            </a:r>
            <a:r>
              <a:rPr sz="1600" b="1" dirty="0">
                <a:solidFill>
                  <a:srgbClr val="EC5A8C"/>
                </a:solidFill>
                <a:latin typeface="Noto Sans KR"/>
                <a:ea typeface="Noto Sans KR"/>
              </a:rPr>
              <a:t>, </a:t>
            </a:r>
            <a:r>
              <a:rPr sz="1600" b="1" dirty="0" err="1">
                <a:solidFill>
                  <a:srgbClr val="EC5A8C"/>
                </a:solidFill>
                <a:latin typeface="Noto Sans KR"/>
                <a:ea typeface="Noto Sans KR"/>
              </a:rPr>
              <a:t>도착</a:t>
            </a:r>
            <a:r>
              <a:rPr sz="1600" b="1" dirty="0">
                <a:solidFill>
                  <a:srgbClr val="EC5A8C"/>
                </a:solidFill>
                <a:latin typeface="Noto Sans KR"/>
                <a:ea typeface="Noto Sans KR"/>
              </a:rPr>
              <a:t> </a:t>
            </a:r>
            <a:r>
              <a:rPr sz="1600" b="1" dirty="0" err="1">
                <a:solidFill>
                  <a:srgbClr val="EC5A8C"/>
                </a:solidFill>
                <a:latin typeface="Noto Sans KR"/>
                <a:ea typeface="Noto Sans KR"/>
              </a:rPr>
              <a:t>고정</a:t>
            </a:r>
            <a:endParaRPr lang="ko-KR" altLang="en-US" sz="1600" b="1" dirty="0">
              <a:solidFill>
                <a:srgbClr val="EC5A8C"/>
              </a:solidFill>
              <a:latin typeface="Noto Sans KR"/>
              <a:ea typeface="Noto Sans KR"/>
            </a:endParaRPr>
          </a:p>
          <a:p>
            <a:pPr algn="ctr"/>
            <a:r>
              <a:rPr lang="ko-KR" altLang="en-US" sz="1000" dirty="0">
                <a:solidFill>
                  <a:srgbClr val="6E6487"/>
                </a:solidFill>
                <a:latin typeface="Noto Sans KR"/>
                <a:ea typeface="Noto Sans KR"/>
              </a:rPr>
              <a:t>경우의 수 축소 </a:t>
            </a:r>
            <a:endParaRPr lang="en-US" altLang="ko-KR" sz="1000" dirty="0">
              <a:solidFill>
                <a:srgbClr val="6E6487"/>
              </a:solidFill>
              <a:latin typeface="Noto Sans KR"/>
              <a:ea typeface="Noto Sans KR"/>
            </a:endParaRPr>
          </a:p>
          <a:p>
            <a:pPr algn="ctr"/>
            <a:r>
              <a:rPr lang="ko-KR" altLang="en-US" sz="1000" b="0" dirty="0">
                <a:solidFill>
                  <a:srgbClr val="6E6487"/>
                </a:solidFill>
                <a:latin typeface="Noto Sans KR"/>
                <a:ea typeface="Noto Sans KR"/>
              </a:rPr>
              <a:t>명확한 목표</a:t>
            </a:r>
            <a:endParaRPr lang="en-US" altLang="ko-KR" sz="1000" b="0" dirty="0">
              <a:solidFill>
                <a:srgbClr val="6E6487"/>
              </a:solidFill>
              <a:latin typeface="Noto Sans KR"/>
              <a:ea typeface="Noto Sans KR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675120" y="3767328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600" b="1" dirty="0" err="1">
                <a:solidFill>
                  <a:srgbClr val="EC5A8C"/>
                </a:solidFill>
                <a:latin typeface="Noto Sans KR"/>
                <a:ea typeface="Noto Sans KR"/>
              </a:rPr>
              <a:t>정답</a:t>
            </a:r>
            <a:r>
              <a:rPr sz="1600" b="1" dirty="0">
                <a:solidFill>
                  <a:srgbClr val="EC5A8C"/>
                </a:solidFill>
                <a:latin typeface="Noto Sans KR"/>
                <a:ea typeface="Noto Sans KR"/>
              </a:rPr>
              <a:t> 1개</a:t>
            </a:r>
          </a:p>
          <a:p>
            <a:pPr algn="ctr"/>
            <a:r>
              <a:rPr lang="ko-KR" altLang="en-US" sz="1000" b="0" dirty="0">
                <a:solidFill>
                  <a:srgbClr val="6E6487"/>
                </a:solidFill>
                <a:latin typeface="Noto Sans KR"/>
                <a:ea typeface="Noto Sans KR"/>
              </a:rPr>
              <a:t>경우의 수 축소 </a:t>
            </a:r>
            <a:endParaRPr lang="en-US" sz="1000" b="0" dirty="0">
              <a:solidFill>
                <a:srgbClr val="6E6487"/>
              </a:solidFill>
              <a:latin typeface="Noto Sans KR"/>
              <a:ea typeface="Noto Sans KR"/>
            </a:endParaRPr>
          </a:p>
          <a:p>
            <a:pPr algn="ctr"/>
            <a:r>
              <a:rPr lang="ko-KR" altLang="en-US" sz="1000" b="0" dirty="0">
                <a:solidFill>
                  <a:srgbClr val="6E6487"/>
                </a:solidFill>
                <a:latin typeface="Noto Sans KR"/>
                <a:ea typeface="Noto Sans KR"/>
              </a:rPr>
              <a:t>힌트 제공 알고리즘 간편화</a:t>
            </a:r>
            <a:endParaRPr sz="1000" b="0" dirty="0">
              <a:solidFill>
                <a:srgbClr val="6E6487"/>
              </a:solidFill>
              <a:latin typeface="Noto Sans KR"/>
              <a:ea typeface="Noto Sans KR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144000" y="3767328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600" b="1" dirty="0" err="1">
                <a:solidFill>
                  <a:srgbClr val="EC5A8C"/>
                </a:solidFill>
                <a:latin typeface="Noto Sans KR"/>
                <a:ea typeface="Noto Sans KR"/>
              </a:rPr>
              <a:t>힌트</a:t>
            </a:r>
            <a:r>
              <a:rPr sz="1600" b="1" dirty="0">
                <a:solidFill>
                  <a:srgbClr val="EC5A8C"/>
                </a:solidFill>
                <a:latin typeface="Noto Sans KR"/>
                <a:ea typeface="Noto Sans KR"/>
              </a:rPr>
              <a:t> </a:t>
            </a:r>
            <a:r>
              <a:rPr sz="1600" b="1" dirty="0" err="1">
                <a:solidFill>
                  <a:srgbClr val="EC5A8C"/>
                </a:solidFill>
                <a:latin typeface="Noto Sans KR"/>
                <a:ea typeface="Noto Sans KR"/>
              </a:rPr>
              <a:t>제공</a:t>
            </a:r>
            <a:endParaRPr lang="ko-KR" altLang="en-US" sz="1600" b="1" dirty="0">
              <a:solidFill>
                <a:srgbClr val="EC5A8C"/>
              </a:solidFill>
              <a:latin typeface="Noto Sans KR"/>
              <a:ea typeface="Noto Sans KR"/>
            </a:endParaRPr>
          </a:p>
          <a:p>
            <a:pPr algn="ctr"/>
            <a:r>
              <a:rPr lang="ko-KR" altLang="en-US" sz="1000" b="0" dirty="0">
                <a:solidFill>
                  <a:srgbClr val="6E6487"/>
                </a:solidFill>
                <a:latin typeface="Noto Sans KR"/>
                <a:ea typeface="Noto Sans KR"/>
              </a:rPr>
              <a:t>유저의 편의성과 도우미 역할</a:t>
            </a:r>
            <a:endParaRPr lang="en-US" altLang="ko-KR" sz="1000" b="0" dirty="0">
              <a:solidFill>
                <a:srgbClr val="6E6487"/>
              </a:solidFill>
              <a:latin typeface="Noto Sans KR"/>
              <a:ea typeface="Noto Sans KR"/>
            </a:endParaRPr>
          </a:p>
          <a:p>
            <a:pPr algn="ctr"/>
            <a:r>
              <a:rPr lang="ko-KR" altLang="en-US" sz="1000" b="0" dirty="0">
                <a:solidFill>
                  <a:srgbClr val="6E6487"/>
                </a:solidFill>
                <a:latin typeface="Noto Sans KR"/>
                <a:ea typeface="Noto Sans KR"/>
              </a:rPr>
              <a:t>유저가 임의로 난이도 조절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600" b="1" dirty="0">
                <a:solidFill>
                  <a:srgbClr val="EC5A8C"/>
                </a:solidFill>
              </a:rPr>
              <a:t>02</a:t>
            </a:r>
            <a:endParaRPr lang="en-US" sz="96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0632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B2F57"/>
                </a:solidFill>
              </a:rPr>
              <a:t>게임 시스템</a:t>
            </a:r>
            <a:endParaRPr lang="en-US" sz="4000" dirty="0"/>
          </a:p>
        </p:txBody>
      </p:sp>
      <p:sp>
        <p:nvSpPr>
          <p:cNvPr id="5" name="chapter-card"/>
          <p:cNvSpPr/>
          <p:nvPr/>
        </p:nvSpPr>
        <p:spPr>
          <a:xfrm>
            <a:off x="7635240" y="1051560"/>
            <a:ext cx="4023360" cy="4023360"/>
          </a:xfrm>
          <a:prstGeom prst="rect">
            <a:avLst/>
          </a:prstGeom>
          <a:solidFill>
            <a:srgbClr val="FFFFFF"/>
          </a:solidFill>
          <a:ln w="31750">
            <a:solidFill>
              <a:srgbClr val="DDD4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chapter-art" descr="C:/Users/user/Desktop/창고/기획서/images/codex/deck/section_03_r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188720"/>
            <a:ext cx="3749040" cy="3749040"/>
          </a:xfrm>
          <a:prstGeom prst="rect">
            <a:avLst/>
          </a:prstGeom>
        </p:spPr>
      </p:pic>
      <p:pic>
        <p:nvPicPr>
          <p:cNvPr id="9" name="picto-toc_rules" descr="C:/Users/user/Desktop/창고/기획서/images/picto/deck/toc_ru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1755648"/>
            <a:ext cx="960120" cy="960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160520"/>
            <a:ext cx="5852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EC5A8C"/>
                </a:solidFill>
                <a:latin typeface="Noto Sans KR"/>
                <a:ea typeface="Noto Sans KR"/>
              </a:rPr>
              <a:t>2.1</a:t>
            </a:r>
            <a:r>
              <a:rPr sz="1600" b="0">
                <a:solidFill>
                  <a:srgbClr val="3B2F57"/>
                </a:solidFill>
                <a:latin typeface="Noto Sans KR"/>
                <a:ea typeface="Noto Sans KR"/>
              </a:rPr>
              <a:t>      플레이 흐름, 이동 규칙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4553712"/>
            <a:ext cx="5852160" cy="0"/>
          </a:xfrm>
          <a:prstGeom prst="line">
            <a:avLst/>
          </a:prstGeom>
          <a:ln w="12700">
            <a:solidFill>
              <a:srgbClr val="DDD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4553712"/>
            <a:ext cx="5852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EC5A8C"/>
                </a:solidFill>
                <a:latin typeface="Noto Sans KR"/>
                <a:ea typeface="Noto Sans KR"/>
              </a:rPr>
              <a:t>2.2</a:t>
            </a:r>
            <a:r>
              <a:rPr sz="1600" b="0">
                <a:solidFill>
                  <a:srgbClr val="3B2F57"/>
                </a:solidFill>
                <a:latin typeface="Noto Sans KR"/>
                <a:ea typeface="Noto Sans KR"/>
              </a:rPr>
              <a:t>      충돌 판정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4946903"/>
            <a:ext cx="5852160" cy="0"/>
          </a:xfrm>
          <a:prstGeom prst="line">
            <a:avLst/>
          </a:prstGeom>
          <a:ln w="12700">
            <a:solidFill>
              <a:srgbClr val="DDD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4946904"/>
            <a:ext cx="5852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EC5A8C"/>
                </a:solidFill>
                <a:latin typeface="Noto Sans KR"/>
                <a:ea typeface="Noto Sans KR"/>
              </a:rPr>
              <a:t>2.3</a:t>
            </a:r>
            <a:r>
              <a:rPr sz="1600" b="0">
                <a:solidFill>
                  <a:srgbClr val="3B2F57"/>
                </a:solidFill>
                <a:latin typeface="Noto Sans KR"/>
                <a:ea typeface="Noto Sans KR"/>
              </a:rPr>
              <a:t>      판정, 상태 전이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5340096"/>
            <a:ext cx="5852160" cy="0"/>
          </a:xfrm>
          <a:prstGeom prst="line">
            <a:avLst/>
          </a:prstGeom>
          <a:ln w="12700">
            <a:solidFill>
              <a:srgbClr val="DDD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5340096"/>
            <a:ext cx="5852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EC5A8C"/>
                </a:solidFill>
                <a:latin typeface="Noto Sans KR"/>
                <a:ea typeface="Noto Sans KR"/>
              </a:rPr>
              <a:t>2.4</a:t>
            </a:r>
            <a:r>
              <a:rPr sz="1600" b="0">
                <a:solidFill>
                  <a:srgbClr val="3B2F57"/>
                </a:solidFill>
                <a:latin typeface="Noto Sans KR"/>
                <a:ea typeface="Noto Sans KR"/>
              </a:rPr>
              <a:t>      보조 기능, 힌트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5733288"/>
            <a:ext cx="5852160" cy="0"/>
          </a:xfrm>
          <a:prstGeom prst="line">
            <a:avLst/>
          </a:prstGeom>
          <a:ln w="12700">
            <a:solidFill>
              <a:srgbClr val="DDD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8640" y="4160520"/>
            <a:ext cx="5852160" cy="0"/>
          </a:xfrm>
          <a:prstGeom prst="line">
            <a:avLst/>
          </a:prstGeom>
          <a:ln w="12700">
            <a:solidFill>
              <a:srgbClr val="DDD4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C5A8C"/>
                </a:solidFill>
              </a:rPr>
              <a:t>게임 시스템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F57"/>
                </a:solidFill>
              </a:rPr>
              <a:t>2.1 플레이 흐름, 이동 규칙</a:t>
            </a:r>
            <a:endParaRPr lang="en-US" sz="2600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95F25BBB-31FD-C05A-1D3C-F6098F602AED}"/>
              </a:ext>
            </a:extLst>
          </p:cNvPr>
          <p:cNvGrpSpPr/>
          <p:nvPr/>
        </p:nvGrpSpPr>
        <p:grpSpPr>
          <a:xfrm>
            <a:off x="1212329" y="3597036"/>
            <a:ext cx="2098626" cy="2098626"/>
            <a:chOff x="685800" y="3429000"/>
            <a:chExt cx="2534716" cy="2534716"/>
          </a:xfrm>
        </p:grpSpPr>
        <p:sp>
          <p:nvSpPr>
            <p:cNvPr id="4" name="Shape 2"/>
            <p:cNvSpPr/>
            <p:nvPr/>
          </p:nvSpPr>
          <p:spPr>
            <a:xfrm>
              <a:off x="685800" y="3429000"/>
              <a:ext cx="2534716" cy="2534716"/>
            </a:xfrm>
            <a:prstGeom prst="rect">
              <a:avLst/>
            </a:prstGeom>
            <a:solidFill>
              <a:srgbClr val="98D56E"/>
            </a:solidFill>
            <a:ln w="25400">
              <a:solidFill>
                <a:srgbClr val="3B2F5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Shape 3"/>
            <p:cNvSpPr/>
            <p:nvPr/>
          </p:nvSpPr>
          <p:spPr>
            <a:xfrm>
              <a:off x="718718" y="3461918"/>
              <a:ext cx="493776" cy="493776"/>
            </a:xfrm>
            <a:prstGeom prst="rect">
              <a:avLst/>
            </a:prstGeom>
            <a:solidFill>
              <a:srgbClr val="AEE283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Shape 4"/>
            <p:cNvSpPr/>
            <p:nvPr/>
          </p:nvSpPr>
          <p:spPr>
            <a:xfrm>
              <a:off x="1212494" y="3461918"/>
              <a:ext cx="493776" cy="493776"/>
            </a:xfrm>
            <a:prstGeom prst="rect">
              <a:avLst/>
            </a:prstGeom>
            <a:solidFill>
              <a:srgbClr val="98D56E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Shape 5"/>
            <p:cNvSpPr/>
            <p:nvPr/>
          </p:nvSpPr>
          <p:spPr>
            <a:xfrm>
              <a:off x="1706270" y="3461918"/>
              <a:ext cx="493776" cy="493776"/>
            </a:xfrm>
            <a:prstGeom prst="rect">
              <a:avLst/>
            </a:prstGeom>
            <a:solidFill>
              <a:srgbClr val="AEE283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Shape 6"/>
            <p:cNvSpPr/>
            <p:nvPr/>
          </p:nvSpPr>
          <p:spPr>
            <a:xfrm>
              <a:off x="2200046" y="3461918"/>
              <a:ext cx="493776" cy="493776"/>
            </a:xfrm>
            <a:prstGeom prst="rect">
              <a:avLst/>
            </a:prstGeom>
            <a:solidFill>
              <a:srgbClr val="98D56E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Shape 7"/>
            <p:cNvSpPr/>
            <p:nvPr/>
          </p:nvSpPr>
          <p:spPr>
            <a:xfrm>
              <a:off x="2693822" y="3461918"/>
              <a:ext cx="493776" cy="493776"/>
            </a:xfrm>
            <a:prstGeom prst="rect">
              <a:avLst/>
            </a:prstGeom>
            <a:solidFill>
              <a:srgbClr val="AEE283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hape 8"/>
            <p:cNvSpPr/>
            <p:nvPr/>
          </p:nvSpPr>
          <p:spPr>
            <a:xfrm>
              <a:off x="718718" y="3955694"/>
              <a:ext cx="493776" cy="493776"/>
            </a:xfrm>
            <a:prstGeom prst="rect">
              <a:avLst/>
            </a:prstGeom>
            <a:solidFill>
              <a:srgbClr val="98D56E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hape 9"/>
            <p:cNvSpPr/>
            <p:nvPr/>
          </p:nvSpPr>
          <p:spPr>
            <a:xfrm>
              <a:off x="1212494" y="3955694"/>
              <a:ext cx="493776" cy="493776"/>
            </a:xfrm>
            <a:prstGeom prst="rect">
              <a:avLst/>
            </a:prstGeom>
            <a:solidFill>
              <a:srgbClr val="AEE283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hape 10"/>
            <p:cNvSpPr/>
            <p:nvPr/>
          </p:nvSpPr>
          <p:spPr>
            <a:xfrm>
              <a:off x="1706270" y="3955694"/>
              <a:ext cx="493776" cy="493776"/>
            </a:xfrm>
            <a:prstGeom prst="rect">
              <a:avLst/>
            </a:prstGeom>
            <a:solidFill>
              <a:srgbClr val="98D56E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hape 11"/>
            <p:cNvSpPr/>
            <p:nvPr/>
          </p:nvSpPr>
          <p:spPr>
            <a:xfrm>
              <a:off x="2200046" y="3955694"/>
              <a:ext cx="493776" cy="493776"/>
            </a:xfrm>
            <a:prstGeom prst="rect">
              <a:avLst/>
            </a:prstGeom>
            <a:solidFill>
              <a:srgbClr val="AEE283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hape 12"/>
            <p:cNvSpPr/>
            <p:nvPr/>
          </p:nvSpPr>
          <p:spPr>
            <a:xfrm>
              <a:off x="2693822" y="3955694"/>
              <a:ext cx="493776" cy="493776"/>
            </a:xfrm>
            <a:prstGeom prst="rect">
              <a:avLst/>
            </a:prstGeom>
            <a:solidFill>
              <a:srgbClr val="98D56E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hape 13"/>
            <p:cNvSpPr/>
            <p:nvPr/>
          </p:nvSpPr>
          <p:spPr>
            <a:xfrm>
              <a:off x="718718" y="4449470"/>
              <a:ext cx="493776" cy="493776"/>
            </a:xfrm>
            <a:prstGeom prst="rect">
              <a:avLst/>
            </a:prstGeom>
            <a:solidFill>
              <a:srgbClr val="AEE283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hape 14"/>
            <p:cNvSpPr/>
            <p:nvPr/>
          </p:nvSpPr>
          <p:spPr>
            <a:xfrm>
              <a:off x="1212494" y="4449470"/>
              <a:ext cx="493776" cy="493776"/>
            </a:xfrm>
            <a:prstGeom prst="rect">
              <a:avLst/>
            </a:prstGeom>
            <a:solidFill>
              <a:srgbClr val="98D56E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hape 15"/>
            <p:cNvSpPr/>
            <p:nvPr/>
          </p:nvSpPr>
          <p:spPr>
            <a:xfrm>
              <a:off x="1706270" y="4449470"/>
              <a:ext cx="493776" cy="493776"/>
            </a:xfrm>
            <a:prstGeom prst="rect">
              <a:avLst/>
            </a:prstGeom>
            <a:solidFill>
              <a:srgbClr val="AEE283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hape 16"/>
            <p:cNvSpPr/>
            <p:nvPr/>
          </p:nvSpPr>
          <p:spPr>
            <a:xfrm>
              <a:off x="2200046" y="4449470"/>
              <a:ext cx="493776" cy="493776"/>
            </a:xfrm>
            <a:prstGeom prst="rect">
              <a:avLst/>
            </a:prstGeom>
            <a:solidFill>
              <a:srgbClr val="98D56E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hape 17"/>
            <p:cNvSpPr/>
            <p:nvPr/>
          </p:nvSpPr>
          <p:spPr>
            <a:xfrm>
              <a:off x="2693822" y="4449470"/>
              <a:ext cx="493776" cy="493776"/>
            </a:xfrm>
            <a:prstGeom prst="rect">
              <a:avLst/>
            </a:prstGeom>
            <a:solidFill>
              <a:srgbClr val="AEE283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hape 18"/>
            <p:cNvSpPr/>
            <p:nvPr/>
          </p:nvSpPr>
          <p:spPr>
            <a:xfrm>
              <a:off x="718718" y="4943246"/>
              <a:ext cx="493776" cy="493776"/>
            </a:xfrm>
            <a:prstGeom prst="rect">
              <a:avLst/>
            </a:prstGeom>
            <a:solidFill>
              <a:srgbClr val="98D56E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hape 19"/>
            <p:cNvSpPr/>
            <p:nvPr/>
          </p:nvSpPr>
          <p:spPr>
            <a:xfrm>
              <a:off x="1212494" y="4943246"/>
              <a:ext cx="493776" cy="493776"/>
            </a:xfrm>
            <a:prstGeom prst="rect">
              <a:avLst/>
            </a:prstGeom>
            <a:solidFill>
              <a:srgbClr val="AEE283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hape 20"/>
            <p:cNvSpPr/>
            <p:nvPr/>
          </p:nvSpPr>
          <p:spPr>
            <a:xfrm>
              <a:off x="1706270" y="4943246"/>
              <a:ext cx="493776" cy="493776"/>
            </a:xfrm>
            <a:prstGeom prst="rect">
              <a:avLst/>
            </a:prstGeom>
            <a:solidFill>
              <a:srgbClr val="98D56E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hape 21"/>
            <p:cNvSpPr/>
            <p:nvPr/>
          </p:nvSpPr>
          <p:spPr>
            <a:xfrm>
              <a:off x="2200046" y="4943246"/>
              <a:ext cx="493776" cy="493776"/>
            </a:xfrm>
            <a:prstGeom prst="rect">
              <a:avLst/>
            </a:prstGeom>
            <a:solidFill>
              <a:srgbClr val="AEE283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hape 22"/>
            <p:cNvSpPr/>
            <p:nvPr/>
          </p:nvSpPr>
          <p:spPr>
            <a:xfrm>
              <a:off x="2693822" y="4943246"/>
              <a:ext cx="493776" cy="493776"/>
            </a:xfrm>
            <a:prstGeom prst="rect">
              <a:avLst/>
            </a:prstGeom>
            <a:solidFill>
              <a:srgbClr val="98D56E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hape 23"/>
            <p:cNvSpPr/>
            <p:nvPr/>
          </p:nvSpPr>
          <p:spPr>
            <a:xfrm>
              <a:off x="718718" y="5437022"/>
              <a:ext cx="493776" cy="493776"/>
            </a:xfrm>
            <a:prstGeom prst="rect">
              <a:avLst/>
            </a:prstGeom>
            <a:solidFill>
              <a:srgbClr val="AEE283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hape 24"/>
            <p:cNvSpPr/>
            <p:nvPr/>
          </p:nvSpPr>
          <p:spPr>
            <a:xfrm>
              <a:off x="1212494" y="5437022"/>
              <a:ext cx="493776" cy="493776"/>
            </a:xfrm>
            <a:prstGeom prst="rect">
              <a:avLst/>
            </a:prstGeom>
            <a:solidFill>
              <a:srgbClr val="98D56E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hape 25"/>
            <p:cNvSpPr/>
            <p:nvPr/>
          </p:nvSpPr>
          <p:spPr>
            <a:xfrm>
              <a:off x="1706270" y="5437022"/>
              <a:ext cx="493776" cy="493776"/>
            </a:xfrm>
            <a:prstGeom prst="rect">
              <a:avLst/>
            </a:prstGeom>
            <a:solidFill>
              <a:srgbClr val="AEE283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hape 26"/>
            <p:cNvSpPr/>
            <p:nvPr/>
          </p:nvSpPr>
          <p:spPr>
            <a:xfrm>
              <a:off x="2200046" y="5437022"/>
              <a:ext cx="493776" cy="493776"/>
            </a:xfrm>
            <a:prstGeom prst="rect">
              <a:avLst/>
            </a:prstGeom>
            <a:solidFill>
              <a:srgbClr val="98D56E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hape 27"/>
            <p:cNvSpPr/>
            <p:nvPr/>
          </p:nvSpPr>
          <p:spPr>
            <a:xfrm>
              <a:off x="2693822" y="5437022"/>
              <a:ext cx="493776" cy="493776"/>
            </a:xfrm>
            <a:prstGeom prst="rect">
              <a:avLst/>
            </a:prstGeom>
            <a:solidFill>
              <a:srgbClr val="AEE283"/>
            </a:solidFill>
            <a:ln w="12700">
              <a:solidFill>
                <a:srgbClr val="98D5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30" name="Image 0" descr="C:/Users/user/Desktop/창고/knight-tour/img/roc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0836" y="4518598"/>
              <a:ext cx="412195" cy="355518"/>
            </a:xfrm>
            <a:prstGeom prst="rect">
              <a:avLst/>
            </a:prstGeom>
          </p:spPr>
        </p:pic>
        <p:sp>
          <p:nvSpPr>
            <p:cNvPr id="31" name="Shape 28"/>
            <p:cNvSpPr/>
            <p:nvPr/>
          </p:nvSpPr>
          <p:spPr>
            <a:xfrm>
              <a:off x="1375440" y="3624864"/>
              <a:ext cx="167883" cy="16788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3B2F5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hape 29"/>
            <p:cNvSpPr/>
            <p:nvPr/>
          </p:nvSpPr>
          <p:spPr>
            <a:xfrm>
              <a:off x="2362992" y="3624864"/>
              <a:ext cx="167883" cy="16788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3B2F5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hape 30"/>
            <p:cNvSpPr/>
            <p:nvPr/>
          </p:nvSpPr>
          <p:spPr>
            <a:xfrm>
              <a:off x="881664" y="4118640"/>
              <a:ext cx="167883" cy="16788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3B2F5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hape 31"/>
            <p:cNvSpPr/>
            <p:nvPr/>
          </p:nvSpPr>
          <p:spPr>
            <a:xfrm>
              <a:off x="2856768" y="4118640"/>
              <a:ext cx="167883" cy="16788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3B2F5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hape 32"/>
            <p:cNvSpPr/>
            <p:nvPr/>
          </p:nvSpPr>
          <p:spPr>
            <a:xfrm>
              <a:off x="881664" y="5106192"/>
              <a:ext cx="167883" cy="16788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3B2F5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hape 33"/>
            <p:cNvSpPr/>
            <p:nvPr/>
          </p:nvSpPr>
          <p:spPr>
            <a:xfrm>
              <a:off x="2856768" y="5106192"/>
              <a:ext cx="167883" cy="16788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3B2F5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hape 34"/>
            <p:cNvSpPr/>
            <p:nvPr/>
          </p:nvSpPr>
          <p:spPr>
            <a:xfrm>
              <a:off x="1375440" y="5599968"/>
              <a:ext cx="167883" cy="16788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3B2F5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hape 35"/>
            <p:cNvSpPr/>
            <p:nvPr/>
          </p:nvSpPr>
          <p:spPr>
            <a:xfrm>
              <a:off x="2362992" y="5599968"/>
              <a:ext cx="167883" cy="16788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3B2F57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39" name="Image 1" descr="C:/Users/user/Desktop/창고/knight-tour/img/knight_normal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30535" y="4212457"/>
              <a:ext cx="445246" cy="715975"/>
            </a:xfrm>
            <a:prstGeom prst="rect">
              <a:avLst/>
            </a:prstGeom>
          </p:spPr>
        </p:pic>
        <p:sp>
          <p:nvSpPr>
            <p:cNvPr id="40" name="Shape 36"/>
            <p:cNvSpPr/>
            <p:nvPr/>
          </p:nvSpPr>
          <p:spPr>
            <a:xfrm>
              <a:off x="2062886" y="4696358"/>
              <a:ext cx="877824" cy="0"/>
            </a:xfrm>
            <a:prstGeom prst="line">
              <a:avLst/>
            </a:prstGeom>
            <a:noFill/>
            <a:ln w="38100">
              <a:solidFill>
                <a:srgbClr val="EC5A8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hape 37"/>
            <p:cNvSpPr/>
            <p:nvPr/>
          </p:nvSpPr>
          <p:spPr>
            <a:xfrm flipV="1">
              <a:off x="2940710" y="4301337"/>
              <a:ext cx="0" cy="395020"/>
            </a:xfrm>
            <a:prstGeom prst="line">
              <a:avLst/>
            </a:prstGeom>
            <a:noFill/>
            <a:ln w="38100">
              <a:solidFill>
                <a:srgbClr val="EC5A8C"/>
              </a:solidFill>
              <a:prstDash val="solid"/>
              <a:tailEnd type="triangle"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42" name="Text 38"/>
          <p:cNvSpPr/>
          <p:nvPr/>
        </p:nvSpPr>
        <p:spPr>
          <a:xfrm>
            <a:off x="637663" y="5668408"/>
            <a:ext cx="3682105" cy="500039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EC5A8C"/>
                </a:solidFill>
              </a:rPr>
              <a:t>레퍼런스</a:t>
            </a:r>
            <a:r>
              <a:rPr lang="en-US" sz="1000" b="1" dirty="0">
                <a:solidFill>
                  <a:srgbClr val="EC5A8C"/>
                </a:solidFill>
              </a:rPr>
              <a:t> </a:t>
            </a:r>
            <a:r>
              <a:rPr lang="en-US" sz="1000" dirty="0">
                <a:solidFill>
                  <a:srgbClr val="3B2F57"/>
                </a:solidFill>
              </a:rPr>
              <a:t>체스 말 나이트의 이동 (한 방향 2칸 + 수직 1칸, 점프)</a:t>
            </a:r>
            <a:endParaRPr lang="en-US" sz="1200" dirty="0"/>
          </a:p>
        </p:txBody>
      </p:sp>
      <p:sp>
        <p:nvSpPr>
          <p:cNvPr id="43" name="Text 39"/>
          <p:cNvSpPr txBox="1"/>
          <p:nvPr/>
        </p:nvSpPr>
        <p:spPr>
          <a:xfrm>
            <a:off x="4503495" y="3315216"/>
            <a:ext cx="5273139" cy="36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EC5A8C"/>
                </a:solidFill>
              </a:rPr>
              <a:t>오브젝트 종류</a:t>
            </a:r>
            <a:endParaRPr lang="en-US" sz="1600" dirty="0"/>
          </a:p>
        </p:txBody>
      </p:sp>
      <p:sp>
        <p:nvSpPr>
          <p:cNvPr id="44" name="Shape 40"/>
          <p:cNvSpPr/>
          <p:nvPr/>
        </p:nvSpPr>
        <p:spPr>
          <a:xfrm>
            <a:off x="4503495" y="3662164"/>
            <a:ext cx="3454815" cy="863703"/>
          </a:xfrm>
          <a:prstGeom prst="rect">
            <a:avLst/>
          </a:prstGeom>
          <a:solidFill>
            <a:srgbClr val="FAF8FD"/>
          </a:solidFill>
          <a:ln w="12700">
            <a:solidFill>
              <a:srgbClr val="EFEB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1"/>
          <p:cNvSpPr/>
          <p:nvPr/>
        </p:nvSpPr>
        <p:spPr>
          <a:xfrm>
            <a:off x="4685326" y="3780355"/>
            <a:ext cx="636413" cy="636413"/>
          </a:xfrm>
          <a:prstGeom prst="rect">
            <a:avLst/>
          </a:prstGeom>
          <a:solidFill>
            <a:srgbClr val="AEE283"/>
          </a:solidFill>
          <a:ln w="12700">
            <a:solidFill>
              <a:srgbClr val="3B2F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/>
          <p:cNvSpPr txBox="1"/>
          <p:nvPr/>
        </p:nvSpPr>
        <p:spPr>
          <a:xfrm>
            <a:off x="5549031" y="3789446"/>
            <a:ext cx="2318362" cy="31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B2F57"/>
                </a:solidFill>
              </a:rPr>
              <a:t>보드 안</a:t>
            </a:r>
            <a:endParaRPr lang="en-US" sz="1600" dirty="0"/>
          </a:p>
        </p:txBody>
      </p:sp>
      <p:sp>
        <p:nvSpPr>
          <p:cNvPr id="48" name="Text 43"/>
          <p:cNvSpPr txBox="1"/>
          <p:nvPr/>
        </p:nvSpPr>
        <p:spPr>
          <a:xfrm>
            <a:off x="5549031" y="4134928"/>
            <a:ext cx="2318362" cy="27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487"/>
                </a:solidFill>
              </a:rPr>
              <a:t>보드 밖 좌표 제외</a:t>
            </a:r>
            <a:endParaRPr lang="en-US" sz="1200" dirty="0"/>
          </a:p>
        </p:txBody>
      </p:sp>
      <p:sp>
        <p:nvSpPr>
          <p:cNvPr id="49" name="Shape 44"/>
          <p:cNvSpPr/>
          <p:nvPr/>
        </p:nvSpPr>
        <p:spPr>
          <a:xfrm>
            <a:off x="8094685" y="3662164"/>
            <a:ext cx="3454815" cy="863703"/>
          </a:xfrm>
          <a:prstGeom prst="rect">
            <a:avLst/>
          </a:prstGeom>
          <a:solidFill>
            <a:srgbClr val="FAF8FD"/>
          </a:solidFill>
          <a:ln w="12700">
            <a:solidFill>
              <a:srgbClr val="EFEB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5"/>
          <p:cNvSpPr/>
          <p:nvPr/>
        </p:nvSpPr>
        <p:spPr>
          <a:xfrm>
            <a:off x="8276517" y="3780355"/>
            <a:ext cx="636413" cy="636413"/>
          </a:xfrm>
          <a:prstGeom prst="rect">
            <a:avLst/>
          </a:prstGeom>
          <a:solidFill>
            <a:srgbClr val="AEE283"/>
          </a:solidFill>
          <a:ln w="12700">
            <a:solidFill>
              <a:srgbClr val="3B2F5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1" name="Image 3" descr="C:/Users/user/Desktop/창고/knight-tour/img/r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845" y="3848542"/>
            <a:ext cx="579755" cy="500039"/>
          </a:xfrm>
          <a:prstGeom prst="rect">
            <a:avLst/>
          </a:prstGeom>
        </p:spPr>
      </p:pic>
      <p:sp>
        <p:nvSpPr>
          <p:cNvPr id="52" name="Text 46"/>
          <p:cNvSpPr txBox="1"/>
          <p:nvPr/>
        </p:nvSpPr>
        <p:spPr>
          <a:xfrm>
            <a:off x="9140221" y="3789446"/>
            <a:ext cx="2318362" cy="31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B2F57"/>
                </a:solidFill>
              </a:rPr>
              <a:t>바위 아님</a:t>
            </a:r>
            <a:endParaRPr lang="en-US" sz="1600" dirty="0"/>
          </a:p>
        </p:txBody>
      </p:sp>
      <p:sp>
        <p:nvSpPr>
          <p:cNvPr id="53" name="Text 47"/>
          <p:cNvSpPr txBox="1"/>
          <p:nvPr/>
        </p:nvSpPr>
        <p:spPr>
          <a:xfrm>
            <a:off x="9140221" y="4134928"/>
            <a:ext cx="2318362" cy="27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487"/>
                </a:solidFill>
              </a:rPr>
              <a:t>바위는 밟기 불가</a:t>
            </a:r>
            <a:endParaRPr lang="en-US" sz="1200" dirty="0"/>
          </a:p>
        </p:txBody>
      </p:sp>
      <p:sp>
        <p:nvSpPr>
          <p:cNvPr id="54" name="Shape 48"/>
          <p:cNvSpPr/>
          <p:nvPr/>
        </p:nvSpPr>
        <p:spPr>
          <a:xfrm>
            <a:off x="4503495" y="4680425"/>
            <a:ext cx="3454815" cy="863703"/>
          </a:xfrm>
          <a:prstGeom prst="rect">
            <a:avLst/>
          </a:prstGeom>
          <a:solidFill>
            <a:srgbClr val="FAF8FD"/>
          </a:solidFill>
          <a:ln w="12700">
            <a:solidFill>
              <a:srgbClr val="EFEB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49"/>
          <p:cNvSpPr/>
          <p:nvPr/>
        </p:nvSpPr>
        <p:spPr>
          <a:xfrm>
            <a:off x="4685326" y="4798616"/>
            <a:ext cx="636413" cy="636413"/>
          </a:xfrm>
          <a:prstGeom prst="rect">
            <a:avLst/>
          </a:prstGeom>
          <a:solidFill>
            <a:srgbClr val="AEE283"/>
          </a:solidFill>
          <a:ln w="12700">
            <a:solidFill>
              <a:srgbClr val="3B2F5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6" name="Image 4" descr="C:/Users/user/Desktop/창고/knight-tour/img/flo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846" y="4866802"/>
            <a:ext cx="533375" cy="500039"/>
          </a:xfrm>
          <a:prstGeom prst="rect">
            <a:avLst/>
          </a:prstGeom>
        </p:spPr>
      </p:pic>
      <p:sp>
        <p:nvSpPr>
          <p:cNvPr id="57" name="Text 50"/>
          <p:cNvSpPr txBox="1"/>
          <p:nvPr/>
        </p:nvSpPr>
        <p:spPr>
          <a:xfrm>
            <a:off x="5549031" y="4807708"/>
            <a:ext cx="2318362" cy="31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B2F57"/>
                </a:solidFill>
              </a:rPr>
              <a:t>꽃 칸 아님</a:t>
            </a:r>
            <a:endParaRPr lang="en-US" sz="1600" dirty="0"/>
          </a:p>
        </p:txBody>
      </p:sp>
      <p:sp>
        <p:nvSpPr>
          <p:cNvPr id="58" name="Text 51"/>
          <p:cNvSpPr txBox="1"/>
          <p:nvPr/>
        </p:nvSpPr>
        <p:spPr>
          <a:xfrm>
            <a:off x="5549031" y="5153189"/>
            <a:ext cx="2318362" cy="27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487"/>
                </a:solidFill>
              </a:rPr>
              <a:t>밟은 칸 재진입 불가</a:t>
            </a:r>
            <a:endParaRPr lang="en-US" sz="1200" dirty="0"/>
          </a:p>
        </p:txBody>
      </p:sp>
      <p:sp>
        <p:nvSpPr>
          <p:cNvPr id="59" name="Shape 52"/>
          <p:cNvSpPr/>
          <p:nvPr/>
        </p:nvSpPr>
        <p:spPr>
          <a:xfrm>
            <a:off x="8094685" y="4680425"/>
            <a:ext cx="3454815" cy="863703"/>
          </a:xfrm>
          <a:prstGeom prst="rect">
            <a:avLst/>
          </a:prstGeom>
          <a:solidFill>
            <a:srgbClr val="FAF8FD"/>
          </a:solidFill>
          <a:ln w="12700">
            <a:solidFill>
              <a:srgbClr val="EFEB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3"/>
          <p:cNvSpPr/>
          <p:nvPr/>
        </p:nvSpPr>
        <p:spPr>
          <a:xfrm>
            <a:off x="8276517" y="4798616"/>
            <a:ext cx="636413" cy="636413"/>
          </a:xfrm>
          <a:prstGeom prst="rect">
            <a:avLst/>
          </a:prstGeom>
          <a:solidFill>
            <a:srgbClr val="AEE283"/>
          </a:solidFill>
          <a:ln w="12700">
            <a:solidFill>
              <a:srgbClr val="3B2F5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1" name="Image 5" descr="C:/Users/user/Desktop/창고/knight-tour/img/cast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0736" y="4866803"/>
            <a:ext cx="507976" cy="500039"/>
          </a:xfrm>
          <a:prstGeom prst="rect">
            <a:avLst/>
          </a:prstGeom>
        </p:spPr>
      </p:pic>
      <p:sp>
        <p:nvSpPr>
          <p:cNvPr id="62" name="Text 54"/>
          <p:cNvSpPr txBox="1"/>
          <p:nvPr/>
        </p:nvSpPr>
        <p:spPr>
          <a:xfrm>
            <a:off x="9140221" y="4807708"/>
            <a:ext cx="2318362" cy="31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B2F57"/>
                </a:solidFill>
              </a:rPr>
              <a:t>성은 빈 칸 0개일 때만</a:t>
            </a:r>
            <a:endParaRPr lang="en-US" sz="1600" dirty="0"/>
          </a:p>
        </p:txBody>
      </p:sp>
      <p:sp>
        <p:nvSpPr>
          <p:cNvPr id="63" name="Text 55"/>
          <p:cNvSpPr txBox="1"/>
          <p:nvPr/>
        </p:nvSpPr>
        <p:spPr>
          <a:xfrm>
            <a:off x="9140221" y="5153189"/>
            <a:ext cx="2318362" cy="27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487"/>
                </a:solidFill>
              </a:rPr>
              <a:t>남은 빈 칸이 없을 때만 진입</a:t>
            </a:r>
            <a:endParaRPr lang="en-US" sz="1200" dirty="0"/>
          </a:p>
        </p:txBody>
      </p:sp>
      <p:sp>
        <p:nvSpPr>
          <p:cNvPr id="65" name="Rectangle 64"/>
          <p:cNvSpPr/>
          <p:nvPr/>
        </p:nvSpPr>
        <p:spPr>
          <a:xfrm>
            <a:off x="548640" y="1712011"/>
            <a:ext cx="1454659" cy="681871"/>
          </a:xfrm>
          <a:prstGeom prst="rect">
            <a:avLst/>
          </a:prstGeom>
          <a:solidFill>
            <a:srgbClr val="EFEBF9"/>
          </a:solidFill>
          <a:ln w="19050">
            <a:solidFill>
              <a:srgbClr val="3B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 dirty="0" err="1">
                <a:solidFill>
                  <a:srgbClr val="3B2F57"/>
                </a:solidFill>
                <a:latin typeface="Noto Sans KR"/>
                <a:ea typeface="Noto Sans KR"/>
              </a:rPr>
              <a:t>스테이지</a:t>
            </a:r>
            <a:r>
              <a:rPr sz="1000" b="1" dirty="0">
                <a:solidFill>
                  <a:srgbClr val="3B2F57"/>
                </a:solidFill>
                <a:latin typeface="Noto Sans KR"/>
                <a:ea typeface="Noto Sans KR"/>
              </a:rPr>
              <a:t> </a:t>
            </a:r>
            <a:r>
              <a:rPr sz="1000" b="1" dirty="0" err="1">
                <a:solidFill>
                  <a:srgbClr val="3B2F57"/>
                </a:solidFill>
                <a:latin typeface="Noto Sans KR"/>
                <a:ea typeface="Noto Sans KR"/>
              </a:rPr>
              <a:t>시작</a:t>
            </a:r>
            <a:endParaRPr sz="1200" b="1" dirty="0">
              <a:solidFill>
                <a:srgbClr val="3B2F57"/>
              </a:solidFill>
              <a:latin typeface="Noto Sans KR"/>
              <a:ea typeface="Noto Sans KR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2394239" y="1712011"/>
            <a:ext cx="1454659" cy="681871"/>
          </a:xfrm>
          <a:prstGeom prst="rect">
            <a:avLst/>
          </a:prstGeom>
          <a:solidFill>
            <a:srgbClr val="EFEBF9"/>
          </a:solidFill>
          <a:ln w="19050">
            <a:solidFill>
              <a:srgbClr val="3B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3B2F57"/>
                </a:solidFill>
                <a:latin typeface="Noto Sans KR"/>
                <a:ea typeface="Noto Sans KR"/>
              </a:rPr>
              <a:t>칸 탭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39838" y="1598366"/>
            <a:ext cx="1636491" cy="909161"/>
          </a:xfrm>
          <a:prstGeom prst="diamond">
            <a:avLst/>
          </a:prstGeom>
          <a:solidFill>
            <a:srgbClr val="FFF8E3"/>
          </a:solidFill>
          <a:ln w="19050">
            <a:solidFill>
              <a:schemeClr val="tx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000" b="1" dirty="0" err="1">
                <a:solidFill>
                  <a:srgbClr val="3B2F57"/>
                </a:solidFill>
                <a:latin typeface="Noto Sans KR"/>
                <a:ea typeface="Noto Sans KR"/>
              </a:rPr>
              <a:t>이동규칙</a:t>
            </a:r>
            <a:r>
              <a:rPr sz="1000" b="1" dirty="0">
                <a:solidFill>
                  <a:srgbClr val="3B2F57"/>
                </a:solidFill>
                <a:latin typeface="Noto Sans KR"/>
                <a:ea typeface="Noto Sans KR"/>
              </a:rPr>
              <a:t> </a:t>
            </a:r>
            <a:r>
              <a:rPr sz="1000" b="1" dirty="0" err="1">
                <a:solidFill>
                  <a:srgbClr val="3B2F57"/>
                </a:solidFill>
                <a:latin typeface="Noto Sans KR"/>
                <a:ea typeface="Noto Sans KR"/>
              </a:rPr>
              <a:t>검사</a:t>
            </a:r>
            <a:endParaRPr sz="1200" b="1" dirty="0">
              <a:solidFill>
                <a:srgbClr val="3B2F57"/>
              </a:solidFill>
              <a:latin typeface="Noto Sans KR"/>
              <a:ea typeface="Noto Sans KR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6267269" y="1712011"/>
            <a:ext cx="1454659" cy="681871"/>
          </a:xfrm>
          <a:prstGeom prst="rect">
            <a:avLst/>
          </a:prstGeom>
          <a:solidFill>
            <a:srgbClr val="EFEBF9"/>
          </a:solidFill>
          <a:ln w="19050">
            <a:solidFill>
              <a:srgbClr val="3B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ko-KR" altLang="en-US" sz="1000" b="1" dirty="0">
                <a:solidFill>
                  <a:srgbClr val="3B2F57"/>
                </a:solidFill>
                <a:latin typeface="Noto Sans KR"/>
                <a:ea typeface="Noto Sans KR"/>
              </a:rPr>
              <a:t>이동 </a:t>
            </a:r>
            <a:r>
              <a:rPr lang="ko-KR" altLang="en-US" sz="1000" b="1" dirty="0" err="1">
                <a:solidFill>
                  <a:srgbClr val="3B2F57"/>
                </a:solidFill>
                <a:latin typeface="Noto Sans KR"/>
                <a:ea typeface="Noto Sans KR"/>
              </a:rPr>
              <a:t>가능시</a:t>
            </a:r>
            <a:endParaRPr lang="en-US" altLang="ko-KR" sz="1200" b="1" dirty="0">
              <a:solidFill>
                <a:srgbClr val="3B2F57"/>
              </a:solidFill>
              <a:latin typeface="Noto Sans KR"/>
              <a:ea typeface="Noto Sans KR"/>
            </a:endParaRPr>
          </a:p>
          <a:p>
            <a:pPr algn="ctr"/>
            <a:r>
              <a:rPr lang="ko-KR" altLang="en-US" sz="1000" b="1" dirty="0">
                <a:solidFill>
                  <a:srgbClr val="3B2F57"/>
                </a:solidFill>
                <a:latin typeface="Noto Sans KR"/>
                <a:ea typeface="Noto Sans KR"/>
              </a:rPr>
              <a:t>애니메이션 재생</a:t>
            </a:r>
            <a:endParaRPr sz="1200" b="1" dirty="0">
              <a:solidFill>
                <a:srgbClr val="3B2F57"/>
              </a:solidFill>
              <a:latin typeface="Noto Sans KR"/>
              <a:ea typeface="Noto Sans KR"/>
            </a:endParaRPr>
          </a:p>
        </p:txBody>
      </p:sp>
      <p:sp>
        <p:nvSpPr>
          <p:cNvPr id="69" name="Diamond 68"/>
          <p:cNvSpPr/>
          <p:nvPr/>
        </p:nvSpPr>
        <p:spPr>
          <a:xfrm>
            <a:off x="8112868" y="1598366"/>
            <a:ext cx="1636491" cy="909161"/>
          </a:xfrm>
          <a:prstGeom prst="diamond">
            <a:avLst/>
          </a:prstGeom>
          <a:solidFill>
            <a:srgbClr val="FFF8E3"/>
          </a:solidFill>
          <a:ln w="19050">
            <a:solidFill>
              <a:srgbClr val="3B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50000"/>
                  </a:schemeClr>
                </a:solidFill>
                <a:latin typeface="Noto Sans KR"/>
                <a:ea typeface="Noto Sans KR"/>
              </a:rPr>
              <a:t>클리어 </a:t>
            </a:r>
            <a:endParaRPr lang="en-US" altLang="ko-KR" sz="1200" b="1" dirty="0">
              <a:solidFill>
                <a:schemeClr val="tx1">
                  <a:lumMod val="50000"/>
                </a:schemeClr>
              </a:solidFill>
              <a:latin typeface="Noto Sans KR"/>
              <a:ea typeface="Noto Sans KR"/>
            </a:endParaRPr>
          </a:p>
          <a:p>
            <a:pPr algn="ctr"/>
            <a:r>
              <a:rPr sz="1000" b="1" dirty="0" err="1">
                <a:solidFill>
                  <a:schemeClr val="tx1">
                    <a:lumMod val="50000"/>
                  </a:schemeClr>
                </a:solidFill>
                <a:latin typeface="Noto Sans KR"/>
                <a:ea typeface="Noto Sans KR"/>
              </a:rPr>
              <a:t>판정</a:t>
            </a:r>
            <a:endParaRPr sz="1200" b="1" dirty="0">
              <a:solidFill>
                <a:schemeClr val="tx1">
                  <a:lumMod val="50000"/>
                </a:schemeClr>
              </a:solidFill>
              <a:latin typeface="Noto Sans KR"/>
              <a:ea typeface="Noto Sans KR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0140299" y="1712011"/>
            <a:ext cx="1454659" cy="681871"/>
          </a:xfrm>
          <a:prstGeom prst="rect">
            <a:avLst/>
          </a:prstGeom>
          <a:solidFill>
            <a:srgbClr val="EFEBF9"/>
          </a:solidFill>
          <a:ln w="19050">
            <a:solidFill>
              <a:srgbClr val="3B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3B2F57"/>
                </a:solidFill>
                <a:latin typeface="Noto Sans KR"/>
                <a:ea typeface="Noto Sans KR"/>
              </a:rPr>
              <a:t>클리어 팝업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2003300" y="2052947"/>
            <a:ext cx="390939" cy="0"/>
          </a:xfrm>
          <a:prstGeom prst="line">
            <a:avLst/>
          </a:prstGeom>
          <a:ln w="22225">
            <a:solidFill>
              <a:srgbClr val="3B2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848898" y="2052947"/>
            <a:ext cx="390938" cy="0"/>
          </a:xfrm>
          <a:prstGeom prst="line">
            <a:avLst/>
          </a:prstGeom>
          <a:ln w="22225">
            <a:solidFill>
              <a:srgbClr val="3B2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876330" y="2052947"/>
            <a:ext cx="390939" cy="0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721928" y="2052947"/>
            <a:ext cx="390939" cy="0"/>
          </a:xfrm>
          <a:prstGeom prst="line">
            <a:avLst/>
          </a:prstGeom>
          <a:ln w="22225">
            <a:solidFill>
              <a:srgbClr val="3B2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749359" y="2052947"/>
            <a:ext cx="390938" cy="0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058084" y="2507528"/>
            <a:ext cx="0" cy="154556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3485234" y="2662086"/>
            <a:ext cx="1572850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485234" y="2393883"/>
            <a:ext cx="0" cy="268201"/>
          </a:xfrm>
          <a:prstGeom prst="line">
            <a:avLst/>
          </a:prstGeom>
          <a:ln w="2222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3530692" y="2671177"/>
            <a:ext cx="1481933" cy="21819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endParaRPr sz="1200" b="0" dirty="0">
              <a:solidFill>
                <a:srgbClr val="6E6487"/>
              </a:solidFill>
              <a:latin typeface="Noto Sans KR"/>
              <a:ea typeface="Noto Sans KR"/>
            </a:endParaRPr>
          </a:p>
        </p:txBody>
      </p:sp>
      <p:cxnSp>
        <p:nvCxnSpPr>
          <p:cNvPr id="82" name="Connector 81"/>
          <p:cNvCxnSpPr/>
          <p:nvPr/>
        </p:nvCxnSpPr>
        <p:spPr>
          <a:xfrm>
            <a:off x="8931114" y="2507528"/>
            <a:ext cx="0" cy="409121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2757904" y="2916651"/>
            <a:ext cx="6173209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2757904" y="2393883"/>
            <a:ext cx="0" cy="522767"/>
          </a:xfrm>
          <a:prstGeom prst="line">
            <a:avLst/>
          </a:prstGeom>
          <a:ln w="2222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867629" y="1280160"/>
            <a:ext cx="0" cy="431851"/>
          </a:xfrm>
          <a:prstGeom prst="line">
            <a:avLst/>
          </a:prstGeom>
          <a:ln w="22225">
            <a:solidFill>
              <a:srgbClr val="6E6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1275970" y="1280160"/>
            <a:ext cx="9591658" cy="0"/>
          </a:xfrm>
          <a:prstGeom prst="line">
            <a:avLst/>
          </a:prstGeom>
          <a:ln w="22225">
            <a:solidFill>
              <a:srgbClr val="6E6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275970" y="1280160"/>
            <a:ext cx="0" cy="431851"/>
          </a:xfrm>
          <a:prstGeom prst="line">
            <a:avLst/>
          </a:prstGeom>
          <a:ln w="22225">
            <a:solidFill>
              <a:srgbClr val="6E648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4889889" y="1298343"/>
            <a:ext cx="2363821" cy="21819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0" dirty="0" err="1">
                <a:solidFill>
                  <a:schemeClr val="tx1"/>
                </a:solidFill>
                <a:latin typeface="Noto Sans KR"/>
                <a:ea typeface="Noto Sans KR"/>
              </a:rPr>
              <a:t>다음</a:t>
            </a:r>
            <a:r>
              <a:rPr sz="1000" b="0" dirty="0">
                <a:solidFill>
                  <a:schemeClr val="tx1"/>
                </a:solidFill>
                <a:latin typeface="Noto Sans KR"/>
                <a:ea typeface="Noto Sans KR"/>
              </a:rPr>
              <a:t> </a:t>
            </a:r>
            <a:r>
              <a:rPr sz="1000" b="0" dirty="0" err="1">
                <a:solidFill>
                  <a:schemeClr val="tx1"/>
                </a:solidFill>
                <a:latin typeface="Noto Sans KR"/>
                <a:ea typeface="Noto Sans KR"/>
              </a:rPr>
              <a:t>스테이지</a:t>
            </a:r>
            <a:r>
              <a:rPr lang="ko-KR" altLang="en-US" sz="1000" b="0" dirty="0">
                <a:solidFill>
                  <a:schemeClr val="tx1"/>
                </a:solidFill>
                <a:latin typeface="Noto Sans KR"/>
                <a:ea typeface="Noto Sans KR"/>
              </a:rPr>
              <a:t>로 이동</a:t>
            </a:r>
            <a:endParaRPr sz="1000" b="0" dirty="0">
              <a:solidFill>
                <a:schemeClr val="tx1"/>
              </a:solidFill>
              <a:latin typeface="Noto Sans KR"/>
              <a:ea typeface="Noto Sans KR"/>
            </a:endParaRPr>
          </a:p>
        </p:txBody>
      </p:sp>
      <p:sp>
        <p:nvSpPr>
          <p:cNvPr id="74" name="Shape 32">
            <a:extLst>
              <a:ext uri="{FF2B5EF4-FFF2-40B4-BE49-F238E27FC236}">
                <a16:creationId xmlns:a16="http://schemas.microsoft.com/office/drawing/2014/main" id="{9C9C4FAC-C963-0FE2-E4C2-43E7BE920832}"/>
              </a:ext>
            </a:extLst>
          </p:cNvPr>
          <p:cNvSpPr/>
          <p:nvPr/>
        </p:nvSpPr>
        <p:spPr>
          <a:xfrm>
            <a:off x="9594802" y="2789368"/>
            <a:ext cx="409122" cy="0"/>
          </a:xfrm>
          <a:prstGeom prst="line">
            <a:avLst/>
          </a:prstGeom>
          <a:noFill/>
          <a:ln w="28575">
            <a:solidFill>
              <a:srgbClr val="2F7DE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5" name="Text 33">
            <a:extLst>
              <a:ext uri="{FF2B5EF4-FFF2-40B4-BE49-F238E27FC236}">
                <a16:creationId xmlns:a16="http://schemas.microsoft.com/office/drawing/2014/main" id="{1181070B-E32C-B12F-94C2-BEC0FE619EEA}"/>
              </a:ext>
            </a:extLst>
          </p:cNvPr>
          <p:cNvSpPr txBox="1"/>
          <p:nvPr/>
        </p:nvSpPr>
        <p:spPr>
          <a:xfrm>
            <a:off x="10067566" y="2662086"/>
            <a:ext cx="545497" cy="254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7DE1"/>
                </a:solidFill>
              </a:rPr>
              <a:t>예</a:t>
            </a:r>
            <a:endParaRPr lang="en-US" sz="1200" dirty="0"/>
          </a:p>
        </p:txBody>
      </p:sp>
      <p:sp>
        <p:nvSpPr>
          <p:cNvPr id="91" name="Shape 34">
            <a:extLst>
              <a:ext uri="{FF2B5EF4-FFF2-40B4-BE49-F238E27FC236}">
                <a16:creationId xmlns:a16="http://schemas.microsoft.com/office/drawing/2014/main" id="{AC55AA6A-A3DE-6ABC-8293-92FC4C8F706A}"/>
              </a:ext>
            </a:extLst>
          </p:cNvPr>
          <p:cNvSpPr/>
          <p:nvPr/>
        </p:nvSpPr>
        <p:spPr>
          <a:xfrm>
            <a:off x="10640338" y="2789368"/>
            <a:ext cx="409122" cy="0"/>
          </a:xfrm>
          <a:prstGeom prst="line">
            <a:avLst/>
          </a:prstGeom>
          <a:noFill/>
          <a:ln w="28575">
            <a:solidFill>
              <a:srgbClr val="E5393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3" name="Text 35">
            <a:extLst>
              <a:ext uri="{FF2B5EF4-FFF2-40B4-BE49-F238E27FC236}">
                <a16:creationId xmlns:a16="http://schemas.microsoft.com/office/drawing/2014/main" id="{85A8C919-5105-D3CC-DB3B-FF1F7C25926F}"/>
              </a:ext>
            </a:extLst>
          </p:cNvPr>
          <p:cNvSpPr txBox="1"/>
          <p:nvPr/>
        </p:nvSpPr>
        <p:spPr>
          <a:xfrm>
            <a:off x="11113102" y="2662086"/>
            <a:ext cx="545497" cy="254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</a:rPr>
              <a:t>아니오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게임 시스템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F57"/>
                </a:solidFill>
              </a:rPr>
              <a:t>2.2 충돌 판정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93805"/>
            <a:ext cx="1454659" cy="681871"/>
          </a:xfrm>
          <a:prstGeom prst="rect">
            <a:avLst/>
          </a:prstGeom>
          <a:solidFill>
            <a:srgbClr val="EFEBF9"/>
          </a:solidFill>
          <a:ln w="19050">
            <a:solidFill>
              <a:srgbClr val="3B2F57"/>
            </a:solidFill>
          </a:ln>
        </p:spPr>
        <p:txBody>
          <a:bodyPr wrap="square" lIns="73152" tIns="38100" rIns="73152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2F57"/>
                </a:solidFill>
              </a:rPr>
              <a:t>칸 탭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321506" y="1280160"/>
            <a:ext cx="1636491" cy="909161"/>
          </a:xfrm>
          <a:prstGeom prst="diamond">
            <a:avLst/>
          </a:prstGeom>
          <a:solidFill>
            <a:srgbClr val="FFF8E3"/>
          </a:solidFill>
          <a:ln w="19050">
            <a:solidFill>
              <a:srgbClr val="3B2F57"/>
            </a:solidFill>
          </a:ln>
        </p:spPr>
        <p:txBody>
          <a:bodyPr wrap="none" lIns="36576" tIns="38100" rIns="36576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2F57"/>
                </a:solidFill>
              </a:rPr>
              <a:t>보드 안?</a:t>
            </a:r>
            <a:endParaRPr lang="en-US" sz="1200" b="1" dirty="0"/>
          </a:p>
        </p:txBody>
      </p:sp>
      <p:sp>
        <p:nvSpPr>
          <p:cNvPr id="7" name="Text 4"/>
          <p:cNvSpPr/>
          <p:nvPr/>
        </p:nvSpPr>
        <p:spPr>
          <a:xfrm>
            <a:off x="4276204" y="1280160"/>
            <a:ext cx="1636491" cy="909161"/>
          </a:xfrm>
          <a:prstGeom prst="diamond">
            <a:avLst/>
          </a:prstGeom>
          <a:solidFill>
            <a:srgbClr val="FFF8E3"/>
          </a:solidFill>
          <a:ln w="19050">
            <a:solidFill>
              <a:srgbClr val="3B2F57"/>
            </a:solidFill>
          </a:ln>
        </p:spPr>
        <p:txBody>
          <a:bodyPr wrap="none" lIns="36576" tIns="38100" rIns="36576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2F57"/>
                </a:solidFill>
              </a:rPr>
              <a:t>L</a:t>
            </a:r>
            <a:r>
              <a:rPr lang="ko-KR" altLang="en-US" sz="1000" b="1" dirty="0">
                <a:solidFill>
                  <a:srgbClr val="3B2F57"/>
                </a:solidFill>
              </a:rPr>
              <a:t>자</a:t>
            </a:r>
            <a:r>
              <a:rPr lang="en-US" sz="1000" b="1" dirty="0">
                <a:solidFill>
                  <a:srgbClr val="3B2F57"/>
                </a:solidFill>
              </a:rPr>
              <a:t> 위치?</a:t>
            </a:r>
            <a:endParaRPr lang="en-US" sz="1200" b="1" dirty="0"/>
          </a:p>
        </p:txBody>
      </p:sp>
      <p:sp>
        <p:nvSpPr>
          <p:cNvPr id="8" name="Text 5"/>
          <p:cNvSpPr/>
          <p:nvPr/>
        </p:nvSpPr>
        <p:spPr>
          <a:xfrm>
            <a:off x="6230903" y="1280160"/>
            <a:ext cx="1636491" cy="909161"/>
          </a:xfrm>
          <a:prstGeom prst="diamond">
            <a:avLst/>
          </a:prstGeom>
          <a:solidFill>
            <a:srgbClr val="FFF8E3"/>
          </a:solidFill>
          <a:ln w="19050">
            <a:solidFill>
              <a:srgbClr val="3B2F57"/>
            </a:solidFill>
          </a:ln>
        </p:spPr>
        <p:txBody>
          <a:bodyPr wrap="none" lIns="36576" tIns="38100" rIns="36576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2F57"/>
                </a:solidFill>
              </a:rPr>
              <a:t>바위?</a:t>
            </a:r>
            <a:endParaRPr lang="en-US" sz="1200" b="1" dirty="0"/>
          </a:p>
        </p:txBody>
      </p:sp>
      <p:sp>
        <p:nvSpPr>
          <p:cNvPr id="9" name="Text 6"/>
          <p:cNvSpPr/>
          <p:nvPr/>
        </p:nvSpPr>
        <p:spPr>
          <a:xfrm>
            <a:off x="8185601" y="1280160"/>
            <a:ext cx="1636491" cy="909161"/>
          </a:xfrm>
          <a:prstGeom prst="diamond">
            <a:avLst/>
          </a:prstGeom>
          <a:solidFill>
            <a:srgbClr val="FFF8E3"/>
          </a:solidFill>
          <a:ln w="19050">
            <a:solidFill>
              <a:srgbClr val="3B2F57"/>
            </a:solidFill>
          </a:ln>
        </p:spPr>
        <p:txBody>
          <a:bodyPr wrap="none" lIns="36576" tIns="38100" rIns="36576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2F57"/>
                </a:solidFill>
              </a:rPr>
              <a:t>꽃 칸?</a:t>
            </a:r>
            <a:endParaRPr lang="en-US" sz="1200" b="1" dirty="0"/>
          </a:p>
        </p:txBody>
      </p:sp>
      <p:sp>
        <p:nvSpPr>
          <p:cNvPr id="10" name="Shape 7"/>
          <p:cNvSpPr/>
          <p:nvPr/>
        </p:nvSpPr>
        <p:spPr>
          <a:xfrm>
            <a:off x="2003300" y="1734740"/>
            <a:ext cx="318206" cy="0"/>
          </a:xfrm>
          <a:prstGeom prst="line">
            <a:avLst/>
          </a:prstGeom>
          <a:noFill/>
          <a:ln w="22225">
            <a:solidFill>
              <a:srgbClr val="3B2F57"/>
            </a:solidFill>
            <a:prstDash val="solid"/>
            <a:tailEnd type="triangle"/>
          </a:ln>
        </p:spPr>
        <p:txBody>
          <a:bodyPr/>
          <a:lstStyle/>
          <a:p>
            <a:endParaRPr sz="1200" b="1"/>
          </a:p>
        </p:txBody>
      </p:sp>
      <p:sp>
        <p:nvSpPr>
          <p:cNvPr id="11" name="Shape 8"/>
          <p:cNvSpPr/>
          <p:nvPr/>
        </p:nvSpPr>
        <p:spPr>
          <a:xfrm>
            <a:off x="3957998" y="1734740"/>
            <a:ext cx="318205" cy="0"/>
          </a:xfrm>
          <a:prstGeom prst="line">
            <a:avLst/>
          </a:prstGeom>
          <a:noFill/>
          <a:ln w="28575">
            <a:solidFill>
              <a:srgbClr val="2F7DE1"/>
            </a:solidFill>
            <a:prstDash val="solid"/>
            <a:tailEnd type="triangle"/>
          </a:ln>
        </p:spPr>
        <p:txBody>
          <a:bodyPr/>
          <a:lstStyle/>
          <a:p>
            <a:endParaRPr sz="1200" b="1"/>
          </a:p>
        </p:txBody>
      </p:sp>
      <p:sp>
        <p:nvSpPr>
          <p:cNvPr id="13" name="Shape 10"/>
          <p:cNvSpPr/>
          <p:nvPr/>
        </p:nvSpPr>
        <p:spPr>
          <a:xfrm>
            <a:off x="5912696" y="1734740"/>
            <a:ext cx="318205" cy="0"/>
          </a:xfrm>
          <a:prstGeom prst="line">
            <a:avLst/>
          </a:prstGeom>
          <a:noFill/>
          <a:ln w="28575">
            <a:solidFill>
              <a:srgbClr val="2F7DE1"/>
            </a:solidFill>
            <a:prstDash val="solid"/>
            <a:tailEnd type="triangle"/>
          </a:ln>
        </p:spPr>
        <p:txBody>
          <a:bodyPr/>
          <a:lstStyle/>
          <a:p>
            <a:endParaRPr sz="1200" b="1"/>
          </a:p>
        </p:txBody>
      </p:sp>
      <p:sp>
        <p:nvSpPr>
          <p:cNvPr id="15" name="Shape 12"/>
          <p:cNvSpPr/>
          <p:nvPr/>
        </p:nvSpPr>
        <p:spPr>
          <a:xfrm>
            <a:off x="7867394" y="1734740"/>
            <a:ext cx="318205" cy="0"/>
          </a:xfrm>
          <a:prstGeom prst="line">
            <a:avLst/>
          </a:prstGeom>
          <a:noFill/>
          <a:ln w="28575">
            <a:solidFill>
              <a:srgbClr val="E53935"/>
            </a:solidFill>
            <a:prstDash val="solid"/>
            <a:tailEnd type="triangle"/>
          </a:ln>
        </p:spPr>
        <p:txBody>
          <a:bodyPr/>
          <a:lstStyle/>
          <a:p>
            <a:endParaRPr sz="1200" b="1"/>
          </a:p>
        </p:txBody>
      </p:sp>
      <p:sp>
        <p:nvSpPr>
          <p:cNvPr id="17" name="Text 14"/>
          <p:cNvSpPr/>
          <p:nvPr/>
        </p:nvSpPr>
        <p:spPr>
          <a:xfrm>
            <a:off x="10140299" y="1393805"/>
            <a:ext cx="1454659" cy="681871"/>
          </a:xfrm>
          <a:prstGeom prst="rect">
            <a:avLst/>
          </a:prstGeom>
          <a:noFill/>
          <a:ln w="19050">
            <a:solidFill>
              <a:srgbClr val="EC5A8C"/>
            </a:solidFill>
          </a:ln>
        </p:spPr>
        <p:txBody>
          <a:bodyPr wrap="square" lIns="73152" tIns="38100" rIns="73152" bIns="3810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3B2F57"/>
                </a:solidFill>
              </a:rPr>
              <a:t>이동</a:t>
            </a:r>
            <a:r>
              <a:rPr lang="en-US" sz="1000" b="1" dirty="0">
                <a:solidFill>
                  <a:srgbClr val="3B2F57"/>
                </a:solidFill>
              </a:rPr>
              <a:t> </a:t>
            </a:r>
            <a:r>
              <a:rPr lang="en-US" sz="1000" b="1" dirty="0" err="1">
                <a:solidFill>
                  <a:srgbClr val="3B2F57"/>
                </a:solidFill>
              </a:rPr>
              <a:t>불가</a:t>
            </a:r>
            <a:endParaRPr lang="en-US" sz="1200" b="1" dirty="0">
              <a:solidFill>
                <a:srgbClr val="3B2F57"/>
              </a:solidFill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3B2F57"/>
                </a:solidFill>
              </a:rPr>
              <a:t>꽃 칸 </a:t>
            </a:r>
            <a:r>
              <a:rPr lang="en-US" sz="1000" b="1" dirty="0" err="1">
                <a:solidFill>
                  <a:srgbClr val="3B2F57"/>
                </a:solidFill>
              </a:rPr>
              <a:t>안내</a:t>
            </a:r>
            <a:r>
              <a:rPr lang="ko-KR" altLang="en-US" sz="1000" b="1" dirty="0">
                <a:solidFill>
                  <a:srgbClr val="3B2F57"/>
                </a:solidFill>
              </a:rPr>
              <a:t>문구 출력</a:t>
            </a:r>
            <a:endParaRPr lang="en-US" sz="1200" b="1" dirty="0"/>
          </a:p>
        </p:txBody>
      </p:sp>
      <p:sp>
        <p:nvSpPr>
          <p:cNvPr id="18" name="Shape 15"/>
          <p:cNvSpPr/>
          <p:nvPr/>
        </p:nvSpPr>
        <p:spPr>
          <a:xfrm>
            <a:off x="9822092" y="1734740"/>
            <a:ext cx="318205" cy="0"/>
          </a:xfrm>
          <a:prstGeom prst="line">
            <a:avLst/>
          </a:prstGeom>
          <a:noFill/>
          <a:ln w="28575">
            <a:solidFill>
              <a:srgbClr val="2F7DE1"/>
            </a:solidFill>
            <a:prstDash val="solid"/>
            <a:tailEnd type="triangle"/>
          </a:ln>
        </p:spPr>
        <p:txBody>
          <a:bodyPr/>
          <a:lstStyle/>
          <a:p>
            <a:endParaRPr sz="1200" b="1"/>
          </a:p>
        </p:txBody>
      </p:sp>
      <p:sp>
        <p:nvSpPr>
          <p:cNvPr id="20" name="Text 17"/>
          <p:cNvSpPr/>
          <p:nvPr/>
        </p:nvSpPr>
        <p:spPr>
          <a:xfrm>
            <a:off x="2412422" y="3121212"/>
            <a:ext cx="1454659" cy="681871"/>
          </a:xfrm>
          <a:prstGeom prst="rect">
            <a:avLst/>
          </a:prstGeom>
          <a:noFill/>
          <a:ln w="19050">
            <a:solidFill>
              <a:srgbClr val="EC5A8C"/>
            </a:solidFill>
          </a:ln>
        </p:spPr>
        <p:txBody>
          <a:bodyPr wrap="square" lIns="73152" tIns="38100" rIns="73152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2F57"/>
                </a:solidFill>
              </a:rPr>
              <a:t>무시</a:t>
            </a:r>
            <a:endParaRPr lang="en-US" sz="1200" b="1" dirty="0"/>
          </a:p>
        </p:txBody>
      </p:sp>
      <p:sp>
        <p:nvSpPr>
          <p:cNvPr id="21" name="Text 18"/>
          <p:cNvSpPr/>
          <p:nvPr/>
        </p:nvSpPr>
        <p:spPr>
          <a:xfrm>
            <a:off x="4367121" y="3121212"/>
            <a:ext cx="1454659" cy="681871"/>
          </a:xfrm>
          <a:prstGeom prst="rect">
            <a:avLst/>
          </a:prstGeom>
          <a:noFill/>
          <a:ln w="19050">
            <a:solidFill>
              <a:srgbClr val="EC5A8C"/>
            </a:solidFill>
          </a:ln>
        </p:spPr>
        <p:txBody>
          <a:bodyPr wrap="square" lIns="73152" tIns="38100" rIns="73152" bIns="3810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3B2F57"/>
                </a:solidFill>
              </a:rPr>
              <a:t>이동</a:t>
            </a:r>
            <a:r>
              <a:rPr lang="en-US" sz="1000" b="1" dirty="0">
                <a:solidFill>
                  <a:srgbClr val="3B2F57"/>
                </a:solidFill>
              </a:rPr>
              <a:t> </a:t>
            </a:r>
            <a:r>
              <a:rPr lang="en-US" sz="1000" b="1" dirty="0" err="1">
                <a:solidFill>
                  <a:srgbClr val="3B2F57"/>
                </a:solidFill>
              </a:rPr>
              <a:t>불가</a:t>
            </a:r>
            <a:endParaRPr lang="en-US" sz="1200" b="1" dirty="0">
              <a:solidFill>
                <a:srgbClr val="3B2F57"/>
              </a:solidFill>
            </a:endParaRPr>
          </a:p>
          <a:p>
            <a:pPr marL="0" indent="0" algn="ctr">
              <a:buNone/>
            </a:pPr>
            <a:r>
              <a:rPr lang="en-US" sz="1000" b="1" dirty="0" err="1">
                <a:solidFill>
                  <a:srgbClr val="3B2F57"/>
                </a:solidFill>
              </a:rPr>
              <a:t>L자</a:t>
            </a:r>
            <a:r>
              <a:rPr lang="en-US" sz="1000" b="1" dirty="0">
                <a:solidFill>
                  <a:srgbClr val="3B2F57"/>
                </a:solidFill>
              </a:rPr>
              <a:t> </a:t>
            </a:r>
            <a:r>
              <a:rPr lang="en-US" sz="1000" b="1" dirty="0" err="1">
                <a:solidFill>
                  <a:srgbClr val="3B2F57"/>
                </a:solidFill>
              </a:rPr>
              <a:t>안내</a:t>
            </a:r>
            <a:r>
              <a:rPr lang="ko-KR" altLang="en-US" sz="1000" b="1" dirty="0">
                <a:solidFill>
                  <a:srgbClr val="3B2F57"/>
                </a:solidFill>
              </a:rPr>
              <a:t>문구 출력</a:t>
            </a:r>
            <a:endParaRPr lang="en-US" sz="1200" b="1" dirty="0"/>
          </a:p>
        </p:txBody>
      </p:sp>
      <p:sp>
        <p:nvSpPr>
          <p:cNvPr id="22" name="Text 19"/>
          <p:cNvSpPr/>
          <p:nvPr/>
        </p:nvSpPr>
        <p:spPr>
          <a:xfrm>
            <a:off x="6321819" y="3121212"/>
            <a:ext cx="1454659" cy="681871"/>
          </a:xfrm>
          <a:prstGeom prst="rect">
            <a:avLst/>
          </a:prstGeom>
          <a:noFill/>
          <a:ln w="19050">
            <a:solidFill>
              <a:srgbClr val="EC5A8C"/>
            </a:solidFill>
          </a:ln>
        </p:spPr>
        <p:txBody>
          <a:bodyPr wrap="square" lIns="73152" tIns="38100" rIns="73152" bIns="3810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3B2F57"/>
                </a:solidFill>
              </a:rPr>
              <a:t>이동</a:t>
            </a:r>
            <a:r>
              <a:rPr lang="en-US" sz="1000" b="1" dirty="0">
                <a:solidFill>
                  <a:srgbClr val="3B2F57"/>
                </a:solidFill>
              </a:rPr>
              <a:t> </a:t>
            </a:r>
            <a:r>
              <a:rPr lang="en-US" sz="1000" b="1" dirty="0" err="1">
                <a:solidFill>
                  <a:srgbClr val="3B2F57"/>
                </a:solidFill>
              </a:rPr>
              <a:t>불가</a:t>
            </a:r>
            <a:endParaRPr lang="en-US" sz="1200" b="1" dirty="0">
              <a:solidFill>
                <a:srgbClr val="3B2F57"/>
              </a:solidFill>
            </a:endParaRPr>
          </a:p>
          <a:p>
            <a:pPr marL="0" indent="0" algn="ctr">
              <a:buNone/>
            </a:pPr>
            <a:r>
              <a:rPr lang="en-US" sz="1000" b="1" dirty="0" err="1">
                <a:solidFill>
                  <a:srgbClr val="3B2F57"/>
                </a:solidFill>
              </a:rPr>
              <a:t>바위</a:t>
            </a:r>
            <a:r>
              <a:rPr lang="en-US" sz="1000" b="1" dirty="0">
                <a:solidFill>
                  <a:srgbClr val="3B2F57"/>
                </a:solidFill>
              </a:rPr>
              <a:t> </a:t>
            </a:r>
            <a:r>
              <a:rPr lang="en-US" sz="1000" b="1" dirty="0" err="1">
                <a:solidFill>
                  <a:srgbClr val="3B2F57"/>
                </a:solidFill>
              </a:rPr>
              <a:t>안내</a:t>
            </a:r>
            <a:r>
              <a:rPr lang="ko-KR" altLang="en-US" sz="1000" b="1" dirty="0">
                <a:solidFill>
                  <a:srgbClr val="3B2F57"/>
                </a:solidFill>
              </a:rPr>
              <a:t>문구 출력</a:t>
            </a:r>
            <a:endParaRPr lang="en-US" sz="1200" b="1" dirty="0"/>
          </a:p>
        </p:txBody>
      </p:sp>
      <p:sp>
        <p:nvSpPr>
          <p:cNvPr id="23" name="Shape 20"/>
          <p:cNvSpPr/>
          <p:nvPr/>
        </p:nvSpPr>
        <p:spPr>
          <a:xfrm>
            <a:off x="3139752" y="2189321"/>
            <a:ext cx="0" cy="931890"/>
          </a:xfrm>
          <a:prstGeom prst="line">
            <a:avLst/>
          </a:prstGeom>
          <a:noFill/>
          <a:ln w="28575">
            <a:solidFill>
              <a:srgbClr val="E53935"/>
            </a:solidFill>
            <a:prstDash val="solid"/>
            <a:tailEnd type="triangle"/>
          </a:ln>
        </p:spPr>
        <p:txBody>
          <a:bodyPr/>
          <a:lstStyle/>
          <a:p>
            <a:endParaRPr sz="1200" b="1"/>
          </a:p>
        </p:txBody>
      </p:sp>
      <p:sp>
        <p:nvSpPr>
          <p:cNvPr id="25" name="Shape 22"/>
          <p:cNvSpPr/>
          <p:nvPr/>
        </p:nvSpPr>
        <p:spPr>
          <a:xfrm>
            <a:off x="5094450" y="2189321"/>
            <a:ext cx="0" cy="931890"/>
          </a:xfrm>
          <a:prstGeom prst="line">
            <a:avLst/>
          </a:prstGeom>
          <a:noFill/>
          <a:ln w="28575">
            <a:solidFill>
              <a:srgbClr val="E53935"/>
            </a:solidFill>
            <a:prstDash val="solid"/>
            <a:tailEnd type="triangle"/>
          </a:ln>
        </p:spPr>
        <p:txBody>
          <a:bodyPr/>
          <a:lstStyle/>
          <a:p>
            <a:endParaRPr sz="1200" b="1"/>
          </a:p>
        </p:txBody>
      </p:sp>
      <p:sp>
        <p:nvSpPr>
          <p:cNvPr id="27" name="Shape 24"/>
          <p:cNvSpPr/>
          <p:nvPr/>
        </p:nvSpPr>
        <p:spPr>
          <a:xfrm>
            <a:off x="7049148" y="2189321"/>
            <a:ext cx="0" cy="931890"/>
          </a:xfrm>
          <a:prstGeom prst="line">
            <a:avLst/>
          </a:prstGeom>
          <a:noFill/>
          <a:ln w="28575">
            <a:solidFill>
              <a:srgbClr val="2F7DE1"/>
            </a:solidFill>
            <a:prstDash val="solid"/>
            <a:tailEnd type="triangle"/>
          </a:ln>
        </p:spPr>
        <p:txBody>
          <a:bodyPr/>
          <a:lstStyle/>
          <a:p>
            <a:endParaRPr sz="1200" b="1"/>
          </a:p>
        </p:txBody>
      </p:sp>
      <p:sp>
        <p:nvSpPr>
          <p:cNvPr id="29" name="Text 26"/>
          <p:cNvSpPr/>
          <p:nvPr/>
        </p:nvSpPr>
        <p:spPr>
          <a:xfrm>
            <a:off x="8185601" y="3007567"/>
            <a:ext cx="1636491" cy="909161"/>
          </a:xfrm>
          <a:prstGeom prst="diamond">
            <a:avLst/>
          </a:prstGeom>
          <a:solidFill>
            <a:srgbClr val="FFF8E3"/>
          </a:solidFill>
          <a:ln w="19050">
            <a:solidFill>
              <a:srgbClr val="3B2F57"/>
            </a:solidFill>
          </a:ln>
        </p:spPr>
        <p:txBody>
          <a:bodyPr wrap="none" lIns="36576" tIns="38100" rIns="36576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2F57"/>
                </a:solidFill>
              </a:rPr>
              <a:t>성?</a:t>
            </a:r>
            <a:endParaRPr lang="en-US" sz="1200" b="1" dirty="0"/>
          </a:p>
        </p:txBody>
      </p:sp>
      <p:sp>
        <p:nvSpPr>
          <p:cNvPr id="30" name="Shape 27"/>
          <p:cNvSpPr/>
          <p:nvPr/>
        </p:nvSpPr>
        <p:spPr>
          <a:xfrm>
            <a:off x="9003847" y="2189321"/>
            <a:ext cx="0" cy="818245"/>
          </a:xfrm>
          <a:prstGeom prst="line">
            <a:avLst/>
          </a:prstGeom>
          <a:noFill/>
          <a:ln w="28575">
            <a:solidFill>
              <a:srgbClr val="E53935"/>
            </a:solidFill>
            <a:prstDash val="solid"/>
            <a:tailEnd type="triangle"/>
          </a:ln>
        </p:spPr>
        <p:txBody>
          <a:bodyPr/>
          <a:lstStyle/>
          <a:p>
            <a:endParaRPr sz="1200" b="1"/>
          </a:p>
        </p:txBody>
      </p:sp>
      <p:sp>
        <p:nvSpPr>
          <p:cNvPr id="32" name="Text 29"/>
          <p:cNvSpPr/>
          <p:nvPr/>
        </p:nvSpPr>
        <p:spPr>
          <a:xfrm>
            <a:off x="10140299" y="3121212"/>
            <a:ext cx="1454659" cy="681871"/>
          </a:xfrm>
          <a:prstGeom prst="rect">
            <a:avLst/>
          </a:prstGeom>
          <a:noFill/>
          <a:ln w="19050">
            <a:solidFill>
              <a:srgbClr val="4E8F2E"/>
            </a:solidFill>
          </a:ln>
        </p:spPr>
        <p:txBody>
          <a:bodyPr wrap="square" lIns="73152" tIns="38100" rIns="73152" bIns="3810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3B2F57"/>
                </a:solidFill>
              </a:rPr>
              <a:t>이동</a:t>
            </a:r>
            <a:r>
              <a:rPr lang="en-US" sz="1000" b="1" dirty="0">
                <a:solidFill>
                  <a:srgbClr val="3B2F57"/>
                </a:solidFill>
              </a:rPr>
              <a:t> </a:t>
            </a:r>
            <a:r>
              <a:rPr lang="en-US" sz="1000" b="1" dirty="0" err="1">
                <a:solidFill>
                  <a:srgbClr val="3B2F57"/>
                </a:solidFill>
              </a:rPr>
              <a:t>가능</a:t>
            </a:r>
            <a:endParaRPr lang="en-US" sz="1200" b="1" dirty="0">
              <a:solidFill>
                <a:srgbClr val="3B2F57"/>
              </a:solidFill>
            </a:endParaRPr>
          </a:p>
        </p:txBody>
      </p:sp>
      <p:sp>
        <p:nvSpPr>
          <p:cNvPr id="33" name="Shape 30"/>
          <p:cNvSpPr/>
          <p:nvPr/>
        </p:nvSpPr>
        <p:spPr>
          <a:xfrm>
            <a:off x="9822092" y="3462148"/>
            <a:ext cx="318205" cy="0"/>
          </a:xfrm>
          <a:prstGeom prst="line">
            <a:avLst/>
          </a:prstGeom>
          <a:noFill/>
          <a:ln w="28575">
            <a:solidFill>
              <a:srgbClr val="E53935"/>
            </a:solidFill>
            <a:prstDash val="solid"/>
            <a:tailEnd type="triangle"/>
          </a:ln>
        </p:spPr>
        <p:txBody>
          <a:bodyPr/>
          <a:lstStyle/>
          <a:p>
            <a:endParaRPr sz="1200" b="1"/>
          </a:p>
        </p:txBody>
      </p:sp>
      <p:sp>
        <p:nvSpPr>
          <p:cNvPr id="35" name="Text 32"/>
          <p:cNvSpPr/>
          <p:nvPr/>
        </p:nvSpPr>
        <p:spPr>
          <a:xfrm>
            <a:off x="8185601" y="4644059"/>
            <a:ext cx="1636491" cy="909161"/>
          </a:xfrm>
          <a:prstGeom prst="diamond">
            <a:avLst/>
          </a:prstGeom>
          <a:solidFill>
            <a:srgbClr val="FFF8E3"/>
          </a:solidFill>
          <a:ln w="19050">
            <a:solidFill>
              <a:srgbClr val="3B2F57"/>
            </a:solidFill>
          </a:ln>
        </p:spPr>
        <p:txBody>
          <a:bodyPr wrap="none" lIns="36576" tIns="38100" rIns="36576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2F57"/>
                </a:solidFill>
              </a:rPr>
              <a:t>빈 칸 0개?</a:t>
            </a:r>
            <a:endParaRPr lang="en-US" sz="1200" b="1" dirty="0"/>
          </a:p>
        </p:txBody>
      </p:sp>
      <p:sp>
        <p:nvSpPr>
          <p:cNvPr id="36" name="Shape 33"/>
          <p:cNvSpPr/>
          <p:nvPr/>
        </p:nvSpPr>
        <p:spPr>
          <a:xfrm>
            <a:off x="9003847" y="3916729"/>
            <a:ext cx="0" cy="727328"/>
          </a:xfrm>
          <a:prstGeom prst="line">
            <a:avLst/>
          </a:prstGeom>
          <a:noFill/>
          <a:ln w="28575">
            <a:solidFill>
              <a:srgbClr val="2F7DE1"/>
            </a:solidFill>
            <a:prstDash val="solid"/>
            <a:tailEnd type="triangle"/>
          </a:ln>
        </p:spPr>
        <p:txBody>
          <a:bodyPr/>
          <a:lstStyle/>
          <a:p>
            <a:endParaRPr sz="1200" b="1"/>
          </a:p>
        </p:txBody>
      </p:sp>
      <p:sp>
        <p:nvSpPr>
          <p:cNvPr id="38" name="Text 35"/>
          <p:cNvSpPr/>
          <p:nvPr/>
        </p:nvSpPr>
        <p:spPr>
          <a:xfrm>
            <a:off x="6321819" y="4757704"/>
            <a:ext cx="1454659" cy="681871"/>
          </a:xfrm>
          <a:prstGeom prst="rect">
            <a:avLst/>
          </a:prstGeom>
          <a:noFill/>
          <a:ln w="19050">
            <a:solidFill>
              <a:srgbClr val="4E8F2E"/>
            </a:solidFill>
          </a:ln>
        </p:spPr>
        <p:txBody>
          <a:bodyPr wrap="square" lIns="73152" tIns="38100" rIns="73152" bIns="3810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3B2F57"/>
                </a:solidFill>
              </a:rPr>
              <a:t>이동</a:t>
            </a:r>
            <a:r>
              <a:rPr lang="en-US" sz="1000" b="1" dirty="0">
                <a:solidFill>
                  <a:srgbClr val="3B2F57"/>
                </a:solidFill>
              </a:rPr>
              <a:t> </a:t>
            </a:r>
            <a:r>
              <a:rPr lang="en-US" sz="1000" b="1" dirty="0" err="1">
                <a:solidFill>
                  <a:srgbClr val="3B2F57"/>
                </a:solidFill>
              </a:rPr>
              <a:t>가능</a:t>
            </a:r>
            <a:endParaRPr lang="en-US" sz="1200" b="1" dirty="0">
              <a:solidFill>
                <a:srgbClr val="3B2F57"/>
              </a:solidFill>
            </a:endParaRPr>
          </a:p>
        </p:txBody>
      </p:sp>
      <p:sp>
        <p:nvSpPr>
          <p:cNvPr id="39" name="Shape 36"/>
          <p:cNvSpPr/>
          <p:nvPr/>
        </p:nvSpPr>
        <p:spPr>
          <a:xfrm>
            <a:off x="9822092" y="5098640"/>
            <a:ext cx="318205" cy="0"/>
          </a:xfrm>
          <a:prstGeom prst="line">
            <a:avLst/>
          </a:prstGeom>
          <a:noFill/>
          <a:ln w="28575">
            <a:solidFill>
              <a:srgbClr val="2F7DE1"/>
            </a:solidFill>
            <a:prstDash val="solid"/>
            <a:tailEnd type="triangle"/>
          </a:ln>
        </p:spPr>
        <p:txBody>
          <a:bodyPr/>
          <a:lstStyle/>
          <a:p>
            <a:endParaRPr sz="1200" b="1"/>
          </a:p>
        </p:txBody>
      </p:sp>
      <p:sp>
        <p:nvSpPr>
          <p:cNvPr id="41" name="Text 38"/>
          <p:cNvSpPr/>
          <p:nvPr/>
        </p:nvSpPr>
        <p:spPr>
          <a:xfrm>
            <a:off x="10140298" y="4757704"/>
            <a:ext cx="1454659" cy="681871"/>
          </a:xfrm>
          <a:prstGeom prst="rect">
            <a:avLst/>
          </a:prstGeom>
          <a:noFill/>
          <a:ln w="19050">
            <a:solidFill>
              <a:srgbClr val="EC5A8C"/>
            </a:solidFill>
          </a:ln>
        </p:spPr>
        <p:txBody>
          <a:bodyPr wrap="square" lIns="73152" tIns="38100" rIns="73152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2F57"/>
                </a:solidFill>
              </a:rPr>
              <a:t>이동 불가</a:t>
            </a:r>
            <a:endParaRPr lang="en-US" sz="1200" b="1" dirty="0"/>
          </a:p>
          <a:p>
            <a:pPr algn="ctr"/>
            <a:r>
              <a:rPr lang="ko-KR" altLang="en-US" sz="1000" b="1" dirty="0">
                <a:solidFill>
                  <a:srgbClr val="3B2F57"/>
                </a:solidFill>
              </a:rPr>
              <a:t>성</a:t>
            </a:r>
            <a:r>
              <a:rPr lang="en-US" altLang="ko-KR" sz="1000" b="1" dirty="0">
                <a:solidFill>
                  <a:srgbClr val="3B2F57"/>
                </a:solidFill>
              </a:rPr>
              <a:t> 칸 </a:t>
            </a:r>
            <a:r>
              <a:rPr lang="en-US" altLang="ko-KR" sz="1000" b="1" dirty="0" err="1">
                <a:solidFill>
                  <a:srgbClr val="3B2F57"/>
                </a:solidFill>
              </a:rPr>
              <a:t>안내</a:t>
            </a:r>
            <a:r>
              <a:rPr lang="ko-KR" altLang="en-US" sz="1000" b="1" dirty="0">
                <a:solidFill>
                  <a:srgbClr val="3B2F57"/>
                </a:solidFill>
              </a:rPr>
              <a:t>문구 출력</a:t>
            </a:r>
            <a:endParaRPr lang="en-US" altLang="ko-KR" sz="1200" b="1" dirty="0"/>
          </a:p>
        </p:txBody>
      </p:sp>
      <p:sp>
        <p:nvSpPr>
          <p:cNvPr id="42" name="Shape 39"/>
          <p:cNvSpPr/>
          <p:nvPr/>
        </p:nvSpPr>
        <p:spPr>
          <a:xfrm flipH="1">
            <a:off x="7776478" y="5098640"/>
            <a:ext cx="409121" cy="0"/>
          </a:xfrm>
          <a:prstGeom prst="line">
            <a:avLst/>
          </a:prstGeom>
          <a:noFill/>
          <a:ln w="28575">
            <a:solidFill>
              <a:srgbClr val="E53935"/>
            </a:solidFill>
            <a:prstDash val="solid"/>
            <a:tailEnd type="triangle"/>
          </a:ln>
        </p:spPr>
        <p:txBody>
          <a:bodyPr/>
          <a:lstStyle/>
          <a:p>
            <a:endParaRPr sz="1200" b="1"/>
          </a:p>
        </p:txBody>
      </p:sp>
      <p:sp>
        <p:nvSpPr>
          <p:cNvPr id="44" name="Text 41"/>
          <p:cNvSpPr txBox="1"/>
          <p:nvPr/>
        </p:nvSpPr>
        <p:spPr>
          <a:xfrm>
            <a:off x="548640" y="5807786"/>
            <a:ext cx="5454971" cy="27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EC5A8C"/>
                </a:solidFill>
              </a:rPr>
              <a:t>안내</a:t>
            </a:r>
            <a:r>
              <a:rPr lang="en-US" sz="1200" b="1" dirty="0">
                <a:solidFill>
                  <a:srgbClr val="EC5A8C"/>
                </a:solidFill>
              </a:rPr>
              <a:t> </a:t>
            </a:r>
            <a:r>
              <a:rPr lang="en-US" sz="1200" b="1" dirty="0" err="1">
                <a:solidFill>
                  <a:srgbClr val="EC5A8C"/>
                </a:solidFill>
              </a:rPr>
              <a:t>문구</a:t>
            </a:r>
            <a:r>
              <a:rPr lang="ko-KR" altLang="en-US" sz="1200" b="1" dirty="0">
                <a:solidFill>
                  <a:srgbClr val="EC5A8C"/>
                </a:solidFill>
              </a:rPr>
              <a:t>는 </a:t>
            </a:r>
            <a:r>
              <a:rPr lang="en-US" sz="1200" b="1" dirty="0" err="1">
                <a:solidFill>
                  <a:srgbClr val="EC5A8C"/>
                </a:solidFill>
              </a:rPr>
              <a:t>StringTable</a:t>
            </a:r>
            <a:r>
              <a:rPr lang="en-US" sz="1200" b="1" dirty="0">
                <a:solidFill>
                  <a:srgbClr val="EC5A8C"/>
                </a:solidFill>
              </a:rPr>
              <a:t> </a:t>
            </a:r>
            <a:r>
              <a:rPr lang="ko-KR" altLang="en-US" sz="1200" b="1" dirty="0">
                <a:solidFill>
                  <a:srgbClr val="EC5A8C"/>
                </a:solidFill>
              </a:rPr>
              <a:t>값 참조</a:t>
            </a:r>
            <a:endParaRPr lang="en-US" sz="1200" b="1" dirty="0">
              <a:solidFill>
                <a:srgbClr val="EC5A8C"/>
              </a:solidFill>
            </a:endParaRPr>
          </a:p>
        </p:txBody>
      </p:sp>
      <p:sp>
        <p:nvSpPr>
          <p:cNvPr id="45" name="Shape 42"/>
          <p:cNvSpPr/>
          <p:nvPr/>
        </p:nvSpPr>
        <p:spPr>
          <a:xfrm>
            <a:off x="9594802" y="5953252"/>
            <a:ext cx="409122" cy="0"/>
          </a:xfrm>
          <a:prstGeom prst="line">
            <a:avLst/>
          </a:prstGeom>
          <a:noFill/>
          <a:ln w="28575">
            <a:solidFill>
              <a:srgbClr val="2F7DE1"/>
            </a:solidFill>
            <a:prstDash val="solid"/>
            <a:tailEnd type="triangle"/>
          </a:ln>
        </p:spPr>
        <p:txBody>
          <a:bodyPr/>
          <a:lstStyle/>
          <a:p>
            <a:endParaRPr sz="1200"/>
          </a:p>
        </p:txBody>
      </p:sp>
      <p:sp>
        <p:nvSpPr>
          <p:cNvPr id="46" name="Text 43"/>
          <p:cNvSpPr txBox="1"/>
          <p:nvPr/>
        </p:nvSpPr>
        <p:spPr>
          <a:xfrm>
            <a:off x="10067566" y="5825969"/>
            <a:ext cx="545497" cy="254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7DE1"/>
                </a:solidFill>
              </a:rPr>
              <a:t>예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10640338" y="5953252"/>
            <a:ext cx="409122" cy="0"/>
          </a:xfrm>
          <a:prstGeom prst="line">
            <a:avLst/>
          </a:prstGeom>
          <a:noFill/>
          <a:ln w="28575">
            <a:solidFill>
              <a:srgbClr val="E53935"/>
            </a:solidFill>
            <a:prstDash val="solid"/>
            <a:tailEnd type="triangle"/>
          </a:ln>
        </p:spPr>
        <p:txBody>
          <a:bodyPr/>
          <a:lstStyle/>
          <a:p>
            <a:endParaRPr sz="1200"/>
          </a:p>
        </p:txBody>
      </p:sp>
      <p:sp>
        <p:nvSpPr>
          <p:cNvPr id="48" name="Text 45"/>
          <p:cNvSpPr txBox="1"/>
          <p:nvPr/>
        </p:nvSpPr>
        <p:spPr>
          <a:xfrm>
            <a:off x="11113102" y="5825969"/>
            <a:ext cx="545497" cy="254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</a:rPr>
              <a:t>아니오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C5A8C"/>
                </a:solidFill>
              </a:rPr>
              <a:t>게임 시스템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F57"/>
                </a:solidFill>
              </a:rPr>
              <a:t>2.3 판정, 상태 전이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09160" y="1856232"/>
            <a:ext cx="2743200" cy="3794760"/>
          </a:xfrm>
          <a:prstGeom prst="rect">
            <a:avLst/>
          </a:prstGeom>
          <a:solidFill>
            <a:srgbClr val="FAF8FD"/>
          </a:solidFill>
          <a:ln w="12700">
            <a:solidFill>
              <a:srgbClr val="FAF8F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C:/Users/user/Desktop/창고/knight-tour/img/knight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494" y="1965959"/>
            <a:ext cx="824531" cy="1325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09160" y="33192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2F57"/>
                </a:solidFill>
              </a:rPr>
              <a:t>진행 중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983480" y="3794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C5A8C"/>
                </a:solidFill>
              </a:rPr>
              <a:t>조건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983480" y="40325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B2F57"/>
                </a:solidFill>
              </a:rPr>
              <a:t>빈 </a:t>
            </a:r>
            <a:r>
              <a:rPr lang="ko-KR" altLang="en-US" sz="1200" dirty="0">
                <a:solidFill>
                  <a:srgbClr val="3B2F57"/>
                </a:solidFill>
              </a:rPr>
              <a:t>보드 </a:t>
            </a:r>
            <a:r>
              <a:rPr lang="en-US" sz="1200" dirty="0">
                <a:solidFill>
                  <a:srgbClr val="3B2F57"/>
                </a:solidFill>
              </a:rPr>
              <a:t>칸 있음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B2F57"/>
                </a:solidFill>
              </a:rPr>
              <a:t>이동 가능 칸 있음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983480" y="4690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C5A8C"/>
                </a:solidFill>
              </a:rPr>
              <a:t>결과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983480" y="492861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B2F57"/>
                </a:solidFill>
              </a:rPr>
              <a:t>이동 가능 칸 표시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856232"/>
            <a:ext cx="2743200" cy="379476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>
              <a:solidFill>
                <a:srgbClr val="F0F8FF"/>
              </a:solidFill>
            </a:endParaRPr>
          </a:p>
        </p:txBody>
      </p:sp>
      <p:pic>
        <p:nvPicPr>
          <p:cNvPr id="12" name="Image 1" descr="C:/Users/user/Desktop/창고/knight-tour/img/knight_s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261" y="1965959"/>
            <a:ext cx="807958" cy="13258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" y="33192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2F57"/>
                </a:solidFill>
              </a:rPr>
              <a:t>막힘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822959" y="3794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C5A8C"/>
                </a:solidFill>
              </a:rPr>
              <a:t>조건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22959" y="40325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B2F57"/>
                </a:solidFill>
              </a:rPr>
              <a:t>빈 </a:t>
            </a:r>
            <a:r>
              <a:rPr lang="ko-KR" altLang="en-US" sz="1200" dirty="0">
                <a:solidFill>
                  <a:srgbClr val="3B2F57"/>
                </a:solidFill>
              </a:rPr>
              <a:t>보드 </a:t>
            </a:r>
            <a:r>
              <a:rPr lang="en-US" sz="1200" dirty="0">
                <a:solidFill>
                  <a:srgbClr val="3B2F57"/>
                </a:solidFill>
              </a:rPr>
              <a:t>칸 있음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B2F57"/>
                </a:solidFill>
              </a:rPr>
              <a:t>이동 가능 칸 없음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22959" y="4690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C5A8C"/>
                </a:solidFill>
              </a:rPr>
              <a:t>결과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22959" y="492861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3B2F57"/>
                </a:solidFill>
              </a:rPr>
              <a:t>되돌리기</a:t>
            </a:r>
            <a:r>
              <a:rPr lang="en-US" sz="1200" dirty="0">
                <a:solidFill>
                  <a:srgbClr val="3B2F57"/>
                </a:solidFill>
              </a:rPr>
              <a:t> </a:t>
            </a:r>
            <a:r>
              <a:rPr lang="ko-KR" altLang="en-US" sz="1200" dirty="0">
                <a:solidFill>
                  <a:srgbClr val="3B2F57"/>
                </a:solidFill>
              </a:rPr>
              <a:t>버튼 </a:t>
            </a:r>
            <a:r>
              <a:rPr lang="en-US" sz="1200" dirty="0" err="1">
                <a:solidFill>
                  <a:srgbClr val="3B2F57"/>
                </a:solidFill>
              </a:rPr>
              <a:t>강조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869680" y="1856232"/>
            <a:ext cx="2743200" cy="3794760"/>
          </a:xfrm>
          <a:prstGeom prst="rect">
            <a:avLst/>
          </a:prstGeom>
          <a:solidFill>
            <a:srgbClr val="FFF1F5">
              <a:alpha val="70000"/>
            </a:srgbClr>
          </a:solidFill>
          <a:ln w="12700">
            <a:solidFill>
              <a:srgbClr val="FFF1F5"/>
            </a:solidFill>
            <a:prstDash val="solid"/>
          </a:ln>
        </p:spPr>
        <p:txBody>
          <a:bodyPr/>
          <a:lstStyle/>
          <a:p>
            <a:endParaRPr>
              <a:solidFill>
                <a:srgbClr val="FFF5F8"/>
              </a:solidFill>
            </a:endParaRPr>
          </a:p>
        </p:txBody>
      </p:sp>
      <p:pic>
        <p:nvPicPr>
          <p:cNvPr id="19" name="Image 2" descr="C:/Users/user/Desktop/창고/knight-tour/img/knight_happ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0011" y="1965959"/>
            <a:ext cx="882538" cy="13258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869680" y="33192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2F57"/>
                </a:solidFill>
              </a:rPr>
              <a:t>클리어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9144000" y="3794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C5A8C"/>
                </a:solidFill>
              </a:rPr>
              <a:t>조건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9144000" y="40325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B2F57"/>
                </a:solidFill>
              </a:rPr>
              <a:t>빈 </a:t>
            </a:r>
            <a:r>
              <a:rPr lang="ko-KR" altLang="en-US" sz="1200" dirty="0">
                <a:solidFill>
                  <a:srgbClr val="3B2F57"/>
                </a:solidFill>
              </a:rPr>
              <a:t>보드 </a:t>
            </a:r>
            <a:r>
              <a:rPr lang="en-US" sz="1200" dirty="0">
                <a:solidFill>
                  <a:srgbClr val="3B2F57"/>
                </a:solidFill>
              </a:rPr>
              <a:t>칸 없이 성 도착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144000" y="4690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C5A8C"/>
                </a:solidFill>
              </a:rPr>
              <a:t>결과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9144000" y="492861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3B2F57"/>
                </a:solidFill>
              </a:rPr>
              <a:t>클리어</a:t>
            </a:r>
            <a:r>
              <a:rPr lang="en-US" sz="1200" dirty="0">
                <a:solidFill>
                  <a:srgbClr val="3B2F57"/>
                </a:solidFill>
              </a:rPr>
              <a:t> </a:t>
            </a:r>
            <a:r>
              <a:rPr lang="en-US" sz="1200" dirty="0" err="1">
                <a:solidFill>
                  <a:srgbClr val="3B2F57"/>
                </a:solidFill>
              </a:rPr>
              <a:t>팝업</a:t>
            </a:r>
            <a:r>
              <a:rPr lang="en-US" sz="1200" dirty="0">
                <a:solidFill>
                  <a:srgbClr val="3B2F57"/>
                </a:solidFill>
              </a:rPr>
              <a:t> </a:t>
            </a:r>
            <a:r>
              <a:rPr lang="ko-KR" altLang="en-US" sz="1200" dirty="0">
                <a:solidFill>
                  <a:srgbClr val="3B2F57"/>
                </a:solidFill>
              </a:rPr>
              <a:t>출력</a:t>
            </a:r>
            <a:endParaRPr lang="en-US" sz="1200" dirty="0"/>
          </a:p>
        </p:txBody>
      </p:sp>
      <p:cxnSp>
        <p:nvCxnSpPr>
          <p:cNvPr id="25" name="Connector 24"/>
          <p:cNvCxnSpPr/>
          <p:nvPr/>
        </p:nvCxnSpPr>
        <p:spPr>
          <a:xfrm flipH="1">
            <a:off x="3291840" y="2816352"/>
            <a:ext cx="1417320" cy="0"/>
          </a:xfrm>
          <a:prstGeom prst="line">
            <a:avLst/>
          </a:prstGeom>
          <a:ln w="22225">
            <a:solidFill>
              <a:srgbClr val="3B2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310128" y="2385689"/>
            <a:ext cx="1380744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00" b="1" dirty="0" err="1">
                <a:solidFill>
                  <a:srgbClr val="3B2F57"/>
                </a:solidFill>
                <a:latin typeface="Noto Sans KR"/>
                <a:ea typeface="Noto Sans KR"/>
              </a:rPr>
              <a:t>이동</a:t>
            </a:r>
            <a:r>
              <a:rPr lang="ko-KR" altLang="en-US" sz="1000" b="1" dirty="0">
                <a:solidFill>
                  <a:srgbClr val="3B2F57"/>
                </a:solidFill>
                <a:latin typeface="Noto Sans KR"/>
                <a:ea typeface="Noto Sans KR"/>
              </a:rPr>
              <a:t>가능 좌표 없음</a:t>
            </a:r>
            <a:endParaRPr sz="1000" b="1" dirty="0">
              <a:solidFill>
                <a:srgbClr val="3B2F57"/>
              </a:solidFill>
              <a:latin typeface="Noto Sans KR"/>
              <a:ea typeface="Noto Sans KR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3291840" y="4005072"/>
            <a:ext cx="1417320" cy="0"/>
          </a:xfrm>
          <a:prstGeom prst="line">
            <a:avLst/>
          </a:prstGeom>
          <a:ln w="22225">
            <a:solidFill>
              <a:srgbClr val="3B2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310128" y="3477411"/>
            <a:ext cx="1380744" cy="6217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lang="ko-KR" altLang="en-US" sz="1000" b="1" dirty="0">
                <a:solidFill>
                  <a:srgbClr val="3B2F57"/>
                </a:solidFill>
                <a:latin typeface="Noto Sans KR"/>
                <a:ea typeface="Noto Sans KR"/>
              </a:rPr>
              <a:t>되돌리기</a:t>
            </a:r>
            <a:r>
              <a:rPr lang="en-US" altLang="ko-KR" sz="1000" b="1" dirty="0">
                <a:solidFill>
                  <a:srgbClr val="3B2F57"/>
                </a:solidFill>
                <a:latin typeface="Noto Sans KR"/>
                <a:ea typeface="Noto Sans KR"/>
              </a:rPr>
              <a:t>,</a:t>
            </a:r>
            <a:r>
              <a:rPr lang="ko-KR" altLang="en-US" sz="1000" b="1" dirty="0">
                <a:solidFill>
                  <a:srgbClr val="3B2F57"/>
                </a:solidFill>
                <a:latin typeface="Noto Sans KR"/>
                <a:ea typeface="Noto Sans KR"/>
              </a:rPr>
              <a:t>힌트</a:t>
            </a:r>
            <a:r>
              <a:rPr lang="en-US" altLang="ko-KR" sz="1000" b="1" dirty="0">
                <a:solidFill>
                  <a:srgbClr val="3B2F57"/>
                </a:solidFill>
                <a:latin typeface="Noto Sans KR"/>
                <a:ea typeface="Noto Sans KR"/>
              </a:rPr>
              <a:t>,</a:t>
            </a:r>
            <a:r>
              <a:rPr lang="ko-KR" altLang="en-US" sz="1000" b="1" dirty="0">
                <a:solidFill>
                  <a:srgbClr val="3B2F57"/>
                </a:solidFill>
                <a:latin typeface="Noto Sans KR"/>
                <a:ea typeface="Noto Sans KR"/>
              </a:rPr>
              <a:t>다시하기</a:t>
            </a:r>
            <a:endParaRPr sz="1000" b="1" dirty="0">
              <a:solidFill>
                <a:srgbClr val="3B2F57"/>
              </a:solidFill>
              <a:latin typeface="Noto Sans KR"/>
              <a:ea typeface="Noto Sans KR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709160" y="1280160"/>
            <a:ext cx="27432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00" b="1" dirty="0" err="1">
                <a:solidFill>
                  <a:schemeClr val="tx1"/>
                </a:solidFill>
                <a:latin typeface="Noto Sans KR"/>
                <a:ea typeface="Noto Sans KR"/>
              </a:rPr>
              <a:t>스테이지</a:t>
            </a:r>
            <a:r>
              <a:rPr sz="1000" b="1" dirty="0">
                <a:solidFill>
                  <a:schemeClr val="tx1"/>
                </a:solidFill>
                <a:latin typeface="Noto Sans KR"/>
                <a:ea typeface="Noto Sans KR"/>
              </a:rPr>
              <a:t> </a:t>
            </a:r>
            <a:r>
              <a:rPr sz="1000" b="1" dirty="0" err="1">
                <a:solidFill>
                  <a:schemeClr val="tx1"/>
                </a:solidFill>
                <a:latin typeface="Noto Sans KR"/>
                <a:ea typeface="Noto Sans KR"/>
              </a:rPr>
              <a:t>시작</a:t>
            </a:r>
            <a:endParaRPr sz="1000" b="1" dirty="0">
              <a:solidFill>
                <a:schemeClr val="tx1"/>
              </a:solidFill>
              <a:latin typeface="Noto Sans KR"/>
              <a:ea typeface="Noto Sans KR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6080760" y="1517904"/>
            <a:ext cx="0" cy="338328"/>
          </a:xfrm>
          <a:prstGeom prst="line">
            <a:avLst/>
          </a:prstGeom>
          <a:ln w="22225">
            <a:solidFill>
              <a:srgbClr val="3B2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24">
            <a:extLst>
              <a:ext uri="{FF2B5EF4-FFF2-40B4-BE49-F238E27FC236}">
                <a16:creationId xmlns:a16="http://schemas.microsoft.com/office/drawing/2014/main" id="{1E9A6BEF-5FA9-B320-4873-7B63C457207C}"/>
              </a:ext>
            </a:extLst>
          </p:cNvPr>
          <p:cNvCxnSpPr/>
          <p:nvPr/>
        </p:nvCxnSpPr>
        <p:spPr>
          <a:xfrm flipH="1">
            <a:off x="7452359" y="2803622"/>
            <a:ext cx="1417320" cy="0"/>
          </a:xfrm>
          <a:prstGeom prst="line">
            <a:avLst/>
          </a:prstGeom>
          <a:ln w="22225">
            <a:solidFill>
              <a:srgbClr val="3B2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25">
            <a:extLst>
              <a:ext uri="{FF2B5EF4-FFF2-40B4-BE49-F238E27FC236}">
                <a16:creationId xmlns:a16="http://schemas.microsoft.com/office/drawing/2014/main" id="{C8D5DD22-804B-BB4D-FFA7-7F58AF2B235D}"/>
              </a:ext>
            </a:extLst>
          </p:cNvPr>
          <p:cNvSpPr/>
          <p:nvPr/>
        </p:nvSpPr>
        <p:spPr>
          <a:xfrm>
            <a:off x="7470647" y="2372959"/>
            <a:ext cx="1380744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lang="ko-KR" altLang="en-US" sz="1000" b="1" dirty="0">
                <a:solidFill>
                  <a:srgbClr val="3B2F57"/>
                </a:solidFill>
                <a:latin typeface="Noto Sans KR"/>
                <a:ea typeface="Noto Sans KR"/>
              </a:rPr>
              <a:t>다음 스테이지 이동</a:t>
            </a:r>
            <a:endParaRPr sz="1000" b="1" dirty="0">
              <a:solidFill>
                <a:srgbClr val="3B2F57"/>
              </a:solidFill>
              <a:latin typeface="Noto Sans KR"/>
              <a:ea typeface="Noto Sans KR"/>
            </a:endParaRPr>
          </a:p>
        </p:txBody>
      </p:sp>
      <p:cxnSp>
        <p:nvCxnSpPr>
          <p:cNvPr id="38" name="Connector 26">
            <a:extLst>
              <a:ext uri="{FF2B5EF4-FFF2-40B4-BE49-F238E27FC236}">
                <a16:creationId xmlns:a16="http://schemas.microsoft.com/office/drawing/2014/main" id="{729DD174-FD8D-9858-AF62-806840393A29}"/>
              </a:ext>
            </a:extLst>
          </p:cNvPr>
          <p:cNvCxnSpPr/>
          <p:nvPr/>
        </p:nvCxnSpPr>
        <p:spPr>
          <a:xfrm>
            <a:off x="7452359" y="3992342"/>
            <a:ext cx="1417320" cy="0"/>
          </a:xfrm>
          <a:prstGeom prst="line">
            <a:avLst/>
          </a:prstGeom>
          <a:ln w="22225">
            <a:solidFill>
              <a:srgbClr val="3B2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27">
            <a:extLst>
              <a:ext uri="{FF2B5EF4-FFF2-40B4-BE49-F238E27FC236}">
                <a16:creationId xmlns:a16="http://schemas.microsoft.com/office/drawing/2014/main" id="{68B164AE-6584-1105-514D-1BFFD0B8A73E}"/>
              </a:ext>
            </a:extLst>
          </p:cNvPr>
          <p:cNvSpPr/>
          <p:nvPr/>
        </p:nvSpPr>
        <p:spPr>
          <a:xfrm>
            <a:off x="7470647" y="3464681"/>
            <a:ext cx="1380744" cy="6217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lang="ko-KR" altLang="en-US" sz="1000" b="1" dirty="0">
                <a:solidFill>
                  <a:srgbClr val="3B2F57"/>
                </a:solidFill>
                <a:latin typeface="Noto Sans KR"/>
                <a:ea typeface="Noto Sans KR"/>
              </a:rPr>
              <a:t>성 도착 </a:t>
            </a:r>
            <a:r>
              <a:rPr lang="en-US" altLang="ko-KR" sz="1000" b="1" dirty="0">
                <a:solidFill>
                  <a:srgbClr val="3B2F57"/>
                </a:solidFill>
                <a:latin typeface="Noto Sans KR"/>
                <a:ea typeface="Noto Sans KR"/>
              </a:rPr>
              <a:t>(</a:t>
            </a:r>
            <a:r>
              <a:rPr lang="ko-KR" altLang="en-US" sz="1000" b="1" dirty="0">
                <a:solidFill>
                  <a:srgbClr val="3B2F57"/>
                </a:solidFill>
                <a:latin typeface="Noto Sans KR"/>
                <a:ea typeface="Noto Sans KR"/>
              </a:rPr>
              <a:t>빈칸</a:t>
            </a:r>
            <a:r>
              <a:rPr lang="en-US" altLang="ko-KR" sz="1000" b="1" dirty="0">
                <a:solidFill>
                  <a:srgbClr val="3B2F57"/>
                </a:solidFill>
                <a:latin typeface="Noto Sans KR"/>
                <a:ea typeface="Noto Sans KR"/>
              </a:rPr>
              <a:t>0</a:t>
            </a:r>
            <a:r>
              <a:rPr lang="ko-KR" altLang="en-US" sz="1000" b="1" dirty="0">
                <a:solidFill>
                  <a:srgbClr val="3B2F57"/>
                </a:solidFill>
                <a:latin typeface="Noto Sans KR"/>
                <a:ea typeface="Noto Sans KR"/>
              </a:rPr>
              <a:t>개</a:t>
            </a:r>
            <a:r>
              <a:rPr lang="en-US" altLang="ko-KR" sz="1000" b="1" dirty="0">
                <a:solidFill>
                  <a:srgbClr val="3B2F57"/>
                </a:solidFill>
                <a:latin typeface="Noto Sans KR"/>
                <a:ea typeface="Noto Sans KR"/>
              </a:rPr>
              <a:t>)</a:t>
            </a:r>
            <a:endParaRPr sz="1000" b="1" dirty="0">
              <a:solidFill>
                <a:srgbClr val="3B2F57"/>
              </a:solidFill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C5A8C"/>
                </a:solidFill>
              </a:rPr>
              <a:t>게임 시스템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F57"/>
                </a:solidFill>
              </a:rPr>
              <a:t>2.4 보조 기능, 힌트</a:t>
            </a:r>
            <a:endParaRPr lang="en-US" sz="2600" dirty="0"/>
          </a:p>
        </p:txBody>
      </p:sp>
      <p:sp>
        <p:nvSpPr>
          <p:cNvPr id="51" name="Rectangle 50"/>
          <p:cNvSpPr/>
          <p:nvPr/>
        </p:nvSpPr>
        <p:spPr>
          <a:xfrm>
            <a:off x="822960" y="3963924"/>
            <a:ext cx="1463040" cy="685800"/>
          </a:xfrm>
          <a:prstGeom prst="rect">
            <a:avLst/>
          </a:prstGeom>
          <a:solidFill>
            <a:srgbClr val="EFEBF9"/>
          </a:solidFill>
          <a:ln w="19050">
            <a:solidFill>
              <a:srgbClr val="3B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3B2F57"/>
                </a:solidFill>
                <a:latin typeface="Noto Sans KR"/>
                <a:ea typeface="Noto Sans KR"/>
              </a:rPr>
              <a:t>힌트 버튼</a:t>
            </a:r>
          </a:p>
        </p:txBody>
      </p:sp>
      <p:sp>
        <p:nvSpPr>
          <p:cNvPr id="52" name="Diamond 51"/>
          <p:cNvSpPr/>
          <p:nvPr/>
        </p:nvSpPr>
        <p:spPr>
          <a:xfrm>
            <a:off x="3006090" y="3849624"/>
            <a:ext cx="1645920" cy="914400"/>
          </a:xfrm>
          <a:prstGeom prst="diamond">
            <a:avLst/>
          </a:prstGeom>
          <a:solidFill>
            <a:srgbClr val="FFF8E3"/>
          </a:solidFill>
          <a:ln w="19050">
            <a:solidFill>
              <a:srgbClr val="3B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000" b="1">
                <a:solidFill>
                  <a:srgbClr val="3B2F57"/>
                </a:solidFill>
                <a:latin typeface="Noto Sans KR"/>
                <a:ea typeface="Noto Sans KR"/>
              </a:rPr>
              <a:t>보유 힌트</a:t>
            </a:r>
          </a:p>
          <a:p>
            <a:pPr algn="ctr"/>
            <a:r>
              <a:rPr sz="1000" b="1">
                <a:solidFill>
                  <a:srgbClr val="3B2F57"/>
                </a:solidFill>
                <a:latin typeface="Noto Sans KR"/>
                <a:ea typeface="Noto Sans KR"/>
              </a:rPr>
              <a:t>&gt; 0 ?</a:t>
            </a:r>
          </a:p>
        </p:txBody>
      </p:sp>
      <p:sp>
        <p:nvSpPr>
          <p:cNvPr id="53" name="Diamond 52"/>
          <p:cNvSpPr/>
          <p:nvPr/>
        </p:nvSpPr>
        <p:spPr>
          <a:xfrm>
            <a:off x="5372099" y="3849624"/>
            <a:ext cx="1645920" cy="914400"/>
          </a:xfrm>
          <a:prstGeom prst="diamond">
            <a:avLst/>
          </a:prstGeom>
          <a:solidFill>
            <a:srgbClr val="FFF8E3"/>
          </a:solidFill>
          <a:ln w="19050">
            <a:solidFill>
              <a:srgbClr val="3B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000" b="1">
                <a:solidFill>
                  <a:srgbClr val="3B2F57"/>
                </a:solidFill>
                <a:latin typeface="Noto Sans KR"/>
                <a:ea typeface="Noto Sans KR"/>
              </a:rPr>
              <a:t>내 경로 =</a:t>
            </a:r>
          </a:p>
          <a:p>
            <a:pPr algn="ctr"/>
            <a:r>
              <a:rPr sz="1000" b="1">
                <a:solidFill>
                  <a:srgbClr val="3B2F57"/>
                </a:solidFill>
                <a:latin typeface="Noto Sans KR"/>
                <a:ea typeface="Noto Sans KR"/>
              </a:rPr>
              <a:t>정답 경로 ?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38109" y="3963924"/>
            <a:ext cx="1463040" cy="685800"/>
          </a:xfrm>
          <a:prstGeom prst="rect">
            <a:avLst/>
          </a:prstGeom>
          <a:solidFill>
            <a:srgbClr val="EFEBF9"/>
          </a:solidFill>
          <a:ln w="19050">
            <a:solidFill>
              <a:srgbClr val="3B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3B2F57"/>
                </a:solidFill>
                <a:latin typeface="Noto Sans KR"/>
                <a:ea typeface="Noto Sans KR"/>
              </a:rPr>
              <a:t>정답 경로 다음 칸</a:t>
            </a:r>
          </a:p>
          <a:p>
            <a:pPr algn="ctr"/>
            <a:r>
              <a:rPr sz="1000" b="1">
                <a:solidFill>
                  <a:srgbClr val="3B2F57"/>
                </a:solidFill>
                <a:latin typeface="Noto Sans KR"/>
                <a:ea typeface="Noto Sans KR"/>
              </a:rPr>
              <a:t>금색 별 표시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21239" y="3963924"/>
            <a:ext cx="1463040" cy="685800"/>
          </a:xfrm>
          <a:prstGeom prst="rect">
            <a:avLst/>
          </a:prstGeom>
          <a:solidFill>
            <a:srgbClr val="FFEBB0"/>
          </a:solidFill>
          <a:ln w="19050">
            <a:solidFill>
              <a:srgbClr val="3B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3B2F57"/>
                </a:solidFill>
                <a:latin typeface="Noto Sans KR"/>
                <a:ea typeface="Noto Sans KR"/>
              </a:rPr>
              <a:t>힌트 1개 소모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97530" y="5097780"/>
            <a:ext cx="14630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3B2F57"/>
                </a:solidFill>
                <a:latin typeface="Noto Sans KR"/>
                <a:ea typeface="Noto Sans KR"/>
              </a:rPr>
              <a:t>광고 시청 팝업</a:t>
            </a:r>
          </a:p>
          <a:p>
            <a:pPr algn="ctr"/>
            <a:r>
              <a:rPr sz="1000" b="1">
                <a:solidFill>
                  <a:srgbClr val="3B2F57"/>
                </a:solidFill>
                <a:latin typeface="Noto Sans KR"/>
                <a:ea typeface="Noto Sans KR"/>
              </a:rPr>
              <a:t>시청 완료 시 힌트 +1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63540" y="5097780"/>
            <a:ext cx="1463040" cy="685800"/>
          </a:xfrm>
          <a:prstGeom prst="rect">
            <a:avLst/>
          </a:prstGeom>
          <a:solidFill>
            <a:srgbClr val="EFEBF9"/>
          </a:solidFill>
          <a:ln w="19050">
            <a:solidFill>
              <a:srgbClr val="3B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 dirty="0" err="1">
                <a:solidFill>
                  <a:srgbClr val="3B2F57"/>
                </a:solidFill>
                <a:latin typeface="Noto Sans KR"/>
                <a:ea typeface="Noto Sans KR"/>
              </a:rPr>
              <a:t>이탈</a:t>
            </a:r>
            <a:r>
              <a:rPr sz="1000" b="1" dirty="0">
                <a:solidFill>
                  <a:srgbClr val="3B2F57"/>
                </a:solidFill>
                <a:latin typeface="Noto Sans KR"/>
                <a:ea typeface="Noto Sans KR"/>
              </a:rPr>
              <a:t> </a:t>
            </a:r>
            <a:r>
              <a:rPr sz="1000" b="1" dirty="0" err="1">
                <a:solidFill>
                  <a:srgbClr val="3B2F57"/>
                </a:solidFill>
                <a:latin typeface="Noto Sans KR"/>
                <a:ea typeface="Noto Sans KR"/>
              </a:rPr>
              <a:t>지점까지</a:t>
            </a:r>
            <a:endParaRPr sz="1200" b="1" dirty="0">
              <a:solidFill>
                <a:srgbClr val="3B2F57"/>
              </a:solidFill>
              <a:latin typeface="Noto Sans KR"/>
              <a:ea typeface="Noto Sans KR"/>
            </a:endParaRPr>
          </a:p>
          <a:p>
            <a:pPr algn="ctr"/>
            <a:r>
              <a:rPr sz="1000" b="1" dirty="0" err="1">
                <a:solidFill>
                  <a:srgbClr val="3B2F57"/>
                </a:solidFill>
                <a:latin typeface="Noto Sans KR"/>
                <a:ea typeface="Noto Sans KR"/>
              </a:rPr>
              <a:t>자동</a:t>
            </a:r>
            <a:r>
              <a:rPr sz="1000" b="1" dirty="0">
                <a:solidFill>
                  <a:srgbClr val="3B2F57"/>
                </a:solidFill>
                <a:latin typeface="Noto Sans KR"/>
                <a:ea typeface="Noto Sans KR"/>
              </a:rPr>
              <a:t> </a:t>
            </a:r>
            <a:r>
              <a:rPr sz="1000" b="1" dirty="0" err="1">
                <a:solidFill>
                  <a:srgbClr val="3B2F57"/>
                </a:solidFill>
                <a:latin typeface="Noto Sans KR"/>
                <a:ea typeface="Noto Sans KR"/>
              </a:rPr>
              <a:t>되돌림</a:t>
            </a:r>
            <a:endParaRPr sz="1200" b="1" dirty="0">
              <a:solidFill>
                <a:srgbClr val="3B2F57"/>
              </a:solidFill>
              <a:latin typeface="Noto Sans KR"/>
              <a:ea typeface="Noto Sans KR"/>
            </a:endParaRPr>
          </a:p>
        </p:txBody>
      </p:sp>
      <p:cxnSp>
        <p:nvCxnSpPr>
          <p:cNvPr id="58" name="Connector 57"/>
          <p:cNvCxnSpPr/>
          <p:nvPr/>
        </p:nvCxnSpPr>
        <p:spPr>
          <a:xfrm>
            <a:off x="2286000" y="4306824"/>
            <a:ext cx="720089" cy="0"/>
          </a:xfrm>
          <a:prstGeom prst="line">
            <a:avLst/>
          </a:prstGeom>
          <a:ln w="22225">
            <a:solidFill>
              <a:srgbClr val="3B2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652009" y="4306824"/>
            <a:ext cx="720089" cy="0"/>
          </a:xfrm>
          <a:prstGeom prst="line">
            <a:avLst/>
          </a:prstGeom>
          <a:ln w="28575">
            <a:solidFill>
              <a:srgbClr val="2F7DE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4705730" y="4014215"/>
            <a:ext cx="608471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2F7DE1"/>
                </a:solidFill>
                <a:latin typeface="Noto Sans KR"/>
                <a:ea typeface="Noto Sans KR"/>
              </a:rPr>
              <a:t>예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018019" y="4306824"/>
            <a:ext cx="720089" cy="0"/>
          </a:xfrm>
          <a:prstGeom prst="line">
            <a:avLst/>
          </a:prstGeom>
          <a:ln w="28575">
            <a:solidFill>
              <a:srgbClr val="2F7DE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7071740" y="4014215"/>
            <a:ext cx="608471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2F7DE1"/>
                </a:solidFill>
                <a:latin typeface="Noto Sans KR"/>
                <a:ea typeface="Noto Sans KR"/>
              </a:rPr>
              <a:t>예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201149" y="4306824"/>
            <a:ext cx="720089" cy="0"/>
          </a:xfrm>
          <a:prstGeom prst="line">
            <a:avLst/>
          </a:prstGeom>
          <a:ln w="22225">
            <a:solidFill>
              <a:srgbClr val="3B2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829050" y="4764024"/>
            <a:ext cx="0" cy="333756"/>
          </a:xfrm>
          <a:prstGeom prst="line">
            <a:avLst/>
          </a:prstGeom>
          <a:ln w="28575">
            <a:solidFill>
              <a:srgbClr val="E539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3856482" y="4745736"/>
            <a:ext cx="608471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E53935"/>
                </a:solidFill>
                <a:latin typeface="Noto Sans KR"/>
                <a:ea typeface="Noto Sans KR"/>
              </a:rPr>
              <a:t>아니오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195059" y="4764024"/>
            <a:ext cx="0" cy="333756"/>
          </a:xfrm>
          <a:prstGeom prst="line">
            <a:avLst/>
          </a:prstGeom>
          <a:ln w="28575">
            <a:solidFill>
              <a:srgbClr val="E539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6222492" y="4745736"/>
            <a:ext cx="608471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00" b="1">
                <a:solidFill>
                  <a:srgbClr val="E53935"/>
                </a:solidFill>
                <a:latin typeface="Noto Sans KR"/>
                <a:ea typeface="Noto Sans KR"/>
              </a:rPr>
              <a:t>아니오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926579" y="5440680"/>
            <a:ext cx="1543050" cy="0"/>
          </a:xfrm>
          <a:prstGeom prst="line">
            <a:avLst/>
          </a:prstGeom>
          <a:ln w="22225">
            <a:solidFill>
              <a:srgbClr val="3B2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469630" y="4649724"/>
            <a:ext cx="0" cy="790956"/>
          </a:xfrm>
          <a:prstGeom prst="line">
            <a:avLst/>
          </a:prstGeom>
          <a:ln w="22225">
            <a:solidFill>
              <a:srgbClr val="3B2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9639" y="5586984"/>
            <a:ext cx="304234" cy="0"/>
          </a:xfrm>
          <a:prstGeom prst="line">
            <a:avLst/>
          </a:prstGeom>
          <a:ln w="28575">
            <a:solidFill>
              <a:srgbClr val="2F7DE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10149952" y="5477256"/>
            <a:ext cx="478084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000" b="1">
                <a:solidFill>
                  <a:srgbClr val="2F7DE1"/>
                </a:solidFill>
                <a:latin typeface="Noto Sans KR"/>
                <a:ea typeface="Noto Sans KR"/>
              </a:rPr>
              <a:t>예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0688884" y="5586984"/>
            <a:ext cx="304234" cy="0"/>
          </a:xfrm>
          <a:prstGeom prst="line">
            <a:avLst/>
          </a:prstGeom>
          <a:ln w="28575">
            <a:solidFill>
              <a:srgbClr val="E539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11019197" y="5477256"/>
            <a:ext cx="478084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1000" b="1">
                <a:solidFill>
                  <a:srgbClr val="E53935"/>
                </a:solidFill>
                <a:latin typeface="Noto Sans KR"/>
                <a:ea typeface="Noto Sans KR"/>
              </a:rPr>
              <a:t>아니오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77240" y="3024512"/>
            <a:ext cx="13716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l"/>
            <a:r>
              <a:rPr sz="1600" b="1" dirty="0" err="1">
                <a:solidFill>
                  <a:srgbClr val="EC5A8C"/>
                </a:solidFill>
                <a:latin typeface="Noto Sans KR"/>
                <a:ea typeface="Noto Sans KR"/>
              </a:rPr>
              <a:t>힌트</a:t>
            </a:r>
            <a:r>
              <a:rPr sz="1600" b="1" dirty="0">
                <a:solidFill>
                  <a:srgbClr val="EC5A8C"/>
                </a:solidFill>
                <a:latin typeface="Noto Sans KR"/>
                <a:ea typeface="Noto Sans KR"/>
              </a:rPr>
              <a:t> </a:t>
            </a:r>
            <a:r>
              <a:rPr sz="1600" b="1" dirty="0" err="1">
                <a:solidFill>
                  <a:srgbClr val="EC5A8C"/>
                </a:solidFill>
                <a:latin typeface="Noto Sans KR"/>
                <a:ea typeface="Noto Sans KR"/>
              </a:rPr>
              <a:t>동작</a:t>
            </a:r>
            <a:endParaRPr sz="1600" b="1" dirty="0">
              <a:solidFill>
                <a:srgbClr val="EC5A8C"/>
              </a:solidFill>
              <a:latin typeface="Noto Sans KR"/>
              <a:ea typeface="Noto Sans KR"/>
            </a:endParaRPr>
          </a:p>
        </p:txBody>
      </p:sp>
      <p:sp>
        <p:nvSpPr>
          <p:cNvPr id="34" name="Shape 4"/>
          <p:cNvSpPr/>
          <p:nvPr/>
        </p:nvSpPr>
        <p:spPr>
          <a:xfrm>
            <a:off x="548640" y="1280160"/>
            <a:ext cx="3611880" cy="1097280"/>
          </a:xfrm>
          <a:prstGeom prst="rect">
            <a:avLst/>
          </a:prstGeom>
          <a:solidFill>
            <a:srgbClr val="F0F8FF"/>
          </a:solidFill>
          <a:ln w="12700">
            <a:solidFill>
              <a:srgbClr val="FAF8F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3" name="icon-되돌리기" descr="C:/Users/user/Desktop/창고/기획서/images/codex/deck/icon_un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27048"/>
            <a:ext cx="603504" cy="603504"/>
          </a:xfrm>
          <a:prstGeom prst="rect">
            <a:avLst/>
          </a:prstGeom>
        </p:spPr>
      </p:pic>
      <p:sp>
        <p:nvSpPr>
          <p:cNvPr id="44" name="Text 5"/>
          <p:cNvSpPr txBox="1"/>
          <p:nvPr/>
        </p:nvSpPr>
        <p:spPr>
          <a:xfrm>
            <a:off x="1371600" y="1389887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B2F57"/>
                </a:solidFill>
              </a:rPr>
              <a:t>되돌리기</a:t>
            </a:r>
            <a:endParaRPr lang="en-US" sz="1600" dirty="0"/>
          </a:p>
        </p:txBody>
      </p:sp>
      <p:sp>
        <p:nvSpPr>
          <p:cNvPr id="46" name="Text 6"/>
          <p:cNvSpPr/>
          <p:nvPr/>
        </p:nvSpPr>
        <p:spPr>
          <a:xfrm>
            <a:off x="2834640" y="1389887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5A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5A8C"/>
                </a:solidFill>
              </a:rPr>
              <a:t>무제한</a:t>
            </a:r>
            <a:endParaRPr lang="en-US" sz="1200" dirty="0"/>
          </a:p>
        </p:txBody>
      </p:sp>
      <p:sp>
        <p:nvSpPr>
          <p:cNvPr id="48" name="Text 7"/>
          <p:cNvSpPr txBox="1"/>
          <p:nvPr/>
        </p:nvSpPr>
        <p:spPr>
          <a:xfrm>
            <a:off x="1371600" y="1783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B2F57"/>
                </a:solidFill>
              </a:rPr>
              <a:t>마지막 이동 1회 취소, 시작 칸에서 비활성</a:t>
            </a:r>
            <a:endParaRPr lang="en-US" sz="1600" dirty="0"/>
          </a:p>
        </p:txBody>
      </p:sp>
      <p:sp>
        <p:nvSpPr>
          <p:cNvPr id="50" name="Shape 8"/>
          <p:cNvSpPr/>
          <p:nvPr/>
        </p:nvSpPr>
        <p:spPr>
          <a:xfrm>
            <a:off x="4297679" y="1280160"/>
            <a:ext cx="3611880" cy="1097280"/>
          </a:xfrm>
          <a:prstGeom prst="rect">
            <a:avLst/>
          </a:prstGeom>
          <a:solidFill>
            <a:srgbClr val="FAF8FD"/>
          </a:solidFill>
          <a:ln w="12700">
            <a:solidFill>
              <a:srgbClr val="FAF8F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5" name="icon-다시하기" descr="C:/Users/user/Desktop/창고/기획서/images/codex/deck/icon_re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7" y="1527048"/>
            <a:ext cx="603504" cy="603504"/>
          </a:xfrm>
          <a:prstGeom prst="rect">
            <a:avLst/>
          </a:prstGeom>
        </p:spPr>
      </p:pic>
      <p:sp>
        <p:nvSpPr>
          <p:cNvPr id="76" name="Text 9"/>
          <p:cNvSpPr txBox="1"/>
          <p:nvPr/>
        </p:nvSpPr>
        <p:spPr>
          <a:xfrm>
            <a:off x="5120640" y="1389887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B2F57"/>
                </a:solidFill>
              </a:rPr>
              <a:t>다시하기</a:t>
            </a:r>
            <a:endParaRPr lang="en-US" sz="1600" dirty="0"/>
          </a:p>
        </p:txBody>
      </p:sp>
      <p:sp>
        <p:nvSpPr>
          <p:cNvPr id="77" name="Text 10"/>
          <p:cNvSpPr/>
          <p:nvPr/>
        </p:nvSpPr>
        <p:spPr>
          <a:xfrm>
            <a:off x="6583679" y="1389887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5A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EC5A8C"/>
                </a:solidFill>
              </a:rPr>
              <a:t>무제한</a:t>
            </a:r>
            <a:endParaRPr lang="en-US" sz="1200" dirty="0"/>
          </a:p>
        </p:txBody>
      </p:sp>
      <p:sp>
        <p:nvSpPr>
          <p:cNvPr id="78" name="Text 11"/>
          <p:cNvSpPr txBox="1"/>
          <p:nvPr/>
        </p:nvSpPr>
        <p:spPr>
          <a:xfrm>
            <a:off x="5120640" y="1783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B2F57"/>
                </a:solidFill>
              </a:rPr>
              <a:t>스테이지 초기 상태로 복귀, 보유 힌트 유지</a:t>
            </a:r>
            <a:endParaRPr lang="en-US" sz="1600" dirty="0"/>
          </a:p>
        </p:txBody>
      </p:sp>
      <p:sp>
        <p:nvSpPr>
          <p:cNvPr id="79" name="Shape 12"/>
          <p:cNvSpPr/>
          <p:nvPr/>
        </p:nvSpPr>
        <p:spPr>
          <a:xfrm>
            <a:off x="8046719" y="1280160"/>
            <a:ext cx="3611880" cy="1097280"/>
          </a:xfrm>
          <a:prstGeom prst="rect">
            <a:avLst/>
          </a:prstGeom>
          <a:solidFill>
            <a:srgbClr val="FFF8E3"/>
          </a:solidFill>
          <a:ln w="12700">
            <a:solidFill>
              <a:srgbClr val="FFF8E3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0" name="icon-힌트" descr="C:/Users/user/Desktop/창고/기획서/images/codex/deck/icon_h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47" y="1527048"/>
            <a:ext cx="603504" cy="603504"/>
          </a:xfrm>
          <a:prstGeom prst="rect">
            <a:avLst/>
          </a:prstGeom>
        </p:spPr>
      </p:pic>
      <p:sp>
        <p:nvSpPr>
          <p:cNvPr id="81" name="Text 13"/>
          <p:cNvSpPr txBox="1"/>
          <p:nvPr/>
        </p:nvSpPr>
        <p:spPr>
          <a:xfrm>
            <a:off x="8869680" y="1389887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B2F57"/>
                </a:solidFill>
              </a:rPr>
              <a:t>힌트</a:t>
            </a:r>
            <a:endParaRPr lang="en-US" sz="1600" dirty="0"/>
          </a:p>
        </p:txBody>
      </p:sp>
      <p:sp>
        <p:nvSpPr>
          <p:cNvPr id="82" name="Text 14"/>
          <p:cNvSpPr/>
          <p:nvPr/>
        </p:nvSpPr>
        <p:spPr>
          <a:xfrm>
            <a:off x="10332719" y="1389887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5A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5A8C"/>
                </a:solidFill>
              </a:rPr>
              <a:t>기본 5개</a:t>
            </a:r>
            <a:endParaRPr lang="en-US" sz="1200" dirty="0"/>
          </a:p>
        </p:txBody>
      </p:sp>
      <p:sp>
        <p:nvSpPr>
          <p:cNvPr id="83" name="Text 15"/>
          <p:cNvSpPr txBox="1"/>
          <p:nvPr/>
        </p:nvSpPr>
        <p:spPr>
          <a:xfrm>
            <a:off x="8869680" y="1783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B2F57"/>
                </a:solidFill>
              </a:rPr>
              <a:t>다음 칸 금색 별 표시, 정답 없으면 자동 되돌림 후 표시</a:t>
            </a:r>
            <a:endParaRPr lang="en-US" sz="1600" dirty="0"/>
          </a:p>
          <a:p>
            <a:pPr marL="0" indent="0">
              <a:buNone/>
            </a:pPr>
            <a:r>
              <a:rPr lang="en-US" sz="1000" dirty="0">
                <a:solidFill>
                  <a:srgbClr val="3B2F57"/>
                </a:solidFill>
              </a:rPr>
              <a:t>첫 클리어 시 +1, 0개일 때 광고 시청으로 +1</a:t>
            </a:r>
            <a:endParaRPr lang="en-US" sz="1600" dirty="0"/>
          </a:p>
        </p:txBody>
      </p:sp>
      <p:pic>
        <p:nvPicPr>
          <p:cNvPr id="45" name="picto-star" descr="C:/Users/user/Desktop/창고/기획서/images/picto/deck/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7797" y="3717036"/>
            <a:ext cx="391160" cy="411480"/>
          </a:xfrm>
          <a:prstGeom prst="rect">
            <a:avLst/>
          </a:prstGeom>
        </p:spPr>
      </p:pic>
      <p:pic>
        <p:nvPicPr>
          <p:cNvPr id="47" name="picto-rewind" descr="C:/Users/user/Desktop/창고/기획서/images/picto/deck/rewi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4083" y="4869180"/>
            <a:ext cx="391160" cy="411480"/>
          </a:xfrm>
          <a:prstGeom prst="rect">
            <a:avLst/>
          </a:prstGeom>
        </p:spPr>
      </p:pic>
      <p:pic>
        <p:nvPicPr>
          <p:cNvPr id="49" name="picto-bubble" descr="C:/Users/user/Desktop/창고/기획서/images/picto/deck/bubb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8074" y="4869180"/>
            <a:ext cx="39116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600" b="1" dirty="0">
                <a:solidFill>
                  <a:srgbClr val="EC5A8C"/>
                </a:solidFill>
              </a:rPr>
              <a:t>03</a:t>
            </a:r>
            <a:endParaRPr lang="en-US" sz="96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063240"/>
            <a:ext cx="6949440" cy="914400"/>
          </a:xfrm>
          <a:prstGeom prst="rect">
            <a:avLst/>
          </a:prstGeom>
          <a:noFill/>
          <a:ln>
            <a:solidFill>
              <a:srgbClr val="FFF5F8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B2F57"/>
                </a:solidFill>
              </a:rPr>
              <a:t>화면</a:t>
            </a:r>
            <a:endParaRPr lang="en-US" sz="4000" dirty="0"/>
          </a:p>
        </p:txBody>
      </p:sp>
      <p:sp>
        <p:nvSpPr>
          <p:cNvPr id="5" name="chapter-card"/>
          <p:cNvSpPr/>
          <p:nvPr/>
        </p:nvSpPr>
        <p:spPr>
          <a:xfrm>
            <a:off x="7635240" y="1051560"/>
            <a:ext cx="4023360" cy="4023360"/>
          </a:xfrm>
          <a:prstGeom prst="rect">
            <a:avLst/>
          </a:prstGeom>
          <a:solidFill>
            <a:srgbClr val="FFFFFF"/>
          </a:solidFill>
          <a:ln w="31750">
            <a:solidFill>
              <a:srgbClr val="F9CFD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chapter-art" descr="C:/Users/user/Desktop/창고/기획서/images/codex/deck/section_05_scre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188720"/>
            <a:ext cx="3749040" cy="3749040"/>
          </a:xfrm>
          <a:prstGeom prst="rect">
            <a:avLst/>
          </a:prstGeom>
        </p:spPr>
      </p:pic>
      <p:pic>
        <p:nvPicPr>
          <p:cNvPr id="13" name="picto-toc_screen" descr="C:/Users/user/Desktop/창고/기획서/images/picto/deck/toc_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1755648"/>
            <a:ext cx="960120" cy="960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4160520"/>
            <a:ext cx="5852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EC5A8C"/>
                </a:solidFill>
                <a:latin typeface="Noto Sans KR"/>
                <a:ea typeface="Noto Sans KR"/>
              </a:rPr>
              <a:t>3.1</a:t>
            </a:r>
            <a:r>
              <a:rPr sz="1600" b="0">
                <a:solidFill>
                  <a:srgbClr val="3B2F57"/>
                </a:solidFill>
                <a:latin typeface="Noto Sans KR"/>
                <a:ea typeface="Noto Sans KR"/>
              </a:rPr>
              <a:t>      UX 구조도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4553712"/>
            <a:ext cx="5852160" cy="0"/>
          </a:xfrm>
          <a:prstGeom prst="line">
            <a:avLst/>
          </a:prstGeom>
          <a:ln w="12700">
            <a:solidFill>
              <a:srgbClr val="F9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4553712"/>
            <a:ext cx="5852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EC5A8C"/>
                </a:solidFill>
                <a:latin typeface="Noto Sans KR"/>
                <a:ea typeface="Noto Sans KR"/>
              </a:rPr>
              <a:t>3.2</a:t>
            </a:r>
            <a:r>
              <a:rPr sz="1600" b="0">
                <a:solidFill>
                  <a:srgbClr val="3B2F57"/>
                </a:solidFill>
                <a:latin typeface="Noto Sans KR"/>
                <a:ea typeface="Noto Sans KR"/>
              </a:rPr>
              <a:t>      화면 명세 (인게임)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4946903"/>
            <a:ext cx="5852160" cy="0"/>
          </a:xfrm>
          <a:prstGeom prst="line">
            <a:avLst/>
          </a:prstGeom>
          <a:ln w="12700">
            <a:solidFill>
              <a:srgbClr val="F9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4946904"/>
            <a:ext cx="5852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EC5A8C"/>
                </a:solidFill>
                <a:latin typeface="Noto Sans KR"/>
                <a:ea typeface="Noto Sans KR"/>
              </a:rPr>
              <a:t>3.3</a:t>
            </a:r>
            <a:r>
              <a:rPr sz="1600" b="0">
                <a:solidFill>
                  <a:srgbClr val="3B2F57"/>
                </a:solidFill>
                <a:latin typeface="Noto Sans KR"/>
                <a:ea typeface="Noto Sans KR"/>
              </a:rPr>
              <a:t>      화면 명세 (클리어 팝업)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5340096"/>
            <a:ext cx="5852160" cy="0"/>
          </a:xfrm>
          <a:prstGeom prst="line">
            <a:avLst/>
          </a:prstGeom>
          <a:ln w="12700">
            <a:solidFill>
              <a:srgbClr val="F9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5340096"/>
            <a:ext cx="5852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EC5A8C"/>
                </a:solidFill>
                <a:latin typeface="Noto Sans KR"/>
                <a:ea typeface="Noto Sans KR"/>
              </a:rPr>
              <a:t>3.4</a:t>
            </a:r>
            <a:r>
              <a:rPr sz="1600" b="0">
                <a:solidFill>
                  <a:srgbClr val="3B2F57"/>
                </a:solidFill>
                <a:latin typeface="Noto Sans KR"/>
                <a:ea typeface="Noto Sans KR"/>
              </a:rPr>
              <a:t>      화면 명세 (광고 시청 팝업)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5733288"/>
            <a:ext cx="5852160" cy="0"/>
          </a:xfrm>
          <a:prstGeom prst="line">
            <a:avLst/>
          </a:prstGeom>
          <a:ln w="12700">
            <a:solidFill>
              <a:srgbClr val="F9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48640" y="4160520"/>
            <a:ext cx="5852160" cy="0"/>
          </a:xfrm>
          <a:prstGeom prst="line">
            <a:avLst/>
          </a:prstGeom>
          <a:ln w="12700">
            <a:solidFill>
              <a:srgbClr val="F9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화면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dirty="0" err="1"/>
              <a:t>3.1 UX 구조도</a:t>
            </a:r>
            <a:endParaRPr lang="en-US" sz="2600" dirty="0"/>
          </a:p>
        </p:txBody>
      </p:sp>
      <p:sp>
        <p:nvSpPr>
          <p:cNvPr id="6" name="Rectangle 5"/>
          <p:cNvSpPr/>
          <p:nvPr/>
        </p:nvSpPr>
        <p:spPr>
          <a:xfrm>
            <a:off x="2655377" y="1452572"/>
            <a:ext cx="2198254" cy="4310303"/>
          </a:xfrm>
          <a:prstGeom prst="rect">
            <a:avLst/>
          </a:prstGeom>
          <a:solidFill>
            <a:srgbClr val="3B2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480" y="1495675"/>
            <a:ext cx="2112048" cy="42240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8782" y="1280160"/>
            <a:ext cx="1293090" cy="2499975"/>
          </a:xfrm>
          <a:prstGeom prst="rect">
            <a:avLst/>
          </a:prstGeom>
          <a:solidFill>
            <a:srgbClr val="3B2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886" y="1323263"/>
            <a:ext cx="1206884" cy="241376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008782" y="3866341"/>
            <a:ext cx="1293090" cy="2499975"/>
          </a:xfrm>
          <a:prstGeom prst="rect">
            <a:avLst/>
          </a:prstGeom>
          <a:solidFill>
            <a:srgbClr val="3B2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1886" y="3909443"/>
            <a:ext cx="1206884" cy="241376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819159" y="5762875"/>
            <a:ext cx="1120678" cy="2586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l"/>
            <a:r>
              <a:rPr sz="1200" b="1">
                <a:solidFill>
                  <a:srgbClr val="3B2F57"/>
                </a:solidFill>
                <a:latin typeface="Noto Sans KR"/>
                <a:ea typeface="Noto Sans KR"/>
              </a:rPr>
              <a:t>인게임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44977" y="2357735"/>
            <a:ext cx="1206884" cy="2586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l"/>
            <a:r>
              <a:rPr sz="1200" b="1">
                <a:solidFill>
                  <a:srgbClr val="3B2F57"/>
                </a:solidFill>
                <a:latin typeface="Noto Sans KR"/>
                <a:ea typeface="Noto Sans KR"/>
              </a:rPr>
              <a:t>클리어 팝업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44977" y="4943917"/>
            <a:ext cx="1206884" cy="2586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l"/>
            <a:r>
              <a:rPr sz="1200" b="1">
                <a:solidFill>
                  <a:srgbClr val="3B2F57"/>
                </a:solidFill>
                <a:latin typeface="Noto Sans KR"/>
                <a:ea typeface="Noto Sans KR"/>
              </a:rPr>
              <a:t>광고 시청 팝업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53632" y="2099117"/>
            <a:ext cx="2155151" cy="0"/>
          </a:xfrm>
          <a:prstGeom prst="line">
            <a:avLst/>
          </a:prstGeom>
          <a:ln w="25400">
            <a:solidFill>
              <a:srgbClr val="2F7BEA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026044" y="2102937"/>
            <a:ext cx="1810327" cy="2586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800" b="1" dirty="0">
                <a:solidFill>
                  <a:srgbClr val="6E6487"/>
                </a:solidFill>
                <a:latin typeface="Noto Sans KR"/>
                <a:ea typeface="Noto Sans KR"/>
              </a:rPr>
              <a:t>성 </a:t>
            </a:r>
            <a:r>
              <a:rPr sz="800" b="1" dirty="0" err="1">
                <a:solidFill>
                  <a:srgbClr val="6E6487"/>
                </a:solidFill>
                <a:latin typeface="Noto Sans KR"/>
                <a:ea typeface="Noto Sans KR"/>
              </a:rPr>
              <a:t>도착</a:t>
            </a:r>
            <a:r>
              <a:rPr lang="en-US" sz="800" b="1" dirty="0">
                <a:solidFill>
                  <a:srgbClr val="6E6487"/>
                </a:solidFill>
                <a:latin typeface="Noto Sans KR"/>
                <a:ea typeface="Noto Sans KR"/>
              </a:rPr>
              <a:t> </a:t>
            </a:r>
            <a:r>
              <a:rPr lang="ko-KR" altLang="en-US" sz="800" b="1" dirty="0">
                <a:solidFill>
                  <a:srgbClr val="6E6487"/>
                </a:solidFill>
                <a:latin typeface="Noto Sans KR"/>
                <a:ea typeface="Noto Sans KR"/>
              </a:rPr>
              <a:t>시 자동</a:t>
            </a:r>
            <a:r>
              <a:rPr sz="800" b="1" dirty="0">
                <a:solidFill>
                  <a:srgbClr val="6E6487"/>
                </a:solidFill>
                <a:latin typeface="Noto Sans KR"/>
                <a:ea typeface="Noto Sans KR"/>
              </a:rPr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953" y="2857902"/>
            <a:ext cx="862749" cy="177239"/>
          </a:xfrm>
          <a:prstGeom prst="rect">
            <a:avLst/>
          </a:prstGeom>
          <a:noFill/>
          <a:ln w="3175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 flipH="1">
            <a:off x="4853632" y="2946522"/>
            <a:ext cx="2370321" cy="0"/>
          </a:xfrm>
          <a:prstGeom prst="line">
            <a:avLst/>
          </a:prstGeom>
          <a:ln w="25400">
            <a:solidFill>
              <a:srgbClr val="2F7B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026044" y="2636181"/>
            <a:ext cx="1810327" cy="258618"/>
          </a:xfrm>
          <a:prstGeom prst="rect">
            <a:avLst/>
          </a:prstGeom>
          <a:noFill/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00" b="1" dirty="0" err="1">
                <a:solidFill>
                  <a:srgbClr val="3B2F57"/>
                </a:solidFill>
                <a:latin typeface="Noto Sans KR"/>
                <a:ea typeface="Noto Sans KR"/>
              </a:rPr>
              <a:t>다음</a:t>
            </a:r>
            <a:r>
              <a:rPr sz="1000" b="1" dirty="0">
                <a:solidFill>
                  <a:srgbClr val="3B2F57"/>
                </a:solidFill>
                <a:latin typeface="Noto Sans KR"/>
                <a:ea typeface="Noto Sans KR"/>
              </a:rPr>
              <a:t> </a:t>
            </a:r>
            <a:r>
              <a:rPr sz="1000" b="1" dirty="0" err="1">
                <a:solidFill>
                  <a:srgbClr val="3B2F57"/>
                </a:solidFill>
                <a:latin typeface="Noto Sans KR"/>
                <a:ea typeface="Noto Sans KR"/>
              </a:rPr>
              <a:t>스테이지</a:t>
            </a:r>
            <a:r>
              <a:rPr lang="ko-KR" altLang="en-US" sz="1000" b="1" dirty="0">
                <a:solidFill>
                  <a:srgbClr val="3B2F57"/>
                </a:solidFill>
                <a:latin typeface="Noto Sans KR"/>
                <a:ea typeface="Noto Sans KR"/>
              </a:rPr>
              <a:t>로 이동</a:t>
            </a:r>
            <a:endParaRPr sz="1000" b="1" dirty="0">
              <a:solidFill>
                <a:srgbClr val="3B2F57"/>
              </a:solidFill>
              <a:latin typeface="Noto Sans KR"/>
              <a:ea typeface="Noto Sans KR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223953" y="5165293"/>
            <a:ext cx="862749" cy="177239"/>
          </a:xfrm>
          <a:prstGeom prst="rect">
            <a:avLst/>
          </a:prstGeom>
          <a:noFill/>
          <a:ln w="3175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223953" y="5314947"/>
            <a:ext cx="862749" cy="177239"/>
          </a:xfrm>
          <a:prstGeom prst="rect">
            <a:avLst/>
          </a:prstGeom>
          <a:noFill/>
          <a:ln w="3175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" name="Connector 35"/>
          <p:cNvCxnSpPr/>
          <p:nvPr/>
        </p:nvCxnSpPr>
        <p:spPr>
          <a:xfrm flipH="1">
            <a:off x="4853632" y="5253914"/>
            <a:ext cx="2370321" cy="0"/>
          </a:xfrm>
          <a:prstGeom prst="line">
            <a:avLst/>
          </a:prstGeom>
          <a:ln w="25400">
            <a:solidFill>
              <a:srgbClr val="2F7B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4853632" y="5403568"/>
            <a:ext cx="2370321" cy="0"/>
          </a:xfrm>
          <a:prstGeom prst="line">
            <a:avLst/>
          </a:prstGeom>
          <a:ln w="25400">
            <a:solidFill>
              <a:srgbClr val="2F7B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3559678" y="5237707"/>
            <a:ext cx="389650" cy="474133"/>
          </a:xfrm>
          <a:prstGeom prst="rect">
            <a:avLst/>
          </a:prstGeom>
          <a:noFill/>
          <a:ln w="3175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3754504" y="5711840"/>
            <a:ext cx="0" cy="438961"/>
          </a:xfrm>
          <a:prstGeom prst="line">
            <a:avLst/>
          </a:prstGeom>
          <a:ln w="25400">
            <a:solidFill>
              <a:srgbClr val="2F7B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754504" y="6150802"/>
            <a:ext cx="3254278" cy="0"/>
          </a:xfrm>
          <a:prstGeom prst="line">
            <a:avLst/>
          </a:prstGeom>
          <a:ln w="25400">
            <a:solidFill>
              <a:srgbClr val="2F7B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026044" y="5849081"/>
            <a:ext cx="1810327" cy="258618"/>
          </a:xfrm>
          <a:prstGeom prst="rect">
            <a:avLst/>
          </a:prstGeom>
          <a:noFill/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endParaRPr sz="1000" b="1" dirty="0">
              <a:solidFill>
                <a:srgbClr val="3B2F57"/>
              </a:solidFill>
              <a:latin typeface="Noto Sans KR"/>
              <a:ea typeface="Noto Sans KR"/>
            </a:endParaRPr>
          </a:p>
        </p:txBody>
      </p:sp>
      <p:sp>
        <p:nvSpPr>
          <p:cNvPr id="55" name="Rectangle 31">
            <a:extLst>
              <a:ext uri="{FF2B5EF4-FFF2-40B4-BE49-F238E27FC236}">
                <a16:creationId xmlns:a16="http://schemas.microsoft.com/office/drawing/2014/main" id="{1F84D04B-2900-003B-4CCE-D8059BCA2631}"/>
              </a:ext>
            </a:extLst>
          </p:cNvPr>
          <p:cNvSpPr/>
          <p:nvPr/>
        </p:nvSpPr>
        <p:spPr>
          <a:xfrm>
            <a:off x="5026044" y="1788517"/>
            <a:ext cx="1810327" cy="258618"/>
          </a:xfrm>
          <a:prstGeom prst="rect">
            <a:avLst/>
          </a:prstGeom>
          <a:noFill/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lang="ko-KR" altLang="en-US" sz="1000" b="1" dirty="0">
                <a:solidFill>
                  <a:srgbClr val="3B2F57"/>
                </a:solidFill>
                <a:latin typeface="Noto Sans KR"/>
                <a:ea typeface="Noto Sans KR"/>
              </a:rPr>
              <a:t>팝업 출력</a:t>
            </a:r>
            <a:endParaRPr sz="1000" b="1" dirty="0">
              <a:solidFill>
                <a:srgbClr val="3B2F57"/>
              </a:solidFill>
              <a:latin typeface="Noto Sans KR"/>
              <a:ea typeface="Noto Sans KR"/>
            </a:endParaRPr>
          </a:p>
        </p:txBody>
      </p:sp>
      <p:sp>
        <p:nvSpPr>
          <p:cNvPr id="57" name="Rectangle 31">
            <a:extLst>
              <a:ext uri="{FF2B5EF4-FFF2-40B4-BE49-F238E27FC236}">
                <a16:creationId xmlns:a16="http://schemas.microsoft.com/office/drawing/2014/main" id="{592C31D1-CE0D-8560-6342-D1D2EB96CABE}"/>
              </a:ext>
            </a:extLst>
          </p:cNvPr>
          <p:cNvSpPr/>
          <p:nvPr/>
        </p:nvSpPr>
        <p:spPr>
          <a:xfrm>
            <a:off x="5047595" y="5892184"/>
            <a:ext cx="1810327" cy="258618"/>
          </a:xfrm>
          <a:prstGeom prst="rect">
            <a:avLst/>
          </a:prstGeom>
          <a:noFill/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lang="ko-KR" altLang="en-US" sz="1000" b="1" dirty="0">
                <a:solidFill>
                  <a:srgbClr val="3B2F57"/>
                </a:solidFill>
                <a:latin typeface="Noto Sans KR"/>
                <a:ea typeface="Noto Sans KR"/>
              </a:rPr>
              <a:t>팝업 출력</a:t>
            </a:r>
            <a:endParaRPr sz="1000" b="1" dirty="0">
              <a:solidFill>
                <a:srgbClr val="3B2F57"/>
              </a:solidFill>
              <a:latin typeface="Noto Sans KR"/>
              <a:ea typeface="Noto Sans KR"/>
            </a:endParaRPr>
          </a:p>
        </p:txBody>
      </p:sp>
      <p:sp>
        <p:nvSpPr>
          <p:cNvPr id="59" name="Rectangle 31">
            <a:extLst>
              <a:ext uri="{FF2B5EF4-FFF2-40B4-BE49-F238E27FC236}">
                <a16:creationId xmlns:a16="http://schemas.microsoft.com/office/drawing/2014/main" id="{582F8309-7C70-9B9B-C3E4-95FE58E160E1}"/>
              </a:ext>
            </a:extLst>
          </p:cNvPr>
          <p:cNvSpPr/>
          <p:nvPr/>
        </p:nvSpPr>
        <p:spPr>
          <a:xfrm>
            <a:off x="5047595" y="5418050"/>
            <a:ext cx="1810327" cy="258618"/>
          </a:xfrm>
          <a:prstGeom prst="rect">
            <a:avLst/>
          </a:prstGeom>
          <a:noFill/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lang="ko-KR" altLang="en-US" sz="1000" b="1" dirty="0">
                <a:solidFill>
                  <a:srgbClr val="3B2F57"/>
                </a:solidFill>
                <a:latin typeface="Noto Sans KR"/>
                <a:ea typeface="Noto Sans KR"/>
              </a:rPr>
              <a:t>변화 없음</a:t>
            </a:r>
            <a:endParaRPr sz="1000" b="1" dirty="0">
              <a:solidFill>
                <a:srgbClr val="3B2F57"/>
              </a:solidFill>
              <a:latin typeface="Noto Sans KR"/>
              <a:ea typeface="Noto Sans KR"/>
            </a:endParaRPr>
          </a:p>
        </p:txBody>
      </p:sp>
      <p:sp>
        <p:nvSpPr>
          <p:cNvPr id="61" name="Rectangle 31">
            <a:extLst>
              <a:ext uri="{FF2B5EF4-FFF2-40B4-BE49-F238E27FC236}">
                <a16:creationId xmlns:a16="http://schemas.microsoft.com/office/drawing/2014/main" id="{25F5BA3D-F3BF-DD47-E011-8BC85B629B56}"/>
              </a:ext>
            </a:extLst>
          </p:cNvPr>
          <p:cNvSpPr/>
          <p:nvPr/>
        </p:nvSpPr>
        <p:spPr>
          <a:xfrm>
            <a:off x="5026044" y="4943284"/>
            <a:ext cx="1810327" cy="258618"/>
          </a:xfrm>
          <a:prstGeom prst="rect">
            <a:avLst/>
          </a:prstGeom>
          <a:noFill/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lang="ko-KR" altLang="en-US" sz="1000" b="1" dirty="0">
                <a:solidFill>
                  <a:srgbClr val="3B2F57"/>
                </a:solidFill>
                <a:latin typeface="Noto Sans KR"/>
                <a:ea typeface="Noto Sans KR"/>
              </a:rPr>
              <a:t>광고 </a:t>
            </a:r>
            <a:r>
              <a:rPr lang="ko-KR" altLang="en-US" sz="1000" b="1" dirty="0" err="1">
                <a:solidFill>
                  <a:srgbClr val="3B2F57"/>
                </a:solidFill>
                <a:latin typeface="Noto Sans KR"/>
                <a:ea typeface="Noto Sans KR"/>
              </a:rPr>
              <a:t>재생후</a:t>
            </a:r>
            <a:r>
              <a:rPr lang="ko-KR" altLang="en-US" sz="1000" b="1" dirty="0">
                <a:solidFill>
                  <a:srgbClr val="3B2F57"/>
                </a:solidFill>
                <a:latin typeface="Noto Sans KR"/>
                <a:ea typeface="Noto Sans KR"/>
              </a:rPr>
              <a:t> 힌트</a:t>
            </a:r>
            <a:r>
              <a:rPr lang="en-US" altLang="ko-KR" sz="1000" b="1" dirty="0">
                <a:solidFill>
                  <a:srgbClr val="3B2F57"/>
                </a:solidFill>
                <a:latin typeface="Noto Sans KR"/>
                <a:ea typeface="Noto Sans KR"/>
              </a:rPr>
              <a:t>+1</a:t>
            </a:r>
            <a:endParaRPr sz="1000" b="1" dirty="0">
              <a:solidFill>
                <a:srgbClr val="3B2F57"/>
              </a:solidFill>
              <a:latin typeface="Noto Sans KR"/>
              <a:ea typeface="Noto Sans KR"/>
            </a:endParaRPr>
          </a:p>
        </p:txBody>
      </p:sp>
      <p:sp>
        <p:nvSpPr>
          <p:cNvPr id="63" name="Rectangle 32">
            <a:extLst>
              <a:ext uri="{FF2B5EF4-FFF2-40B4-BE49-F238E27FC236}">
                <a16:creationId xmlns:a16="http://schemas.microsoft.com/office/drawing/2014/main" id="{02F534CB-53F2-56F5-F8EE-D50CE6DFA1B5}"/>
              </a:ext>
            </a:extLst>
          </p:cNvPr>
          <p:cNvSpPr/>
          <p:nvPr/>
        </p:nvSpPr>
        <p:spPr>
          <a:xfrm>
            <a:off x="4853632" y="6193905"/>
            <a:ext cx="2112048" cy="20689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lang="ko-KR" altLang="en-US" sz="800" b="1" dirty="0">
                <a:solidFill>
                  <a:srgbClr val="6E6487"/>
                </a:solidFill>
                <a:latin typeface="Noto Sans KR"/>
                <a:ea typeface="Noto Sans KR"/>
              </a:rPr>
              <a:t>힌트개수</a:t>
            </a:r>
            <a:r>
              <a:rPr lang="en-US" altLang="ko-KR" sz="800" b="1" dirty="0">
                <a:solidFill>
                  <a:srgbClr val="6E6487"/>
                </a:solidFill>
                <a:latin typeface="Noto Sans KR"/>
                <a:ea typeface="Noto Sans KR"/>
              </a:rPr>
              <a:t>&lt;=0 </a:t>
            </a:r>
            <a:r>
              <a:rPr lang="ko-KR" altLang="en-US" sz="800" b="1" dirty="0" err="1">
                <a:solidFill>
                  <a:srgbClr val="6E6487"/>
                </a:solidFill>
                <a:latin typeface="Noto Sans KR"/>
                <a:ea typeface="Noto Sans KR"/>
              </a:rPr>
              <a:t>일때</a:t>
            </a:r>
            <a:endParaRPr sz="800" b="1" dirty="0">
              <a:solidFill>
                <a:srgbClr val="6E6487"/>
              </a:solidFill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화면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2600" dirty="0" err="1"/>
              <a:t>3.2 화면 명세 (인게임)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84787" y="1343874"/>
            <a:ext cx="2592358" cy="5056925"/>
          </a:xfrm>
          <a:prstGeom prst="rect">
            <a:avLst/>
          </a:prstGeom>
          <a:solidFill>
            <a:srgbClr val="3B2F57"/>
          </a:solidFill>
          <a:ln w="12700">
            <a:solidFill>
              <a:srgbClr val="3B2F5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C:/Users/user/Desktop/창고/기획서/images/s10_pro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83" y="1407770"/>
            <a:ext cx="2464566" cy="4929133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077062"/>
              </p:ext>
            </p:extLst>
          </p:nvPr>
        </p:nvGraphicFramePr>
        <p:xfrm>
          <a:off x="3752212" y="1407770"/>
          <a:ext cx="7667538" cy="3533349"/>
        </p:xfrm>
        <a:graphic>
          <a:graphicData uri="http://schemas.openxmlformats.org/drawingml/2006/table">
            <a:tbl>
              <a:tblPr/>
              <a:tblGrid>
                <a:gridCol w="547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5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3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5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번호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이름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기능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현재 스테이지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텍스트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현재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스테이지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번호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, 보드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크기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표시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 </a:t>
                      </a:r>
                      <a:r>
                        <a:rPr lang="en-US" altLang="ko-KR" sz="800" b="0" dirty="0" err="1">
                          <a:solidFill>
                            <a:srgbClr val="FF7FA8"/>
                          </a:solidFill>
                        </a:rPr>
                        <a:t>StageTable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</a:rPr>
                        <a:t>참조</a:t>
                      </a:r>
                      <a:endParaRPr lang="en-US" altLang="ko-KR" sz="800" b="0" dirty="0">
                        <a:solidFill>
                          <a:srgbClr val="FF7FA8"/>
                        </a:solidFill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진행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도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dirty="0" err="1">
                          <a:solidFill>
                            <a:srgbClr val="3B2F57"/>
                          </a:solidFill>
                        </a:rPr>
                        <a:t>프로그레스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 바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밟은 칸 / 전체 칸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표시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진행도에 따라 좌측에서 우측으로 진행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종료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버튼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버튼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탭 시 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앱 종료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종료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시 진행 상황 저장 후 창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닫기</a:t>
                      </a:r>
                      <a:endParaRPr lang="en-US" sz="1200" dirty="0">
                        <a:solidFill>
                          <a:srgbClr val="3B2F57"/>
                        </a:solidFill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3745659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초상화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이미지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기사의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현재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표정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을 초상화로 표시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말풍선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텍스트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상황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에 따라 안내문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표시 </a:t>
                      </a:r>
                      <a:r>
                        <a:rPr lang="en-US" altLang="ko-KR" sz="800" b="0" dirty="0" err="1">
                          <a:solidFill>
                            <a:srgbClr val="FF7FA8"/>
                          </a:solidFill>
                          <a:latin typeface="+mn-lt"/>
                        </a:rPr>
                        <a:t>StringTable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  <a:latin typeface="+mn-lt"/>
                        </a:rPr>
                        <a:t>참조</a:t>
                      </a:r>
                      <a:endParaRPr lang="en-US" sz="800" dirty="0">
                        <a:solidFill>
                          <a:srgbClr val="FF7FA8"/>
                        </a:solidFill>
                        <a:latin typeface="+mn-lt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보드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패널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dirty="0"/>
                        <a:t>스테이지 퍼즐의 내용을 표시 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다시하기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버튼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dirty="0" err="1">
                          <a:solidFill>
                            <a:srgbClr val="3B2F57"/>
                          </a:solidFill>
                        </a:rPr>
                        <a:t>클릭시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스테이지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초기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상태로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복귀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, 보유 힌트 유지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힌트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버튼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dirty="0" err="1">
                          <a:solidFill>
                            <a:srgbClr val="3B2F57"/>
                          </a:solidFill>
                        </a:rPr>
                        <a:t>클릭시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 힌트 알고리즘 동작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우측 상단에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보유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힌트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수 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rgbClr val="3B2F57"/>
                          </a:solidFill>
                        </a:rPr>
                        <a:t>뱃지로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 표시</a:t>
                      </a:r>
                      <a:endParaRPr lang="en-US" sz="1200" dirty="0"/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0개 시 AD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뱃지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로 변경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, 탭 시 광고 시청 팝업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9</a:t>
                      </a: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되돌리기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버튼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마지막 이동 1회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취소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, 시작 칸에서 비활성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58584" y="1438805"/>
            <a:ext cx="684692" cy="282968"/>
          </a:xfrm>
          <a:prstGeom prst="rect">
            <a:avLst/>
          </a:prstGeom>
          <a:noFill/>
          <a:ln w="2540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1502701"/>
            <a:ext cx="182560" cy="155176"/>
          </a:xfrm>
          <a:prstGeom prst="rect">
            <a:avLst/>
          </a:prstGeom>
          <a:solidFill>
            <a:srgbClr val="2F7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46199" y="1453592"/>
            <a:ext cx="1310692" cy="253393"/>
          </a:xfrm>
          <a:prstGeom prst="rect">
            <a:avLst/>
          </a:prstGeom>
          <a:noFill/>
          <a:ln w="2540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446199" y="1280160"/>
            <a:ext cx="182560" cy="155176"/>
          </a:xfrm>
          <a:prstGeom prst="rect">
            <a:avLst/>
          </a:prstGeom>
          <a:solidFill>
            <a:srgbClr val="2F7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584" y="1744411"/>
            <a:ext cx="342118" cy="342118"/>
          </a:xfrm>
          <a:prstGeom prst="rect">
            <a:avLst/>
          </a:prstGeom>
          <a:noFill/>
          <a:ln w="2540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1837882"/>
            <a:ext cx="182560" cy="155176"/>
          </a:xfrm>
          <a:prstGeom prst="rect">
            <a:avLst/>
          </a:prstGeom>
          <a:solidFill>
            <a:srgbClr val="2F7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Noto Sans KR"/>
                <a:ea typeface="Noto Sans KR"/>
              </a:rPr>
              <a:t>4</a:t>
            </a:r>
            <a:endParaRPr sz="800" b="1" dirty="0">
              <a:solidFill>
                <a:srgbClr val="FFFFFF"/>
              </a:solidFill>
              <a:latin typeface="Noto Sans KR"/>
              <a:ea typeface="Noto Sans KR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13482" y="1759199"/>
            <a:ext cx="1889865" cy="312542"/>
          </a:xfrm>
          <a:prstGeom prst="rect">
            <a:avLst/>
          </a:prstGeom>
          <a:noFill/>
          <a:ln w="2540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30732" y="1837882"/>
            <a:ext cx="182560" cy="155176"/>
          </a:xfrm>
          <a:prstGeom prst="rect">
            <a:avLst/>
          </a:prstGeom>
          <a:solidFill>
            <a:srgbClr val="2F7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Noto Sans KR"/>
                <a:ea typeface="Noto Sans KR"/>
              </a:rPr>
              <a:t>5</a:t>
            </a:r>
            <a:endParaRPr sz="800" b="1" dirty="0">
              <a:solidFill>
                <a:srgbClr val="FFFFFF"/>
              </a:solidFill>
              <a:latin typeface="Noto Sans KR"/>
              <a:ea typeface="Noto Sans KR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02946" y="3548474"/>
            <a:ext cx="2156038" cy="2156038"/>
          </a:xfrm>
          <a:prstGeom prst="rect">
            <a:avLst/>
          </a:prstGeom>
          <a:noFill/>
          <a:ln w="2540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3002" y="4548906"/>
            <a:ext cx="182560" cy="155176"/>
          </a:xfrm>
          <a:prstGeom prst="rect">
            <a:avLst/>
          </a:prstGeom>
          <a:solidFill>
            <a:srgbClr val="2F7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Noto Sans KR"/>
                <a:ea typeface="Noto Sans KR"/>
              </a:rPr>
              <a:t>6</a:t>
            </a:r>
            <a:endParaRPr sz="800" b="1" dirty="0">
              <a:solidFill>
                <a:srgbClr val="FFFFFF"/>
              </a:solidFill>
              <a:latin typeface="Noto Sans KR"/>
              <a:ea typeface="Noto Sans KR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376734" y="4419516"/>
            <a:ext cx="182560" cy="155176"/>
          </a:xfrm>
          <a:prstGeom prst="rect">
            <a:avLst/>
          </a:prstGeom>
          <a:solidFill>
            <a:srgbClr val="2F7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Noto Sans KR"/>
                <a:ea typeface="Noto Sans KR"/>
              </a:rPr>
              <a:t>7</a:t>
            </a:r>
            <a:endParaRPr sz="800" b="1" dirty="0">
              <a:solidFill>
                <a:srgbClr val="FFFFFF"/>
              </a:solidFill>
              <a:latin typeface="Noto Sans KR"/>
              <a:ea typeface="Noto Sans KR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024757" y="5865167"/>
            <a:ext cx="411125" cy="450558"/>
          </a:xfrm>
          <a:prstGeom prst="rect">
            <a:avLst/>
          </a:prstGeom>
          <a:noFill/>
          <a:ln w="2540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4813" y="6012858"/>
            <a:ext cx="182560" cy="155176"/>
          </a:xfrm>
          <a:prstGeom prst="rect">
            <a:avLst/>
          </a:prstGeom>
          <a:solidFill>
            <a:srgbClr val="2F7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Noto Sans KR"/>
                <a:ea typeface="Noto Sans KR"/>
              </a:rPr>
              <a:t>7</a:t>
            </a:r>
            <a:endParaRPr sz="800" b="1" dirty="0">
              <a:solidFill>
                <a:srgbClr val="FFFFFF"/>
              </a:solidFill>
              <a:latin typeface="Noto Sans KR"/>
              <a:ea typeface="Noto Sans KR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665545" y="5786300"/>
            <a:ext cx="430841" cy="529425"/>
          </a:xfrm>
          <a:prstGeom prst="rect">
            <a:avLst/>
          </a:prstGeom>
          <a:noFill/>
          <a:ln w="2540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455600" y="5973424"/>
            <a:ext cx="182560" cy="155176"/>
          </a:xfrm>
          <a:prstGeom prst="rect">
            <a:avLst/>
          </a:prstGeom>
          <a:solidFill>
            <a:srgbClr val="2F7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Noto Sans KR"/>
                <a:ea typeface="Noto Sans KR"/>
              </a:rPr>
              <a:t>8</a:t>
            </a:r>
            <a:endParaRPr sz="800" b="1" dirty="0">
              <a:solidFill>
                <a:srgbClr val="FFFFFF"/>
              </a:solidFill>
              <a:latin typeface="Noto Sans KR"/>
              <a:ea typeface="Noto Sans KR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326049" y="5865167"/>
            <a:ext cx="411125" cy="450558"/>
          </a:xfrm>
          <a:prstGeom prst="rect">
            <a:avLst/>
          </a:prstGeom>
          <a:noFill/>
          <a:ln w="2540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116104" y="6012858"/>
            <a:ext cx="182560" cy="155176"/>
          </a:xfrm>
          <a:prstGeom prst="rect">
            <a:avLst/>
          </a:prstGeom>
          <a:solidFill>
            <a:srgbClr val="2F7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 dirty="0">
                <a:solidFill>
                  <a:srgbClr val="FFFFFF"/>
                </a:solidFill>
                <a:latin typeface="Noto Sans KR"/>
                <a:ea typeface="Noto Sans KR"/>
              </a:rPr>
              <a:t>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59813" y="1458521"/>
            <a:ext cx="243534" cy="243534"/>
          </a:xfrm>
          <a:prstGeom prst="rect">
            <a:avLst/>
          </a:prstGeom>
          <a:noFill/>
          <a:ln w="2540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59813" y="1285089"/>
            <a:ext cx="182560" cy="155176"/>
          </a:xfrm>
          <a:prstGeom prst="rect">
            <a:avLst/>
          </a:prstGeom>
          <a:solidFill>
            <a:srgbClr val="2F7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  <a:endParaRPr sz="800" b="1" dirty="0">
              <a:solidFill>
                <a:srgbClr val="FFFFFF"/>
              </a:solidFill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화면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2600" dirty="0"/>
              <a:t>3.3 화면 명세 (클리어 팝업)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84787" y="1343874"/>
            <a:ext cx="2592358" cy="5056925"/>
          </a:xfrm>
          <a:prstGeom prst="rect">
            <a:avLst/>
          </a:prstGeom>
          <a:solidFill>
            <a:srgbClr val="3B2F57"/>
          </a:solidFill>
          <a:ln w="12700">
            <a:solidFill>
              <a:srgbClr val="3B2F5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C:/Users/user/Desktop/창고/기획서/images/s3_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83" y="1407770"/>
            <a:ext cx="2464566" cy="4929133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194576"/>
              </p:ext>
            </p:extLst>
          </p:nvPr>
        </p:nvGraphicFramePr>
        <p:xfrm>
          <a:off x="3752212" y="1407770"/>
          <a:ext cx="7667538" cy="2443789"/>
        </p:xfrm>
        <a:graphic>
          <a:graphicData uri="http://schemas.openxmlformats.org/drawingml/2006/table">
            <a:tbl>
              <a:tblPr/>
              <a:tblGrid>
                <a:gridCol w="547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5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3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5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번호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이름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기능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클리어 일러스트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이미지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클리어 상태의 기사의 이미지 출력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제목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텍스트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"스테이지 N 클리어!"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표시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altLang="ko-KR" sz="800" b="0" dirty="0" err="1">
                          <a:solidFill>
                            <a:srgbClr val="FF7FA8"/>
                          </a:solidFill>
                        </a:rPr>
                        <a:t>StageTable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</a:rPr>
                        <a:t>참조</a:t>
                      </a:r>
                      <a:endParaRPr lang="en-US" sz="8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텍스트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밟은 칸 수, 성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도착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안내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altLang="ko-KR" sz="800" b="0" dirty="0" err="1">
                          <a:solidFill>
                            <a:srgbClr val="FF7FA8"/>
                          </a:solidFill>
                        </a:rPr>
                        <a:t>StageTable</a:t>
                      </a:r>
                      <a:r>
                        <a:rPr lang="en-US" altLang="ko-KR" sz="800" b="0" dirty="0">
                          <a:solidFill>
                            <a:srgbClr val="FF7FA8"/>
                          </a:solidFill>
                        </a:rPr>
                        <a:t>, </a:t>
                      </a:r>
                      <a:r>
                        <a:rPr lang="en-US" altLang="ko-KR" sz="800" b="0" dirty="0" err="1">
                          <a:solidFill>
                            <a:srgbClr val="FF7FA8"/>
                          </a:solidFill>
                          <a:latin typeface="+mn-lt"/>
                        </a:rPr>
                        <a:t>StringTable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  <a:latin typeface="+mn-lt"/>
                        </a:rPr>
                        <a:t>참조</a:t>
                      </a:r>
                      <a:endParaRPr lang="en-US" sz="8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기록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텍스트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되돌리기, 힌트 사용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횟수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표시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FF7FA8"/>
                          </a:solidFill>
                        </a:rPr>
                        <a:t>Player</a:t>
                      </a:r>
                      <a:r>
                        <a:rPr lang="en-US" altLang="ko-KR" sz="800" b="0" dirty="0" err="1">
                          <a:solidFill>
                            <a:srgbClr val="FF7FA8"/>
                          </a:solidFill>
                          <a:latin typeface="+mn-lt"/>
                        </a:rPr>
                        <a:t>Table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  <a:latin typeface="+mn-lt"/>
                        </a:rPr>
                        <a:t>참조</a:t>
                      </a:r>
                      <a:endParaRPr lang="en-US" sz="8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보상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텍스트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첫 클리어 시 "힌트 +1"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표시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altLang="ko-KR" sz="800" dirty="0" err="1">
                          <a:solidFill>
                            <a:srgbClr val="FF7FA8"/>
                          </a:solidFill>
                        </a:rPr>
                        <a:t>Player</a:t>
                      </a:r>
                      <a:r>
                        <a:rPr lang="en-US" altLang="ko-KR" sz="800" b="0" dirty="0" err="1">
                          <a:solidFill>
                            <a:srgbClr val="FF7FA8"/>
                          </a:solidFill>
                          <a:latin typeface="+mn-lt"/>
                        </a:rPr>
                        <a:t>Table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  <a:latin typeface="+mn-lt"/>
                        </a:rPr>
                        <a:t>참조</a:t>
                      </a:r>
                      <a:endParaRPr lang="en-US" sz="8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413507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다음 스테이지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버튼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다음 스테이지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즉시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시작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altLang="ko-KR" sz="800" dirty="0" err="1">
                          <a:solidFill>
                            <a:srgbClr val="FF7FA8"/>
                          </a:solidFill>
                        </a:rPr>
                        <a:t>Player</a:t>
                      </a:r>
                      <a:r>
                        <a:rPr lang="en-US" altLang="ko-KR" sz="800" b="0" dirty="0" err="1">
                          <a:solidFill>
                            <a:srgbClr val="FF7FA8"/>
                          </a:solidFill>
                          <a:latin typeface="+mn-lt"/>
                        </a:rPr>
                        <a:t>Table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  <a:latin typeface="+mn-lt"/>
                        </a:rPr>
                        <a:t>참조</a:t>
                      </a:r>
                      <a:endParaRPr lang="en-US" sz="8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1552175" y="2838679"/>
            <a:ext cx="657581" cy="894180"/>
          </a:xfrm>
          <a:prstGeom prst="rect">
            <a:avLst/>
          </a:prstGeom>
          <a:noFill/>
          <a:ln w="2540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342070" y="3208045"/>
            <a:ext cx="182880" cy="155448"/>
          </a:xfrm>
          <a:prstGeom prst="rect">
            <a:avLst/>
          </a:prstGeom>
          <a:solidFill>
            <a:srgbClr val="2F7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7190" y="3772748"/>
            <a:ext cx="1007550" cy="209031"/>
          </a:xfrm>
          <a:prstGeom prst="rect">
            <a:avLst/>
          </a:prstGeom>
          <a:noFill/>
          <a:ln w="2540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67085" y="3799540"/>
            <a:ext cx="182880" cy="155448"/>
          </a:xfrm>
          <a:prstGeom prst="rect">
            <a:avLst/>
          </a:prstGeom>
          <a:solidFill>
            <a:srgbClr val="2F7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21923" y="4004418"/>
            <a:ext cx="1318085" cy="140022"/>
          </a:xfrm>
          <a:prstGeom prst="rect">
            <a:avLst/>
          </a:prstGeom>
          <a:noFill/>
          <a:ln w="2540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11818" y="3996706"/>
            <a:ext cx="182880" cy="155448"/>
          </a:xfrm>
          <a:prstGeom prst="rect">
            <a:avLst/>
          </a:prstGeom>
          <a:solidFill>
            <a:srgbClr val="2F7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58520" y="4167080"/>
            <a:ext cx="844889" cy="164668"/>
          </a:xfrm>
          <a:prstGeom prst="rect">
            <a:avLst/>
          </a:prstGeom>
          <a:noFill/>
          <a:ln w="2540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248416" y="4171690"/>
            <a:ext cx="182880" cy="155448"/>
          </a:xfrm>
          <a:prstGeom prst="rect">
            <a:avLst/>
          </a:prstGeom>
          <a:solidFill>
            <a:srgbClr val="2F7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72938" y="4354387"/>
            <a:ext cx="416054" cy="199173"/>
          </a:xfrm>
          <a:prstGeom prst="rect">
            <a:avLst/>
          </a:prstGeom>
          <a:noFill/>
          <a:ln w="2540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462833" y="4376249"/>
            <a:ext cx="182880" cy="155448"/>
          </a:xfrm>
          <a:prstGeom prst="rect">
            <a:avLst/>
          </a:prstGeom>
          <a:solidFill>
            <a:srgbClr val="2F7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4615" y="4576197"/>
            <a:ext cx="1692700" cy="292826"/>
          </a:xfrm>
          <a:prstGeom prst="rect">
            <a:avLst/>
          </a:prstGeom>
          <a:noFill/>
          <a:ln w="2540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4511" y="4644887"/>
            <a:ext cx="182880" cy="155448"/>
          </a:xfrm>
          <a:prstGeom prst="rect">
            <a:avLst/>
          </a:prstGeom>
          <a:solidFill>
            <a:srgbClr val="2F7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화면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2600" dirty="0"/>
              <a:t>3.4 화면 명세 (광고 시청 팝업)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84787" y="1343874"/>
            <a:ext cx="2592358" cy="5056925"/>
          </a:xfrm>
          <a:prstGeom prst="rect">
            <a:avLst/>
          </a:prstGeom>
          <a:solidFill>
            <a:srgbClr val="3B2F57"/>
          </a:solidFill>
          <a:ln w="12700">
            <a:solidFill>
              <a:srgbClr val="3B2F5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C:/Users/user/Desktop/창고/기획서/images/se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83" y="1407770"/>
            <a:ext cx="2464566" cy="4929133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16406"/>
              </p:ext>
            </p:extLst>
          </p:nvPr>
        </p:nvGraphicFramePr>
        <p:xfrm>
          <a:off x="3752212" y="1407770"/>
          <a:ext cx="7667538" cy="2094589"/>
        </p:xfrm>
        <a:graphic>
          <a:graphicData uri="http://schemas.openxmlformats.org/drawingml/2006/table">
            <a:tbl>
              <a:tblPr/>
              <a:tblGrid>
                <a:gridCol w="547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5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3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5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번호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이름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기능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아이콘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이미지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힌트 아이콘 표시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제목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텍스트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힌트가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없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음을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표시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altLang="ko-KR" sz="800" b="0" dirty="0" err="1">
                          <a:solidFill>
                            <a:srgbClr val="FF7FA8"/>
                          </a:solidFill>
                          <a:latin typeface="+mn-lt"/>
                        </a:rPr>
                        <a:t>StringTable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  <a:latin typeface="+mn-lt"/>
                        </a:rPr>
                        <a:t>참조</a:t>
                      </a:r>
                      <a:endParaRPr lang="en-US" sz="8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텍스트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광고 시청 보상 안내 (힌트 1개) </a:t>
                      </a:r>
                      <a:r>
                        <a:rPr lang="en-US" altLang="ko-KR" sz="800" b="0" dirty="0" err="1">
                          <a:solidFill>
                            <a:srgbClr val="FF7FA8"/>
                          </a:solidFill>
                          <a:latin typeface="+mn-lt"/>
                        </a:rPr>
                        <a:t>StringTable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  <a:latin typeface="+mn-lt"/>
                        </a:rPr>
                        <a:t>참조</a:t>
                      </a:r>
                      <a:endParaRPr lang="en-US" sz="8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광고 보고 힌트 받기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버튼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보상형 광고 재생, 시청 완료 시 힌트 +1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닫기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버튼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dirty="0" err="1">
                          <a:solidFill>
                            <a:srgbClr val="3B2F57"/>
                          </a:solidFill>
                        </a:rPr>
                        <a:t>인게임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 화면으로 이동</a:t>
                      </a:r>
                      <a:endParaRPr lang="en-US" sz="12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1655686" y="3139355"/>
            <a:ext cx="450558" cy="450558"/>
          </a:xfrm>
          <a:prstGeom prst="rect">
            <a:avLst/>
          </a:prstGeom>
          <a:noFill/>
          <a:ln w="2540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445582" y="3286911"/>
            <a:ext cx="182880" cy="155448"/>
          </a:xfrm>
          <a:prstGeom prst="rect">
            <a:avLst/>
          </a:prstGeom>
          <a:solidFill>
            <a:srgbClr val="2F7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5347" y="3612552"/>
            <a:ext cx="751236" cy="209031"/>
          </a:xfrm>
          <a:prstGeom prst="rect">
            <a:avLst/>
          </a:prstGeom>
          <a:noFill/>
          <a:ln w="2540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95243" y="3639344"/>
            <a:ext cx="182880" cy="155448"/>
          </a:xfrm>
          <a:prstGeom prst="rect">
            <a:avLst/>
          </a:prstGeom>
          <a:solidFill>
            <a:srgbClr val="2F7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4584" y="3844222"/>
            <a:ext cx="992763" cy="140022"/>
          </a:xfrm>
          <a:prstGeom prst="rect">
            <a:avLst/>
          </a:prstGeom>
          <a:noFill/>
          <a:ln w="2540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74479" y="3836509"/>
            <a:ext cx="182880" cy="155448"/>
          </a:xfrm>
          <a:prstGeom prst="rect">
            <a:avLst/>
          </a:prstGeom>
          <a:solidFill>
            <a:srgbClr val="2F7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4615" y="4006883"/>
            <a:ext cx="1692700" cy="292826"/>
          </a:xfrm>
          <a:prstGeom prst="rect">
            <a:avLst/>
          </a:prstGeom>
          <a:noFill/>
          <a:ln w="2540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4511" y="4075572"/>
            <a:ext cx="182880" cy="155448"/>
          </a:xfrm>
          <a:prstGeom prst="rect">
            <a:avLst/>
          </a:prstGeom>
          <a:solidFill>
            <a:srgbClr val="2F7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4615" y="4312489"/>
            <a:ext cx="1692700" cy="292826"/>
          </a:xfrm>
          <a:prstGeom prst="rect">
            <a:avLst/>
          </a:prstGeom>
          <a:noFill/>
          <a:ln w="25400">
            <a:solidFill>
              <a:srgbClr val="2F7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4511" y="4381178"/>
            <a:ext cx="182880" cy="155448"/>
          </a:xfrm>
          <a:prstGeom prst="rect">
            <a:avLst/>
          </a:prstGeom>
          <a:solidFill>
            <a:srgbClr val="2F7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</a:rPr>
              <a:t>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600" b="1" dirty="0">
                <a:solidFill>
                  <a:srgbClr val="EC5A8C"/>
                </a:solidFill>
              </a:rPr>
              <a:t>04</a:t>
            </a:r>
            <a:endParaRPr lang="en-US" sz="96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0632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dirty="0"/>
              <a:t>테이블</a:t>
            </a:r>
            <a:endParaRPr lang="en-US" sz="4000" dirty="0"/>
          </a:p>
        </p:txBody>
      </p:sp>
      <p:sp>
        <p:nvSpPr>
          <p:cNvPr id="5" name="chapter-card"/>
          <p:cNvSpPr/>
          <p:nvPr/>
        </p:nvSpPr>
        <p:spPr>
          <a:xfrm>
            <a:off x="7635240" y="1051560"/>
            <a:ext cx="4023360" cy="4023360"/>
          </a:xfrm>
          <a:prstGeom prst="rect">
            <a:avLst/>
          </a:prstGeom>
          <a:solidFill>
            <a:srgbClr val="FFFFFF"/>
          </a:solidFill>
          <a:ln w="31750">
            <a:solidFill>
              <a:srgbClr val="F2DFA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chapter-art" descr="C:/Users/user/Desktop/창고/기획서/images/codex/deck/section_02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188720"/>
            <a:ext cx="3749040" cy="3749040"/>
          </a:xfrm>
          <a:prstGeom prst="rect">
            <a:avLst/>
          </a:prstGeom>
        </p:spPr>
      </p:pic>
      <p:pic>
        <p:nvPicPr>
          <p:cNvPr id="21" name="picto-toc_structure" descr="C:/Users/user/Desktop/창고/기획서/images/picto/deck/toc_stru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1755648"/>
            <a:ext cx="960120" cy="9601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4160520"/>
            <a:ext cx="5852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EC5A8C"/>
                </a:solidFill>
                <a:latin typeface="Noto Sans KR"/>
                <a:ea typeface="Noto Sans KR"/>
              </a:rPr>
              <a:t>4.1</a:t>
            </a:r>
            <a:r>
              <a:rPr sz="1600" b="0">
                <a:solidFill>
                  <a:srgbClr val="3B2F57"/>
                </a:solidFill>
                <a:latin typeface="Noto Sans KR"/>
                <a:ea typeface="Noto Sans KR"/>
              </a:rPr>
              <a:t>      ER 다이어그램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4553712"/>
            <a:ext cx="5852160" cy="0"/>
          </a:xfrm>
          <a:prstGeom prst="line">
            <a:avLst/>
          </a:prstGeom>
          <a:ln w="12700">
            <a:solidFill>
              <a:srgbClr val="F2D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4553712"/>
            <a:ext cx="5852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EC5A8C"/>
                </a:solidFill>
                <a:latin typeface="Noto Sans KR"/>
                <a:ea typeface="Noto Sans KR"/>
              </a:rPr>
              <a:t>4.2</a:t>
            </a:r>
            <a:r>
              <a:rPr sz="1600" b="0">
                <a:solidFill>
                  <a:srgbClr val="3B2F57"/>
                </a:solidFill>
                <a:latin typeface="Noto Sans KR"/>
                <a:ea typeface="Noto Sans KR"/>
              </a:rPr>
              <a:t>      StageTable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4946903"/>
            <a:ext cx="5852160" cy="0"/>
          </a:xfrm>
          <a:prstGeom prst="line">
            <a:avLst/>
          </a:prstGeom>
          <a:ln w="12700">
            <a:solidFill>
              <a:srgbClr val="F2D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4946904"/>
            <a:ext cx="5852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EC5A8C"/>
                </a:solidFill>
                <a:latin typeface="Noto Sans KR"/>
                <a:ea typeface="Noto Sans KR"/>
              </a:rPr>
              <a:t>4.3</a:t>
            </a:r>
            <a:r>
              <a:rPr sz="1600" b="0">
                <a:solidFill>
                  <a:srgbClr val="3B2F57"/>
                </a:solidFill>
                <a:latin typeface="Noto Sans KR"/>
                <a:ea typeface="Noto Sans KR"/>
              </a:rPr>
              <a:t>      Player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340096"/>
            <a:ext cx="5852160" cy="0"/>
          </a:xfrm>
          <a:prstGeom prst="line">
            <a:avLst/>
          </a:prstGeom>
          <a:ln w="12700">
            <a:solidFill>
              <a:srgbClr val="F2D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5340096"/>
            <a:ext cx="5852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EC5A8C"/>
                </a:solidFill>
                <a:latin typeface="Noto Sans KR"/>
                <a:ea typeface="Noto Sans KR"/>
              </a:rPr>
              <a:t>4.4</a:t>
            </a:r>
            <a:r>
              <a:rPr sz="1600" b="0">
                <a:solidFill>
                  <a:srgbClr val="3B2F57"/>
                </a:solidFill>
                <a:latin typeface="Noto Sans KR"/>
                <a:ea typeface="Noto Sans KR"/>
              </a:rPr>
              <a:t>      PlayLog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733288"/>
            <a:ext cx="5852160" cy="0"/>
          </a:xfrm>
          <a:prstGeom prst="line">
            <a:avLst/>
          </a:prstGeom>
          <a:ln w="12700">
            <a:solidFill>
              <a:srgbClr val="F2D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5733288"/>
            <a:ext cx="5852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EC5A8C"/>
                </a:solidFill>
                <a:latin typeface="Noto Sans KR"/>
                <a:ea typeface="Noto Sans KR"/>
              </a:rPr>
              <a:t>4.5</a:t>
            </a:r>
            <a:r>
              <a:rPr sz="1600" b="0">
                <a:solidFill>
                  <a:srgbClr val="3B2F57"/>
                </a:solidFill>
                <a:latin typeface="Noto Sans KR"/>
                <a:ea typeface="Noto Sans KR"/>
              </a:rPr>
              <a:t>      StringTable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126479"/>
            <a:ext cx="5852160" cy="0"/>
          </a:xfrm>
          <a:prstGeom prst="line">
            <a:avLst/>
          </a:prstGeom>
          <a:ln w="12700">
            <a:solidFill>
              <a:srgbClr val="F2D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48640" y="4160520"/>
            <a:ext cx="5852160" cy="0"/>
          </a:xfrm>
          <a:prstGeom prst="line">
            <a:avLst/>
          </a:prstGeom>
          <a:ln w="12700">
            <a:solidFill>
              <a:srgbClr val="F2D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>
          <a:xfrm>
            <a:off x="548640" y="274320"/>
            <a:ext cx="8229600" cy="292608"/>
          </a:xfrm>
        </p:spPr>
        <p:txBody>
          <a:bodyPr wrap="square" lIns="0" tIns="0" rIns="0" bIns="0" rtlCol="0" anchor="t"/>
          <a:lstStyle/>
          <a:p>
            <a:r>
              <a:t>테이블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>
          <a:xfrm>
            <a:off x="548640" y="548640"/>
            <a:ext cx="11064240" cy="566928"/>
          </a:xfrm>
        </p:spPr>
        <p:txBody>
          <a:bodyPr wrap="square" lIns="0" tIns="0" rIns="0" bIns="0" rtlCol="0" anchor="t"/>
          <a:lstStyle/>
          <a:p>
            <a:r>
              <a:t>4.1 ER 다이어그램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017520" cy="347472"/>
          </a:xfrm>
          <a:prstGeom prst="rect">
            <a:avLst/>
          </a:prstGeom>
          <a:solidFill>
            <a:srgbClr val="E4DEF5"/>
          </a:solidFill>
          <a:ln w="19050">
            <a:solidFill>
              <a:srgbClr val="3B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bIns="36576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3B2F57"/>
                </a:solidFill>
                <a:latin typeface="Noto Sans KR"/>
                <a:ea typeface="Noto Sans KR"/>
              </a:rPr>
              <a:t>Player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27631"/>
            <a:ext cx="3017520" cy="1356969"/>
          </a:xfrm>
          <a:prstGeom prst="rect">
            <a:avLst/>
          </a:prstGeom>
          <a:solidFill>
            <a:srgbClr val="FFFFFF"/>
          </a:solidFill>
          <a:ln w="19050">
            <a:solidFill>
              <a:srgbClr val="3B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t"/>
          <a:lstStyle/>
          <a:p>
            <a:pPr algn="l">
              <a:lnSpc>
                <a:spcPct val="100000"/>
              </a:lnSpc>
            </a:pPr>
            <a:r>
              <a:rPr sz="1000" b="1" dirty="0" err="1">
                <a:solidFill>
                  <a:srgbClr val="3B2F57"/>
                </a:solidFill>
                <a:latin typeface="Noto Sans KR"/>
                <a:ea typeface="Noto Sans KR"/>
              </a:rPr>
              <a:t>player_id</a:t>
            </a:r>
            <a:r>
              <a:rPr sz="800" b="1" dirty="0">
                <a:solidFill>
                  <a:srgbClr val="FF7FA8"/>
                </a:solidFill>
                <a:latin typeface="Noto Sans KR"/>
                <a:ea typeface="Noto Sans KR"/>
              </a:rPr>
              <a:t>  PK</a:t>
            </a:r>
          </a:p>
          <a:p>
            <a:pPr algn="l">
              <a:lnSpc>
                <a:spcPct val="100000"/>
              </a:lnSpc>
            </a:pPr>
            <a:r>
              <a:rPr sz="1000" b="0" dirty="0">
                <a:solidFill>
                  <a:srgbClr val="3B2F57"/>
                </a:solidFill>
                <a:latin typeface="Noto Sans KR"/>
                <a:ea typeface="Noto Sans KR"/>
              </a:rPr>
              <a:t>lang</a:t>
            </a:r>
          </a:p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3B2F57"/>
                </a:solidFill>
                <a:latin typeface="Noto Sans KR"/>
                <a:ea typeface="Noto Sans KR"/>
              </a:rPr>
              <a:t>hint_count</a:t>
            </a:r>
            <a:endParaRPr sz="1000" b="0" dirty="0">
              <a:solidFill>
                <a:srgbClr val="3B2F57"/>
              </a:solidFill>
              <a:latin typeface="Noto Sans KR"/>
              <a:ea typeface="Noto Sans KR"/>
            </a:endParaRPr>
          </a:p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3B2F57"/>
                </a:solidFill>
                <a:latin typeface="Noto Sans KR"/>
                <a:ea typeface="Noto Sans KR"/>
              </a:rPr>
              <a:t>current_stage</a:t>
            </a:r>
            <a:endParaRPr sz="1000" b="0" dirty="0">
              <a:solidFill>
                <a:srgbClr val="3B2F57"/>
              </a:solidFill>
              <a:latin typeface="Noto Sans KR"/>
              <a:ea typeface="Noto Sans KR"/>
            </a:endParaRPr>
          </a:p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3B2F57"/>
                </a:solidFill>
                <a:latin typeface="Noto Sans KR"/>
                <a:ea typeface="Noto Sans KR"/>
              </a:rPr>
              <a:t>created_at</a:t>
            </a:r>
            <a:endParaRPr sz="1000" b="0" dirty="0">
              <a:solidFill>
                <a:srgbClr val="3B2F57"/>
              </a:solidFill>
              <a:latin typeface="Noto Sans KR"/>
              <a:ea typeface="Noto Sans KR"/>
            </a:endParaRPr>
          </a:p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3B2F57"/>
                </a:solidFill>
                <a:latin typeface="Noto Sans KR"/>
                <a:ea typeface="Noto Sans KR"/>
              </a:rPr>
              <a:t>last_login_at</a:t>
            </a:r>
            <a:endParaRPr sz="1000" b="0" dirty="0">
              <a:solidFill>
                <a:srgbClr val="3B2F57"/>
              </a:solidFill>
              <a:latin typeface="Noto Sans KR"/>
              <a:ea typeface="Noto Sans KR"/>
            </a:endParaRPr>
          </a:p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3B2F57"/>
                </a:solidFill>
                <a:latin typeface="Noto Sans KR"/>
                <a:ea typeface="Noto Sans KR"/>
              </a:rPr>
              <a:t>paid_player</a:t>
            </a:r>
            <a:endParaRPr sz="1000" b="0" dirty="0">
              <a:solidFill>
                <a:srgbClr val="3B2F57"/>
              </a:solidFill>
              <a:latin typeface="Noto Sans KR"/>
              <a:ea typeface="Noto Sans K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651760" y="1627631"/>
            <a:ext cx="868680" cy="13569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bIns="36576" rtlCol="0" anchor="t"/>
          <a:lstStyle/>
          <a:p>
            <a:pPr algn="r">
              <a:lnSpc>
                <a:spcPct val="100000"/>
              </a:lnSpc>
            </a:pPr>
            <a:r>
              <a:rPr sz="1000" b="0" dirty="0">
                <a:solidFill>
                  <a:srgbClr val="6E6487"/>
                </a:solidFill>
                <a:latin typeface="Noto Sans KR"/>
                <a:ea typeface="Noto Sans KR"/>
              </a:rPr>
              <a:t>string</a:t>
            </a:r>
          </a:p>
          <a:p>
            <a:pPr algn="r">
              <a:lnSpc>
                <a:spcPct val="100000"/>
              </a:lnSpc>
            </a:pPr>
            <a:r>
              <a:rPr sz="1000" b="0" dirty="0">
                <a:solidFill>
                  <a:srgbClr val="6E6487"/>
                </a:solidFill>
                <a:latin typeface="Noto Sans KR"/>
                <a:ea typeface="Noto Sans KR"/>
              </a:rPr>
              <a:t>string</a:t>
            </a:r>
          </a:p>
          <a:p>
            <a:pPr algn="r">
              <a:lnSpc>
                <a:spcPct val="100000"/>
              </a:lnSpc>
            </a:pPr>
            <a:r>
              <a:rPr sz="1000" b="0" dirty="0">
                <a:solidFill>
                  <a:srgbClr val="6E6487"/>
                </a:solidFill>
                <a:latin typeface="Noto Sans KR"/>
                <a:ea typeface="Noto Sans KR"/>
              </a:rPr>
              <a:t>int</a:t>
            </a:r>
          </a:p>
          <a:p>
            <a:pPr algn="r">
              <a:lnSpc>
                <a:spcPct val="100000"/>
              </a:lnSpc>
            </a:pPr>
            <a:r>
              <a:rPr sz="1000" b="0" dirty="0">
                <a:solidFill>
                  <a:srgbClr val="6E6487"/>
                </a:solidFill>
                <a:latin typeface="Noto Sans KR"/>
                <a:ea typeface="Noto Sans KR"/>
              </a:rPr>
              <a:t>int</a:t>
            </a:r>
          </a:p>
          <a:p>
            <a:pPr algn="r">
              <a:lnSpc>
                <a:spcPct val="100000"/>
              </a:lnSpc>
            </a:pPr>
            <a:r>
              <a:rPr sz="1000" b="0" dirty="0">
                <a:solidFill>
                  <a:srgbClr val="6E6487"/>
                </a:solidFill>
                <a:latin typeface="Noto Sans KR"/>
                <a:ea typeface="Noto Sans KR"/>
              </a:rPr>
              <a:t>datetime</a:t>
            </a:r>
          </a:p>
          <a:p>
            <a:pPr algn="r">
              <a:lnSpc>
                <a:spcPct val="100000"/>
              </a:lnSpc>
            </a:pPr>
            <a:r>
              <a:rPr sz="1000" b="0" dirty="0">
                <a:solidFill>
                  <a:srgbClr val="6E6487"/>
                </a:solidFill>
                <a:latin typeface="Noto Sans KR"/>
                <a:ea typeface="Noto Sans KR"/>
              </a:rPr>
              <a:t>datetime</a:t>
            </a:r>
          </a:p>
          <a:p>
            <a:pPr algn="r">
              <a:lnSpc>
                <a:spcPct val="100000"/>
              </a:lnSpc>
            </a:pPr>
            <a:r>
              <a:rPr sz="1000" b="0" dirty="0">
                <a:solidFill>
                  <a:srgbClr val="6E6487"/>
                </a:solidFill>
                <a:latin typeface="Noto Sans KR"/>
                <a:ea typeface="Noto Sans KR"/>
              </a:rPr>
              <a:t>bool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280160"/>
            <a:ext cx="3017520" cy="347472"/>
          </a:xfrm>
          <a:prstGeom prst="rect">
            <a:avLst/>
          </a:prstGeom>
          <a:solidFill>
            <a:srgbClr val="FBD3E0"/>
          </a:solidFill>
          <a:ln w="19050">
            <a:solidFill>
              <a:srgbClr val="3B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bIns="36576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3B2F57"/>
                </a:solidFill>
                <a:latin typeface="Noto Sans KR"/>
                <a:ea typeface="Noto Sans KR"/>
              </a:rPr>
              <a:t>PlayLog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627631"/>
            <a:ext cx="3017520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3B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t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B2F57"/>
                </a:solidFill>
                <a:latin typeface="Noto Sans KR"/>
                <a:ea typeface="Noto Sans KR"/>
              </a:rPr>
              <a:t>Seed_id</a:t>
            </a:r>
            <a:r>
              <a:rPr sz="800" b="1">
                <a:solidFill>
                  <a:srgbClr val="FF7FA8"/>
                </a:solidFill>
                <a:latin typeface="Noto Sans KR"/>
                <a:ea typeface="Noto Sans KR"/>
              </a:rPr>
              <a:t>  PK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3B2F57"/>
                </a:solidFill>
                <a:latin typeface="Noto Sans KR"/>
                <a:ea typeface="Noto Sans KR"/>
              </a:rPr>
              <a:t>player_id</a:t>
            </a:r>
            <a:r>
              <a:rPr sz="800" b="1">
                <a:solidFill>
                  <a:srgbClr val="FF7FA8"/>
                </a:solidFill>
                <a:latin typeface="Noto Sans KR"/>
                <a:ea typeface="Noto Sans KR"/>
              </a:rPr>
              <a:t>  FK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3B2F57"/>
                </a:solidFill>
                <a:latin typeface="Noto Sans KR"/>
                <a:ea typeface="Noto Sans KR"/>
              </a:rPr>
              <a:t>stage_id</a:t>
            </a:r>
            <a:r>
              <a:rPr sz="800" b="1">
                <a:solidFill>
                  <a:srgbClr val="FF7FA8"/>
                </a:solidFill>
                <a:latin typeface="Noto Sans KR"/>
                <a:ea typeface="Noto Sans KR"/>
              </a:rPr>
              <a:t>  FK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B2F57"/>
                </a:solidFill>
                <a:latin typeface="Noto Sans KR"/>
                <a:ea typeface="Noto Sans KR"/>
              </a:rPr>
              <a:t>attempt_no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B2F57"/>
                </a:solidFill>
                <a:latin typeface="Noto Sans KR"/>
                <a:ea typeface="Noto Sans KR"/>
              </a:rPr>
              <a:t>result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B2F57"/>
                </a:solidFill>
                <a:latin typeface="Noto Sans KR"/>
                <a:ea typeface="Noto Sans KR"/>
              </a:rPr>
              <a:t>play_time_ms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B2F57"/>
                </a:solidFill>
                <a:latin typeface="Noto Sans KR"/>
                <a:ea typeface="Noto Sans KR"/>
              </a:rPr>
              <a:t>move_count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B2F57"/>
                </a:solidFill>
                <a:latin typeface="Noto Sans KR"/>
                <a:ea typeface="Noto Sans KR"/>
              </a:rPr>
              <a:t>undo_count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B2F57"/>
                </a:solidFill>
                <a:latin typeface="Noto Sans KR"/>
                <a:ea typeface="Noto Sans KR"/>
              </a:rPr>
              <a:t>hint_used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B2F57"/>
                </a:solidFill>
                <a:latin typeface="Noto Sans KR"/>
                <a:ea typeface="Noto Sans KR"/>
              </a:rPr>
              <a:t>stuck_count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627631"/>
            <a:ext cx="868680" cy="16642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bIns="36576" rtlCol="0" anchor="t"/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E6487"/>
                </a:solidFill>
                <a:latin typeface="Noto Sans KR"/>
                <a:ea typeface="Noto Sans KR"/>
              </a:rPr>
              <a:t>string</a:t>
            </a:r>
          </a:p>
          <a:p>
            <a:pPr algn="r">
              <a:lnSpc>
                <a:spcPct val="100000"/>
              </a:lnSpc>
            </a:pPr>
            <a:r>
              <a:rPr sz="1000" b="0">
                <a:solidFill>
                  <a:srgbClr val="6E6487"/>
                </a:solidFill>
                <a:latin typeface="Noto Sans KR"/>
                <a:ea typeface="Noto Sans KR"/>
              </a:rPr>
              <a:t>string</a:t>
            </a:r>
          </a:p>
          <a:p>
            <a:pPr algn="r">
              <a:lnSpc>
                <a:spcPct val="100000"/>
              </a:lnSpc>
            </a:pPr>
            <a:r>
              <a:rPr sz="1000" b="0">
                <a:solidFill>
                  <a:srgbClr val="6E6487"/>
                </a:solidFill>
                <a:latin typeface="Noto Sans KR"/>
                <a:ea typeface="Noto Sans KR"/>
              </a:rPr>
              <a:t>int</a:t>
            </a:r>
          </a:p>
          <a:p>
            <a:pPr algn="r">
              <a:lnSpc>
                <a:spcPct val="100000"/>
              </a:lnSpc>
            </a:pPr>
            <a:r>
              <a:rPr sz="1000" b="0">
                <a:solidFill>
                  <a:srgbClr val="6E6487"/>
                </a:solidFill>
                <a:latin typeface="Noto Sans KR"/>
                <a:ea typeface="Noto Sans KR"/>
              </a:rPr>
              <a:t>int</a:t>
            </a:r>
          </a:p>
          <a:p>
            <a:pPr algn="r">
              <a:lnSpc>
                <a:spcPct val="100000"/>
              </a:lnSpc>
            </a:pPr>
            <a:r>
              <a:rPr sz="1000" b="0">
                <a:solidFill>
                  <a:srgbClr val="6E6487"/>
                </a:solidFill>
                <a:latin typeface="Noto Sans KR"/>
                <a:ea typeface="Noto Sans KR"/>
              </a:rPr>
              <a:t>enum</a:t>
            </a:r>
          </a:p>
          <a:p>
            <a:pPr algn="r">
              <a:lnSpc>
                <a:spcPct val="100000"/>
              </a:lnSpc>
            </a:pPr>
            <a:r>
              <a:rPr sz="1000" b="0">
                <a:solidFill>
                  <a:srgbClr val="6E6487"/>
                </a:solidFill>
                <a:latin typeface="Noto Sans KR"/>
                <a:ea typeface="Noto Sans KR"/>
              </a:rPr>
              <a:t>Float</a:t>
            </a:r>
          </a:p>
          <a:p>
            <a:pPr algn="r">
              <a:lnSpc>
                <a:spcPct val="100000"/>
              </a:lnSpc>
            </a:pPr>
            <a:r>
              <a:rPr sz="1000" b="0">
                <a:solidFill>
                  <a:srgbClr val="6E6487"/>
                </a:solidFill>
                <a:latin typeface="Noto Sans KR"/>
                <a:ea typeface="Noto Sans KR"/>
              </a:rPr>
              <a:t>int</a:t>
            </a:r>
          </a:p>
          <a:p>
            <a:pPr algn="r">
              <a:lnSpc>
                <a:spcPct val="100000"/>
              </a:lnSpc>
            </a:pPr>
            <a:r>
              <a:rPr sz="1000" b="0">
                <a:solidFill>
                  <a:srgbClr val="6E6487"/>
                </a:solidFill>
                <a:latin typeface="Noto Sans KR"/>
                <a:ea typeface="Noto Sans KR"/>
              </a:rPr>
              <a:t>int</a:t>
            </a:r>
          </a:p>
          <a:p>
            <a:pPr algn="r">
              <a:lnSpc>
                <a:spcPct val="100000"/>
              </a:lnSpc>
            </a:pPr>
            <a:r>
              <a:rPr sz="1000" b="0">
                <a:solidFill>
                  <a:srgbClr val="6E6487"/>
                </a:solidFill>
                <a:latin typeface="Noto Sans KR"/>
                <a:ea typeface="Noto Sans KR"/>
              </a:rPr>
              <a:t>int</a:t>
            </a:r>
          </a:p>
          <a:p>
            <a:pPr algn="r">
              <a:lnSpc>
                <a:spcPct val="100000"/>
              </a:lnSpc>
            </a:pPr>
            <a:r>
              <a:rPr sz="1000" b="0">
                <a:solidFill>
                  <a:srgbClr val="6E6487"/>
                </a:solidFill>
                <a:latin typeface="Noto Sans KR"/>
                <a:ea typeface="Noto Sans KR"/>
              </a:rPr>
              <a:t>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1080" y="1280160"/>
            <a:ext cx="3017520" cy="347472"/>
          </a:xfrm>
          <a:prstGeom prst="rect">
            <a:avLst/>
          </a:prstGeom>
          <a:solidFill>
            <a:srgbClr val="FFEBB0"/>
          </a:solidFill>
          <a:ln w="19050">
            <a:solidFill>
              <a:srgbClr val="3B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bIns="36576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3B2F57"/>
                </a:solidFill>
                <a:latin typeface="Noto Sans KR"/>
                <a:ea typeface="Noto Sans KR"/>
              </a:rPr>
              <a:t>StageTable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1627631"/>
            <a:ext cx="3017520" cy="1356969"/>
          </a:xfrm>
          <a:prstGeom prst="rect">
            <a:avLst/>
          </a:prstGeom>
          <a:solidFill>
            <a:srgbClr val="FFFFFF"/>
          </a:solidFill>
          <a:ln w="19050">
            <a:solidFill>
              <a:srgbClr val="3B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t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B2F57"/>
                </a:solidFill>
                <a:latin typeface="Noto Sans KR"/>
                <a:ea typeface="Noto Sans KR"/>
              </a:rPr>
              <a:t>stage_id</a:t>
            </a:r>
            <a:r>
              <a:rPr sz="800" b="1">
                <a:solidFill>
                  <a:srgbClr val="FF7FA8"/>
                </a:solidFill>
                <a:latin typeface="Noto Sans KR"/>
                <a:ea typeface="Noto Sans KR"/>
              </a:rPr>
              <a:t>  PK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B2F57"/>
                </a:solidFill>
                <a:latin typeface="Noto Sans KR"/>
                <a:ea typeface="Noto Sans KR"/>
              </a:rPr>
              <a:t>difficulty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B2F57"/>
                </a:solidFill>
                <a:latin typeface="Noto Sans KR"/>
                <a:ea typeface="Noto Sans KR"/>
              </a:rPr>
              <a:t>board_size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B2F57"/>
                </a:solidFill>
                <a:latin typeface="Noto Sans KR"/>
                <a:ea typeface="Noto Sans KR"/>
              </a:rPr>
              <a:t>step_count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B2F57"/>
                </a:solidFill>
                <a:latin typeface="Noto Sans KR"/>
                <a:ea typeface="Noto Sans KR"/>
              </a:rPr>
              <a:t>case_max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B2F57"/>
                </a:solidFill>
                <a:latin typeface="Noto Sans KR"/>
                <a:ea typeface="Noto Sans KR"/>
              </a:rPr>
              <a:t>case_min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B2F57"/>
                </a:solidFill>
                <a:latin typeface="Noto Sans KR"/>
                <a:ea typeface="Noto Sans KR"/>
              </a:rPr>
              <a:t>clear_rate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B2F57"/>
                </a:solidFill>
                <a:latin typeface="Noto Sans KR"/>
                <a:ea typeface="Noto Sans KR"/>
              </a:rPr>
              <a:t>seed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1627631"/>
            <a:ext cx="868680" cy="13569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bIns="36576" rtlCol="0" anchor="t"/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E6487"/>
                </a:solidFill>
                <a:latin typeface="Noto Sans KR"/>
                <a:ea typeface="Noto Sans KR"/>
              </a:rPr>
              <a:t>string</a:t>
            </a:r>
          </a:p>
          <a:p>
            <a:pPr algn="r">
              <a:lnSpc>
                <a:spcPct val="100000"/>
              </a:lnSpc>
            </a:pPr>
            <a:r>
              <a:rPr sz="1000" b="0">
                <a:solidFill>
                  <a:srgbClr val="6E6487"/>
                </a:solidFill>
                <a:latin typeface="Noto Sans KR"/>
                <a:ea typeface="Noto Sans KR"/>
              </a:rPr>
              <a:t>enum</a:t>
            </a:r>
          </a:p>
          <a:p>
            <a:pPr algn="r">
              <a:lnSpc>
                <a:spcPct val="100000"/>
              </a:lnSpc>
            </a:pPr>
            <a:r>
              <a:rPr sz="1000" b="0">
                <a:solidFill>
                  <a:srgbClr val="6E6487"/>
                </a:solidFill>
                <a:latin typeface="Noto Sans KR"/>
                <a:ea typeface="Noto Sans KR"/>
              </a:rPr>
              <a:t>int</a:t>
            </a:r>
          </a:p>
          <a:p>
            <a:pPr algn="r">
              <a:lnSpc>
                <a:spcPct val="100000"/>
              </a:lnSpc>
            </a:pPr>
            <a:r>
              <a:rPr sz="1000" b="0">
                <a:solidFill>
                  <a:srgbClr val="6E6487"/>
                </a:solidFill>
                <a:latin typeface="Noto Sans KR"/>
                <a:ea typeface="Noto Sans KR"/>
              </a:rPr>
              <a:t>int</a:t>
            </a:r>
          </a:p>
          <a:p>
            <a:pPr algn="r">
              <a:lnSpc>
                <a:spcPct val="100000"/>
              </a:lnSpc>
            </a:pPr>
            <a:r>
              <a:rPr sz="1000" b="0">
                <a:solidFill>
                  <a:srgbClr val="6E6487"/>
                </a:solidFill>
                <a:latin typeface="Noto Sans KR"/>
                <a:ea typeface="Noto Sans KR"/>
              </a:rPr>
              <a:t>int</a:t>
            </a:r>
          </a:p>
          <a:p>
            <a:pPr algn="r">
              <a:lnSpc>
                <a:spcPct val="100000"/>
              </a:lnSpc>
            </a:pPr>
            <a:r>
              <a:rPr sz="1000" b="0">
                <a:solidFill>
                  <a:srgbClr val="6E6487"/>
                </a:solidFill>
                <a:latin typeface="Noto Sans KR"/>
                <a:ea typeface="Noto Sans KR"/>
              </a:rPr>
              <a:t>int</a:t>
            </a:r>
          </a:p>
          <a:p>
            <a:pPr algn="r">
              <a:lnSpc>
                <a:spcPct val="100000"/>
              </a:lnSpc>
            </a:pPr>
            <a:r>
              <a:rPr sz="1000" b="0">
                <a:solidFill>
                  <a:srgbClr val="6E6487"/>
                </a:solidFill>
                <a:latin typeface="Noto Sans KR"/>
                <a:ea typeface="Noto Sans KR"/>
              </a:rPr>
              <a:t>float</a:t>
            </a:r>
          </a:p>
          <a:p>
            <a:pPr algn="r">
              <a:lnSpc>
                <a:spcPct val="100000"/>
              </a:lnSpc>
            </a:pPr>
            <a:r>
              <a:rPr sz="1000" b="0">
                <a:solidFill>
                  <a:srgbClr val="6E6487"/>
                </a:solidFill>
                <a:latin typeface="Noto Sans KR"/>
                <a:ea typeface="Noto Sans KR"/>
              </a:rPr>
              <a:t>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16121"/>
            <a:ext cx="3017520" cy="347472"/>
          </a:xfrm>
          <a:prstGeom prst="rect">
            <a:avLst/>
          </a:prstGeom>
          <a:solidFill>
            <a:srgbClr val="FFEBB0"/>
          </a:solidFill>
          <a:ln w="19050">
            <a:solidFill>
              <a:srgbClr val="3B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bIns="36576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3B2F57"/>
                </a:solidFill>
                <a:latin typeface="Noto Sans KR"/>
                <a:ea typeface="Noto Sans KR"/>
              </a:rPr>
              <a:t>StringTable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63593"/>
            <a:ext cx="3017520" cy="1049731"/>
          </a:xfrm>
          <a:prstGeom prst="rect">
            <a:avLst/>
          </a:prstGeom>
          <a:solidFill>
            <a:srgbClr val="FFFFFF"/>
          </a:solidFill>
          <a:ln w="19050">
            <a:solidFill>
              <a:srgbClr val="3B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t"/>
          <a:lstStyle/>
          <a:p>
            <a:pPr algn="l">
              <a:lnSpc>
                <a:spcPct val="100000"/>
              </a:lnSpc>
            </a:pPr>
            <a:r>
              <a:rPr sz="1000" b="1" dirty="0" err="1">
                <a:solidFill>
                  <a:srgbClr val="3B2F57"/>
                </a:solidFill>
                <a:latin typeface="Noto Sans KR"/>
                <a:ea typeface="Noto Sans KR"/>
              </a:rPr>
              <a:t>string_key</a:t>
            </a:r>
            <a:r>
              <a:rPr sz="800" b="1" dirty="0">
                <a:solidFill>
                  <a:srgbClr val="FF7FA8"/>
                </a:solidFill>
                <a:latin typeface="Noto Sans KR"/>
                <a:ea typeface="Noto Sans KR"/>
              </a:rPr>
              <a:t>  PK</a:t>
            </a:r>
          </a:p>
          <a:p>
            <a:pPr algn="l">
              <a:lnSpc>
                <a:spcPct val="100000"/>
              </a:lnSpc>
            </a:pPr>
            <a:r>
              <a:rPr sz="1000" b="0" dirty="0">
                <a:solidFill>
                  <a:srgbClr val="3B2F57"/>
                </a:solidFill>
                <a:latin typeface="Noto Sans KR"/>
                <a:ea typeface="Noto Sans KR"/>
              </a:rPr>
              <a:t>category</a:t>
            </a:r>
          </a:p>
          <a:p>
            <a:pPr algn="l">
              <a:lnSpc>
                <a:spcPct val="100000"/>
              </a:lnSpc>
            </a:pPr>
            <a:r>
              <a:rPr sz="1000" b="0" dirty="0">
                <a:solidFill>
                  <a:srgbClr val="3B2F57"/>
                </a:solidFill>
                <a:latin typeface="Noto Sans KR"/>
                <a:ea typeface="Noto Sans KR"/>
              </a:rPr>
              <a:t>ko</a:t>
            </a:r>
          </a:p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3B2F57"/>
                </a:solidFill>
                <a:latin typeface="Noto Sans KR"/>
                <a:ea typeface="Noto Sans KR"/>
              </a:rPr>
              <a:t>en</a:t>
            </a:r>
            <a:endParaRPr sz="1000" b="0" dirty="0">
              <a:solidFill>
                <a:srgbClr val="3B2F57"/>
              </a:solidFill>
              <a:latin typeface="Noto Sans KR"/>
              <a:ea typeface="Noto Sans KR"/>
            </a:endParaRPr>
          </a:p>
          <a:p>
            <a:pPr algn="l">
              <a:lnSpc>
                <a:spcPct val="100000"/>
              </a:lnSpc>
            </a:pPr>
            <a:r>
              <a:rPr sz="1000" b="0" dirty="0">
                <a:solidFill>
                  <a:srgbClr val="3B2F57"/>
                </a:solidFill>
                <a:latin typeface="Noto Sans KR"/>
                <a:ea typeface="Noto Sans KR"/>
              </a:rPr>
              <a:t>ja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4063593"/>
            <a:ext cx="868680" cy="104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bIns="36576" rtlCol="0" anchor="t"/>
          <a:lstStyle/>
          <a:p>
            <a:pPr algn="r">
              <a:lnSpc>
                <a:spcPct val="100000"/>
              </a:lnSpc>
            </a:pPr>
            <a:r>
              <a:rPr sz="1000" b="0" dirty="0">
                <a:solidFill>
                  <a:srgbClr val="6E6487"/>
                </a:solidFill>
                <a:latin typeface="Noto Sans KR"/>
                <a:ea typeface="Noto Sans KR"/>
              </a:rPr>
              <a:t>string</a:t>
            </a:r>
          </a:p>
          <a:p>
            <a:pPr algn="r">
              <a:lnSpc>
                <a:spcPct val="100000"/>
              </a:lnSpc>
            </a:pPr>
            <a:r>
              <a:rPr sz="1000" b="0" dirty="0" err="1">
                <a:solidFill>
                  <a:srgbClr val="6E6487"/>
                </a:solidFill>
                <a:latin typeface="Noto Sans KR"/>
                <a:ea typeface="Noto Sans KR"/>
              </a:rPr>
              <a:t>enum</a:t>
            </a:r>
            <a:endParaRPr sz="1000" b="0" dirty="0">
              <a:solidFill>
                <a:srgbClr val="6E6487"/>
              </a:solidFill>
              <a:latin typeface="Noto Sans KR"/>
              <a:ea typeface="Noto Sans KR"/>
            </a:endParaRPr>
          </a:p>
          <a:p>
            <a:pPr algn="r">
              <a:lnSpc>
                <a:spcPct val="100000"/>
              </a:lnSpc>
            </a:pPr>
            <a:r>
              <a:rPr sz="1000" b="0" dirty="0">
                <a:solidFill>
                  <a:srgbClr val="6E6487"/>
                </a:solidFill>
                <a:latin typeface="Noto Sans KR"/>
                <a:ea typeface="Noto Sans KR"/>
              </a:rPr>
              <a:t>string</a:t>
            </a:r>
          </a:p>
          <a:p>
            <a:pPr algn="r">
              <a:lnSpc>
                <a:spcPct val="100000"/>
              </a:lnSpc>
            </a:pPr>
            <a:r>
              <a:rPr sz="1000" b="0" dirty="0">
                <a:solidFill>
                  <a:srgbClr val="6E6487"/>
                </a:solidFill>
                <a:latin typeface="Noto Sans KR"/>
                <a:ea typeface="Noto Sans KR"/>
              </a:rPr>
              <a:t>string</a:t>
            </a:r>
          </a:p>
          <a:p>
            <a:pPr algn="r">
              <a:lnSpc>
                <a:spcPct val="100000"/>
              </a:lnSpc>
            </a:pPr>
            <a:r>
              <a:rPr sz="1000" b="0" dirty="0">
                <a:solidFill>
                  <a:srgbClr val="6E6487"/>
                </a:solidFill>
                <a:latin typeface="Noto Sans KR"/>
                <a:ea typeface="Noto Sans KR"/>
              </a:rPr>
              <a:t>string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66160" y="2313432"/>
            <a:ext cx="1005840" cy="0"/>
          </a:xfrm>
          <a:prstGeom prst="line">
            <a:avLst/>
          </a:prstGeom>
          <a:ln w="22225">
            <a:solidFill>
              <a:srgbClr val="3B2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593591" y="2066543"/>
            <a:ext cx="27432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bIns="36576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C5A8C"/>
                </a:solidFill>
                <a:latin typeface="Noto Sans KR"/>
                <a:ea typeface="Noto Sans KR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0248" y="2066543"/>
            <a:ext cx="27432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bIns="36576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C5A8C"/>
                </a:solidFill>
                <a:latin typeface="Noto Sans KR"/>
                <a:ea typeface="Noto Sans KR"/>
              </a:rPr>
              <a:t>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89520" y="2313432"/>
            <a:ext cx="1051560" cy="0"/>
          </a:xfrm>
          <a:prstGeom prst="line">
            <a:avLst/>
          </a:prstGeom>
          <a:ln w="22225">
            <a:solidFill>
              <a:srgbClr val="3B2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616952" y="2066543"/>
            <a:ext cx="27432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bIns="36576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C5A8C"/>
                </a:solidFill>
                <a:latin typeface="Noto Sans KR"/>
                <a:ea typeface="Noto Sans KR"/>
              </a:rPr>
              <a:t>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7" y="2066543"/>
            <a:ext cx="27432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bIns="36576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C5A8C"/>
                </a:solidFill>
                <a:latin typeface="Noto Sans KR"/>
                <a:ea typeface="Noto Sans KR"/>
              </a:rPr>
              <a:t>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57400" y="2984601"/>
            <a:ext cx="0" cy="731520"/>
          </a:xfrm>
          <a:prstGeom prst="line">
            <a:avLst/>
          </a:prstGeom>
          <a:ln w="22225">
            <a:solidFill>
              <a:srgbClr val="3B2F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130552" y="3200400"/>
            <a:ext cx="14630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bIns="36576" rtlCol="0" anchor="t"/>
          <a:lstStyle/>
          <a:p>
            <a:pPr algn="l">
              <a:lnSpc>
                <a:spcPct val="100000"/>
              </a:lnSpc>
            </a:pPr>
            <a:r>
              <a:rPr lang="en-US" sz="1000" b="0" dirty="0">
                <a:solidFill>
                  <a:srgbClr val="6E6487"/>
                </a:solidFill>
                <a:latin typeface="Noto Sans KR"/>
                <a:ea typeface="Noto Sans KR"/>
              </a:rPr>
              <a:t>L</a:t>
            </a:r>
            <a:r>
              <a:rPr sz="1000" b="0" dirty="0">
                <a:solidFill>
                  <a:srgbClr val="6E6487"/>
                </a:solidFill>
                <a:latin typeface="Noto Sans KR"/>
                <a:ea typeface="Noto Sans KR"/>
              </a:rPr>
              <a:t>ang</a:t>
            </a:r>
            <a:r>
              <a:rPr lang="ko-KR" altLang="en-US" sz="1000" b="0" dirty="0">
                <a:solidFill>
                  <a:srgbClr val="6E6487"/>
                </a:solidFill>
                <a:latin typeface="Noto Sans KR"/>
                <a:ea typeface="Noto Sans KR"/>
              </a:rPr>
              <a:t>값으로</a:t>
            </a:r>
            <a:r>
              <a:rPr lang="ko-KR" altLang="en-US" sz="1000" dirty="0">
                <a:solidFill>
                  <a:srgbClr val="6E6487"/>
                </a:solidFill>
                <a:latin typeface="Noto Sans KR"/>
                <a:ea typeface="Noto Sans KR"/>
              </a:rPr>
              <a:t> </a:t>
            </a:r>
            <a:r>
              <a:rPr sz="1000" b="0" dirty="0" err="1">
                <a:solidFill>
                  <a:srgbClr val="6E6487"/>
                </a:solidFill>
                <a:latin typeface="Noto Sans KR"/>
                <a:ea typeface="Noto Sans KR"/>
              </a:rPr>
              <a:t>언어</a:t>
            </a:r>
            <a:r>
              <a:rPr sz="1000" b="0" dirty="0">
                <a:solidFill>
                  <a:srgbClr val="6E6487"/>
                </a:solidFill>
                <a:latin typeface="Noto Sans KR"/>
                <a:ea typeface="Noto Sans KR"/>
              </a:rPr>
              <a:t> 열 </a:t>
            </a:r>
            <a:r>
              <a:rPr sz="1000" b="0" dirty="0" err="1">
                <a:solidFill>
                  <a:srgbClr val="6E6487"/>
                </a:solidFill>
                <a:latin typeface="Noto Sans KR"/>
                <a:ea typeface="Noto Sans KR"/>
              </a:rPr>
              <a:t>선택</a:t>
            </a:r>
            <a:endParaRPr sz="1000" b="0" dirty="0">
              <a:solidFill>
                <a:srgbClr val="6E6487"/>
              </a:solidFill>
              <a:latin typeface="Noto Sans KR"/>
              <a:ea typeface="Noto Sans KR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6035040"/>
            <a:ext cx="11109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bIns="36576" rtlCol="0" anchor="ctr"/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D9B44A"/>
                </a:solidFill>
                <a:latin typeface="Noto Sans KR"/>
                <a:ea typeface="Noto Sans KR"/>
              </a:rPr>
              <a:t>■ </a:t>
            </a:r>
            <a:r>
              <a:rPr sz="1000" b="0" dirty="0" err="1">
                <a:solidFill>
                  <a:schemeClr val="tx1"/>
                </a:solidFill>
                <a:latin typeface="Noto Sans KR"/>
                <a:ea typeface="Noto Sans KR"/>
              </a:rPr>
              <a:t>마스터</a:t>
            </a:r>
            <a:r>
              <a:rPr sz="1000" b="0" dirty="0">
                <a:solidFill>
                  <a:schemeClr val="tx1"/>
                </a:solidFill>
                <a:latin typeface="Noto Sans KR"/>
                <a:ea typeface="Noto Sans KR"/>
              </a:rPr>
              <a:t> </a:t>
            </a:r>
            <a:r>
              <a:rPr sz="1000" b="0" dirty="0" err="1">
                <a:solidFill>
                  <a:schemeClr val="tx1"/>
                </a:solidFill>
                <a:latin typeface="Noto Sans KR"/>
                <a:ea typeface="Noto Sans KR"/>
              </a:rPr>
              <a:t>데이터</a:t>
            </a:r>
            <a:r>
              <a:rPr sz="1000" b="0" dirty="0">
                <a:solidFill>
                  <a:schemeClr val="tx1"/>
                </a:solidFill>
                <a:latin typeface="Noto Sans KR"/>
                <a:ea typeface="Noto Sans KR"/>
              </a:rPr>
              <a:t> (</a:t>
            </a:r>
            <a:r>
              <a:rPr sz="1000" b="0" dirty="0" err="1">
                <a:solidFill>
                  <a:schemeClr val="tx1"/>
                </a:solidFill>
                <a:latin typeface="Noto Sans KR"/>
                <a:ea typeface="Noto Sans KR"/>
              </a:rPr>
              <a:t>기획</a:t>
            </a:r>
            <a:r>
              <a:rPr sz="1000" b="0" dirty="0">
                <a:solidFill>
                  <a:schemeClr val="tx1"/>
                </a:solidFill>
                <a:latin typeface="Noto Sans KR"/>
                <a:ea typeface="Noto Sans KR"/>
              </a:rPr>
              <a:t> </a:t>
            </a:r>
            <a:r>
              <a:rPr sz="1000" b="0" dirty="0" err="1">
                <a:solidFill>
                  <a:schemeClr val="tx1"/>
                </a:solidFill>
                <a:latin typeface="Noto Sans KR"/>
                <a:ea typeface="Noto Sans KR"/>
              </a:rPr>
              <a:t>관리</a:t>
            </a:r>
            <a:r>
              <a:rPr sz="1000" b="0" dirty="0">
                <a:solidFill>
                  <a:schemeClr val="tx1"/>
                </a:solidFill>
                <a:latin typeface="Noto Sans KR"/>
                <a:ea typeface="Noto Sans KR"/>
              </a:rPr>
              <a:t>)</a:t>
            </a:r>
            <a:r>
              <a:rPr sz="1200" b="1" dirty="0">
                <a:solidFill>
                  <a:schemeClr val="tx1"/>
                </a:solidFill>
                <a:latin typeface="Noto Sans KR"/>
                <a:ea typeface="Noto Sans KR"/>
              </a:rPr>
              <a:t>      </a:t>
            </a:r>
            <a:r>
              <a:rPr sz="1200" b="1" dirty="0">
                <a:solidFill>
                  <a:srgbClr val="9C8FCF"/>
                </a:solidFill>
                <a:latin typeface="Noto Sans KR"/>
                <a:ea typeface="Noto Sans KR"/>
              </a:rPr>
              <a:t>■ </a:t>
            </a:r>
            <a:r>
              <a:rPr sz="1000" b="0" dirty="0" err="1">
                <a:solidFill>
                  <a:schemeClr val="tx1"/>
                </a:solidFill>
                <a:latin typeface="Noto Sans KR"/>
                <a:ea typeface="Noto Sans KR"/>
              </a:rPr>
              <a:t>유저</a:t>
            </a:r>
            <a:r>
              <a:rPr sz="1000" b="0" dirty="0">
                <a:solidFill>
                  <a:schemeClr val="tx1"/>
                </a:solidFill>
                <a:latin typeface="Noto Sans KR"/>
                <a:ea typeface="Noto Sans KR"/>
              </a:rPr>
              <a:t> </a:t>
            </a:r>
            <a:r>
              <a:rPr sz="1000" b="0" dirty="0" err="1">
                <a:solidFill>
                  <a:schemeClr val="tx1"/>
                </a:solidFill>
                <a:latin typeface="Noto Sans KR"/>
                <a:ea typeface="Noto Sans KR"/>
              </a:rPr>
              <a:t>상태</a:t>
            </a:r>
            <a:r>
              <a:rPr sz="1200" b="1" dirty="0">
                <a:solidFill>
                  <a:schemeClr val="tx1"/>
                </a:solidFill>
                <a:latin typeface="Noto Sans KR"/>
                <a:ea typeface="Noto Sans KR"/>
              </a:rPr>
              <a:t>      </a:t>
            </a:r>
            <a:r>
              <a:rPr sz="1200" b="1" dirty="0">
                <a:solidFill>
                  <a:srgbClr val="E58BAA"/>
                </a:solidFill>
                <a:latin typeface="Noto Sans KR"/>
                <a:ea typeface="Noto Sans KR"/>
              </a:rPr>
              <a:t>■ </a:t>
            </a:r>
            <a:r>
              <a:rPr sz="1000" b="0" dirty="0" err="1">
                <a:solidFill>
                  <a:schemeClr val="tx1"/>
                </a:solidFill>
                <a:latin typeface="Noto Sans KR"/>
                <a:ea typeface="Noto Sans KR"/>
              </a:rPr>
              <a:t>로그</a:t>
            </a:r>
            <a:r>
              <a:rPr sz="1000" b="0" dirty="0">
                <a:solidFill>
                  <a:schemeClr val="tx1"/>
                </a:solidFill>
                <a:latin typeface="Noto Sans KR"/>
                <a:ea typeface="Noto Sans KR"/>
              </a:rPr>
              <a:t> (</a:t>
            </a:r>
            <a:r>
              <a:rPr sz="1000" b="0" dirty="0" err="1">
                <a:solidFill>
                  <a:schemeClr val="tx1"/>
                </a:solidFill>
                <a:latin typeface="Noto Sans KR"/>
                <a:ea typeface="Noto Sans KR"/>
              </a:rPr>
              <a:t>난이도</a:t>
            </a:r>
            <a:r>
              <a:rPr sz="1000" b="0" dirty="0">
                <a:solidFill>
                  <a:schemeClr val="tx1"/>
                </a:solidFill>
                <a:latin typeface="Noto Sans KR"/>
                <a:ea typeface="Noto Sans KR"/>
              </a:rPr>
              <a:t> </a:t>
            </a:r>
            <a:r>
              <a:rPr sz="1000" b="0" dirty="0" err="1">
                <a:solidFill>
                  <a:schemeClr val="tx1"/>
                </a:solidFill>
                <a:latin typeface="Noto Sans KR"/>
                <a:ea typeface="Noto Sans KR"/>
              </a:rPr>
              <a:t>조절용</a:t>
            </a:r>
            <a:r>
              <a:rPr sz="1000" b="0" dirty="0">
                <a:solidFill>
                  <a:schemeClr val="tx1"/>
                </a:solidFill>
                <a:latin typeface="Noto Sans KR"/>
                <a:ea typeface="Noto Sans KR"/>
              </a:rPr>
              <a:t>)</a:t>
            </a:r>
            <a:r>
              <a:rPr sz="1000" b="1" dirty="0">
                <a:solidFill>
                  <a:schemeClr val="tx1"/>
                </a:solidFill>
                <a:latin typeface="Noto Sans KR"/>
                <a:ea typeface="Noto Sans KR"/>
              </a:rPr>
              <a:t>      </a:t>
            </a:r>
            <a:r>
              <a:rPr sz="1000" b="1" dirty="0">
                <a:solidFill>
                  <a:srgbClr val="EC5A8C"/>
                </a:solidFill>
                <a:latin typeface="Noto Sans KR"/>
                <a:ea typeface="Noto Sans KR"/>
              </a:rPr>
              <a:t>1 : N  </a:t>
            </a:r>
            <a:r>
              <a:rPr sz="1000" b="0" dirty="0">
                <a:solidFill>
                  <a:schemeClr val="tx1"/>
                </a:solidFill>
                <a:latin typeface="Noto Sans KR"/>
                <a:ea typeface="Noto Sans KR"/>
              </a:rPr>
              <a:t>한 </a:t>
            </a:r>
            <a:r>
              <a:rPr sz="1000" b="0" dirty="0" err="1">
                <a:solidFill>
                  <a:schemeClr val="tx1"/>
                </a:solidFill>
                <a:latin typeface="Noto Sans KR"/>
                <a:ea typeface="Noto Sans KR"/>
              </a:rPr>
              <a:t>행이</a:t>
            </a:r>
            <a:r>
              <a:rPr sz="1000" b="0" dirty="0">
                <a:solidFill>
                  <a:schemeClr val="tx1"/>
                </a:solidFill>
                <a:latin typeface="Noto Sans KR"/>
                <a:ea typeface="Noto Sans KR"/>
              </a:rPr>
              <a:t> </a:t>
            </a:r>
            <a:r>
              <a:rPr sz="1000" b="0" dirty="0" err="1">
                <a:solidFill>
                  <a:schemeClr val="tx1"/>
                </a:solidFill>
                <a:latin typeface="Noto Sans KR"/>
                <a:ea typeface="Noto Sans KR"/>
              </a:rPr>
              <a:t>여러</a:t>
            </a:r>
            <a:r>
              <a:rPr sz="1000" b="0" dirty="0">
                <a:solidFill>
                  <a:schemeClr val="tx1"/>
                </a:solidFill>
                <a:latin typeface="Noto Sans KR"/>
                <a:ea typeface="Noto Sans KR"/>
              </a:rPr>
              <a:t> </a:t>
            </a:r>
            <a:r>
              <a:rPr sz="1000" b="0" dirty="0" err="1">
                <a:solidFill>
                  <a:schemeClr val="tx1"/>
                </a:solidFill>
                <a:latin typeface="Noto Sans KR"/>
                <a:ea typeface="Noto Sans KR"/>
              </a:rPr>
              <a:t>행과</a:t>
            </a:r>
            <a:r>
              <a:rPr sz="1000" b="0" dirty="0">
                <a:solidFill>
                  <a:schemeClr val="tx1"/>
                </a:solidFill>
                <a:latin typeface="Noto Sans KR"/>
                <a:ea typeface="Noto Sans KR"/>
              </a:rPr>
              <a:t> </a:t>
            </a:r>
            <a:r>
              <a:rPr sz="1000" b="0" dirty="0" err="1">
                <a:solidFill>
                  <a:schemeClr val="tx1"/>
                </a:solidFill>
                <a:latin typeface="Noto Sans KR"/>
                <a:ea typeface="Noto Sans KR"/>
              </a:rPr>
              <a:t>연결</a:t>
            </a:r>
            <a:r>
              <a:rPr sz="1000" b="1" dirty="0">
                <a:solidFill>
                  <a:schemeClr val="tx1"/>
                </a:solidFill>
                <a:latin typeface="Noto Sans KR"/>
                <a:ea typeface="Noto Sans KR"/>
              </a:rPr>
              <a:t>      - - -  </a:t>
            </a:r>
            <a:r>
              <a:rPr sz="1000" b="0" dirty="0" err="1">
                <a:solidFill>
                  <a:schemeClr val="tx1"/>
                </a:solidFill>
                <a:latin typeface="Noto Sans KR"/>
                <a:ea typeface="Noto Sans KR"/>
              </a:rPr>
              <a:t>참조</a:t>
            </a:r>
            <a:endParaRPr sz="1000" b="0" dirty="0">
              <a:solidFill>
                <a:schemeClr val="tx1"/>
              </a:solidFill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dirty="0"/>
              <a:t>테이블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F57"/>
                </a:solidFill>
              </a:rPr>
              <a:t>4.2 StageTable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146114"/>
              </p:ext>
            </p:extLst>
          </p:nvPr>
        </p:nvGraphicFramePr>
        <p:xfrm>
          <a:off x="548640" y="1828800"/>
          <a:ext cx="11109959" cy="3142800"/>
        </p:xfrm>
        <a:graphic>
          <a:graphicData uri="http://schemas.openxmlformats.org/drawingml/2006/table">
            <a:tbl>
              <a:tblPr/>
              <a:tblGrid>
                <a:gridCol w="2356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필드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 err="1">
                          <a:solidFill>
                            <a:srgbClr val="3B2F57"/>
                          </a:solidFill>
                        </a:rPr>
                        <a:t>stage_id</a:t>
                      </a: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rgbClr val="3B2F57"/>
                          </a:solidFill>
                        </a:rPr>
                        <a:t>(PK)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3B2F57"/>
                          </a:solidFill>
                        </a:rPr>
                        <a:t>string</a:t>
                      </a:r>
                      <a:endParaRPr lang="en-US" altLang="ko-KR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스테이지 번호 (PK), 모든 로그의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기준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키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C5A8C"/>
                          </a:solidFill>
                        </a:rPr>
                        <a:t>difficulty</a:t>
                      </a: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enum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입문, 쉬움, 보통,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어려움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,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허들</a:t>
                      </a:r>
                      <a:r>
                        <a:rPr lang="en-US" altLang="ko-KR" sz="1200" dirty="0">
                          <a:solidFill>
                            <a:srgbClr val="3B2F57"/>
                          </a:solidFill>
                        </a:rPr>
                        <a:t>.  </a:t>
                      </a:r>
                      <a:r>
                        <a:rPr lang="ko-KR" altLang="en-US" sz="1200" dirty="0">
                          <a:solidFill>
                            <a:srgbClr val="EC5A8C"/>
                          </a:solidFill>
                        </a:rPr>
                        <a:t>기획자의 스테이지 난이도 설계 의도 기록용도</a:t>
                      </a:r>
                      <a:endParaRPr lang="en-US" sz="1200" dirty="0">
                        <a:solidFill>
                          <a:srgbClr val="EC5A8C"/>
                        </a:solidFill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C5A8C"/>
                          </a:solidFill>
                        </a:rPr>
                        <a:t>board_size</a:t>
                      </a: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보드 한 변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의 길이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(4~8)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C5A8C"/>
                          </a:solidFill>
                        </a:rPr>
                        <a:t>step_count</a:t>
                      </a: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LEN, 답까지 총길이 (난이도 핵심 조절값)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 err="1">
                          <a:solidFill>
                            <a:srgbClr val="EC5A8C"/>
                          </a:solidFill>
                        </a:rPr>
                        <a:t>case_max</a:t>
                      </a:r>
                      <a:endParaRPr lang="en-US" sz="1200" b="1" dirty="0">
                        <a:solidFill>
                          <a:srgbClr val="EC5A8C"/>
                        </a:solidFill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필요한 최대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경우의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수 , 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값이 이상인 보드는 다시 생성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 err="1">
                          <a:solidFill>
                            <a:srgbClr val="EC5A8C"/>
                          </a:solidFill>
                        </a:rPr>
                        <a:t>case_min</a:t>
                      </a:r>
                      <a:endParaRPr lang="en-US" sz="1200" b="1" dirty="0">
                        <a:solidFill>
                          <a:srgbClr val="EC5A8C"/>
                        </a:solidFill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필요한 최소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경우의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수 , 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값이 이하인 보드는 다시 생성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351707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 err="1"/>
                        <a:t>clear_rate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dirty="0"/>
                        <a:t>스테이지 플레이 </a:t>
                      </a:r>
                      <a:r>
                        <a:rPr lang="ko-KR" altLang="en-US" sz="1200" dirty="0" err="1"/>
                        <a:t>유저수</a:t>
                      </a:r>
                      <a:r>
                        <a:rPr lang="ko-KR" altLang="en-US" sz="1200" dirty="0"/>
                        <a:t> 중 클리어 성공한 유저비율</a:t>
                      </a:r>
                      <a:r>
                        <a:rPr lang="en-US" altLang="ko-KR" sz="1200" dirty="0"/>
                        <a:t>  </a:t>
                      </a:r>
                      <a:r>
                        <a:rPr lang="en-US" sz="1200" dirty="0">
                          <a:solidFill>
                            <a:srgbClr val="EC5A8C"/>
                          </a:solidFill>
                        </a:rPr>
                        <a:t>Ex) 0.4</a:t>
                      </a:r>
                      <a:r>
                        <a:rPr lang="ko-KR" altLang="en-US" sz="1200" dirty="0">
                          <a:solidFill>
                            <a:srgbClr val="EC5A8C"/>
                          </a:solidFill>
                        </a:rPr>
                        <a:t>면 </a:t>
                      </a:r>
                      <a:r>
                        <a:rPr lang="en-US" altLang="ko-KR" sz="1200" dirty="0">
                          <a:solidFill>
                            <a:srgbClr val="EC5A8C"/>
                          </a:solidFill>
                        </a:rPr>
                        <a:t>10</a:t>
                      </a:r>
                      <a:r>
                        <a:rPr lang="ko-KR" altLang="en-US" sz="1200" dirty="0">
                          <a:solidFill>
                            <a:srgbClr val="EC5A8C"/>
                          </a:solidFill>
                        </a:rPr>
                        <a:t>명중 </a:t>
                      </a:r>
                      <a:r>
                        <a:rPr lang="en-US" altLang="ko-KR" sz="1200" dirty="0">
                          <a:solidFill>
                            <a:srgbClr val="EC5A8C"/>
                          </a:solidFill>
                        </a:rPr>
                        <a:t>4</a:t>
                      </a:r>
                      <a:r>
                        <a:rPr lang="ko-KR" altLang="en-US" sz="1200" dirty="0">
                          <a:solidFill>
                            <a:srgbClr val="EC5A8C"/>
                          </a:solidFill>
                        </a:rPr>
                        <a:t>명은 클리어 성공</a:t>
                      </a:r>
                      <a:endParaRPr lang="en-US" sz="1200" dirty="0">
                        <a:solidFill>
                          <a:srgbClr val="EC5A8C"/>
                        </a:solidFill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seed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알고리즘이 확정한 생성 시드 (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자동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기록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및 참조용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918587"/>
                  </a:ext>
                </a:extLst>
              </a:tr>
            </a:tbl>
          </a:graphicData>
        </a:graphic>
      </p:graphicFrame>
      <p:sp>
        <p:nvSpPr>
          <p:cNvPr id="55" name="Rectangle 3">
            <a:extLst>
              <a:ext uri="{FF2B5EF4-FFF2-40B4-BE49-F238E27FC236}">
                <a16:creationId xmlns:a16="http://schemas.microsoft.com/office/drawing/2014/main" id="{8DA81AD6-0654-990D-0433-DEF803C13A07}"/>
              </a:ext>
            </a:extLst>
          </p:cNvPr>
          <p:cNvSpPr/>
          <p:nvPr/>
        </p:nvSpPr>
        <p:spPr>
          <a:xfrm>
            <a:off x="548640" y="1280160"/>
            <a:ext cx="11109960" cy="365760"/>
          </a:xfrm>
          <a:prstGeom prst="rect">
            <a:avLst/>
          </a:prstGeom>
          <a:solidFill>
            <a:srgbClr val="F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7432" rIns="73152" bIns="27432" rtlCol="0" anchor="ctr"/>
          <a:lstStyle/>
          <a:p>
            <a:pPr algn="l"/>
            <a:r>
              <a:rPr lang="ko-KR" altLang="en-US" sz="1200" b="1" dirty="0">
                <a:solidFill>
                  <a:srgbClr val="EC5A8C"/>
                </a:solidFill>
                <a:latin typeface="Noto Sans KR"/>
                <a:ea typeface="Noto Sans KR"/>
              </a:rPr>
              <a:t>난이도 조절 </a:t>
            </a:r>
            <a:r>
              <a:rPr lang="ko-KR" altLang="en-US" sz="1200" b="1" dirty="0">
                <a:solidFill>
                  <a:srgbClr val="3B2F57"/>
                </a:solidFill>
                <a:latin typeface="Noto Sans KR"/>
                <a:ea typeface="Noto Sans KR"/>
              </a:rPr>
              <a:t>분홍색으로 표시한 필드는 기획자가 직접 값을 수정하며 난이도를 조절하는 테이블 </a:t>
            </a:r>
            <a:endParaRPr sz="1200" b="1" dirty="0">
              <a:solidFill>
                <a:srgbClr val="3B2F57"/>
              </a:solidFill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>
          <a:xfrm>
            <a:off x="548640" y="274320"/>
            <a:ext cx="8229600" cy="292608"/>
          </a:xfrm>
        </p:spPr>
        <p:txBody>
          <a:bodyPr wrap="square" lIns="0" tIns="0" rIns="0" bIns="0" rtlCol="0" anchor="t"/>
          <a:lstStyle/>
          <a:p>
            <a:r>
              <a:t>테이블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>
          <a:xfrm>
            <a:off x="548640" y="548640"/>
            <a:ext cx="11064240" cy="566928"/>
          </a:xfrm>
        </p:spPr>
        <p:txBody>
          <a:bodyPr wrap="square" lIns="0" tIns="0" rIns="0" bIns="0" rtlCol="0" anchor="t"/>
          <a:lstStyle/>
          <a:p>
            <a:r>
              <a:t>4.3 Player</a:t>
            </a:r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702834"/>
              </p:ext>
            </p:extLst>
          </p:nvPr>
        </p:nvGraphicFramePr>
        <p:xfrm>
          <a:off x="548640" y="1828800"/>
          <a:ext cx="11109960" cy="2779776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385184243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613538868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3114706269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319463166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필드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추출 지표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player_id (PK)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유저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고유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ID</a:t>
                      </a:r>
                      <a:endParaRPr lang="en-US" altLang="ko-KR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/>
                        <a:t>-</a:t>
                      </a: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lang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표시 언어, StringTable 열 선택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언어별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유저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비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율</a:t>
                      </a:r>
                      <a:r>
                        <a:rPr lang="en-US" altLang="ko-KR" sz="800" b="0" dirty="0">
                          <a:solidFill>
                            <a:srgbClr val="8C84A3"/>
                          </a:solidFill>
                        </a:rPr>
                        <a:t>  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</a:rPr>
                        <a:t>언어별 사용자 빈도로 주 타겟층 판단</a:t>
                      </a:r>
                      <a:endParaRPr lang="en-US" sz="1200" dirty="0">
                        <a:solidFill>
                          <a:srgbClr val="EC5A8C"/>
                        </a:solidFill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hint_count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보유 힌트 (기본 5)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광고 출력 여부 판정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</a:rPr>
                        <a:t> 오작동 방지 </a:t>
                      </a:r>
                      <a:endParaRPr lang="en-US" sz="1200" dirty="0">
                        <a:solidFill>
                          <a:srgbClr val="EC5A8C"/>
                        </a:solidFill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current_stage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유저의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마지막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플레이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스테이지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스테이지별 현재 유저 분포</a:t>
                      </a:r>
                      <a:r>
                        <a:rPr lang="en-US" sz="800" b="0" dirty="0">
                          <a:solidFill>
                            <a:srgbClr val="8C84A3"/>
                          </a:solidFill>
                        </a:rPr>
                        <a:t>   </a:t>
                      </a:r>
                      <a:r>
                        <a:rPr lang="en-US" sz="800" b="0" dirty="0">
                          <a:solidFill>
                            <a:srgbClr val="FF7FA8"/>
                          </a:solidFill>
                        </a:rPr>
                        <a:t>진행이 멈추는 스테이지 파악</a:t>
                      </a:r>
                      <a:endParaRPr lang="en-US" sz="1200" dirty="0">
                        <a:solidFill>
                          <a:srgbClr val="EC5A8C"/>
                        </a:solidFill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created_at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datetime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가입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시각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일별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신규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유저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수(NRU) </a:t>
                      </a:r>
                      <a:r>
                        <a:rPr lang="en-US" sz="800" b="0" dirty="0" err="1">
                          <a:solidFill>
                            <a:srgbClr val="FF7FA8"/>
                          </a:solidFill>
                        </a:rPr>
                        <a:t>신규</a:t>
                      </a:r>
                      <a:r>
                        <a:rPr lang="en-US" sz="800" b="0" dirty="0">
                          <a:solidFill>
                            <a:srgbClr val="FF7FA8"/>
                          </a:solidFill>
                        </a:rPr>
                        <a:t> CPI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</a:rPr>
                        <a:t>와 </a:t>
                      </a:r>
                      <a:r>
                        <a:rPr lang="en-US" altLang="ko-KR" sz="800" b="0" dirty="0">
                          <a:solidFill>
                            <a:srgbClr val="FF7FA8"/>
                          </a:solidFill>
                        </a:rPr>
                        <a:t>D7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</a:rPr>
                        <a:t>까지의 </a:t>
                      </a:r>
                      <a:r>
                        <a:rPr lang="ko-KR" altLang="en-US" sz="800" b="0" dirty="0" err="1">
                          <a:solidFill>
                            <a:srgbClr val="FF7FA8"/>
                          </a:solidFill>
                        </a:rPr>
                        <a:t>리텐션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</a:rPr>
                        <a:t> 분석용</a:t>
                      </a:r>
                      <a:endParaRPr lang="en-US" sz="1200" dirty="0">
                        <a:solidFill>
                          <a:srgbClr val="EC5A8C"/>
                        </a:solidFill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last_login_at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datetime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마지막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접속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시간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7일(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특정일</a:t>
                      </a:r>
                      <a:r>
                        <a:rPr lang="en-US" altLang="ko-KR" sz="1200" dirty="0">
                          <a:solidFill>
                            <a:srgbClr val="3B2F57"/>
                          </a:solidFill>
                        </a:rPr>
                        <a:t>)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미접속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유저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비율</a:t>
                      </a:r>
                      <a:r>
                        <a:rPr lang="en-US" sz="800" b="0" dirty="0">
                          <a:solidFill>
                            <a:srgbClr val="8C84A3"/>
                          </a:solidFill>
                        </a:rPr>
                        <a:t>  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</a:rPr>
                        <a:t>유저 </a:t>
                      </a:r>
                      <a:r>
                        <a:rPr lang="en-US" sz="800" b="0" dirty="0" err="1">
                          <a:solidFill>
                            <a:srgbClr val="FF7FA8"/>
                          </a:solidFill>
                        </a:rPr>
                        <a:t>이탈</a:t>
                      </a:r>
                      <a:r>
                        <a:rPr lang="en-US" sz="800" b="0" dirty="0">
                          <a:solidFill>
                            <a:srgbClr val="FF7FA8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</a:rPr>
                        <a:t>여부</a:t>
                      </a:r>
                      <a:r>
                        <a:rPr lang="en-US" sz="800" b="0" dirty="0" err="1">
                          <a:solidFill>
                            <a:srgbClr val="FF7FA8"/>
                          </a:solidFill>
                        </a:rPr>
                        <a:t>판단</a:t>
                      </a:r>
                      <a:endParaRPr lang="en-US" sz="1200" dirty="0">
                        <a:solidFill>
                          <a:srgbClr val="EC5A8C"/>
                        </a:solidFill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 err="1"/>
                        <a:t>paid_player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bool</a:t>
                      </a: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dirty="0"/>
                        <a:t>결제 여부를</a:t>
                      </a:r>
                      <a:r>
                        <a:rPr lang="en-US" altLang="ko-KR" sz="1200" dirty="0"/>
                        <a:t> true</a:t>
                      </a:r>
                      <a:r>
                        <a:rPr lang="ko-KR" altLang="en-US" sz="1200" dirty="0"/>
                        <a:t>나 </a:t>
                      </a:r>
                      <a:r>
                        <a:rPr lang="en-US" altLang="ko-KR" sz="1200" dirty="0" err="1"/>
                        <a:t>flase</a:t>
                      </a:r>
                      <a:r>
                        <a:rPr lang="ko-KR" altLang="en-US" sz="1200" dirty="0"/>
                        <a:t>로 판단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3B2F57"/>
                          </a:solidFill>
                        </a:rPr>
                        <a:t>PU,PUR</a:t>
                      </a:r>
                      <a:r>
                        <a:rPr lang="ko-KR" altLang="en-US" sz="1200" b="0" dirty="0">
                          <a:solidFill>
                            <a:srgbClr val="3B2F57"/>
                          </a:solidFill>
                        </a:rPr>
                        <a:t>확인 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</a:rPr>
                        <a:t>과금 모델의 유효성 분석용</a:t>
                      </a:r>
                      <a:endParaRPr lang="en-US" altLang="ko-KR" sz="800" dirty="0">
                        <a:solidFill>
                          <a:srgbClr val="FF7FA8"/>
                        </a:solidFill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5129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48640" y="1280160"/>
            <a:ext cx="11109960" cy="365760"/>
          </a:xfrm>
          <a:prstGeom prst="rect">
            <a:avLst/>
          </a:prstGeom>
          <a:solidFill>
            <a:srgbClr val="F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7432" rIns="73152" bIns="27432" rtlCol="0" anchor="ctr"/>
          <a:lstStyle/>
          <a:p>
            <a:pPr algn="l"/>
            <a:r>
              <a:rPr sz="1200" b="1" dirty="0" err="1">
                <a:solidFill>
                  <a:srgbClr val="EC5A8C"/>
                </a:solidFill>
                <a:latin typeface="Noto Sans KR"/>
                <a:ea typeface="Noto Sans KR"/>
              </a:rPr>
              <a:t>유저</a:t>
            </a:r>
            <a:r>
              <a:rPr sz="1200" b="1" dirty="0">
                <a:solidFill>
                  <a:srgbClr val="EC5A8C"/>
                </a:solidFill>
                <a:latin typeface="Noto Sans KR"/>
                <a:ea typeface="Noto Sans KR"/>
              </a:rPr>
              <a:t> </a:t>
            </a:r>
            <a:r>
              <a:rPr sz="1200" b="1" dirty="0" err="1">
                <a:solidFill>
                  <a:srgbClr val="EC5A8C"/>
                </a:solidFill>
                <a:latin typeface="Noto Sans KR"/>
                <a:ea typeface="Noto Sans KR"/>
              </a:rPr>
              <a:t>상태</a:t>
            </a:r>
            <a:r>
              <a:rPr sz="1200" b="1" dirty="0">
                <a:solidFill>
                  <a:srgbClr val="EC5A8C"/>
                </a:solidFill>
                <a:latin typeface="Noto Sans KR"/>
                <a:ea typeface="Noto Sans KR"/>
              </a:rPr>
              <a:t>  </a:t>
            </a:r>
            <a:r>
              <a:rPr sz="1200" b="1" dirty="0" err="1">
                <a:solidFill>
                  <a:srgbClr val="3B2F57"/>
                </a:solidFill>
                <a:latin typeface="Noto Sans KR"/>
                <a:ea typeface="Noto Sans KR"/>
              </a:rPr>
              <a:t>유저</a:t>
            </a:r>
            <a:r>
              <a:rPr sz="1200" b="1" dirty="0">
                <a:solidFill>
                  <a:srgbClr val="3B2F57"/>
                </a:solidFill>
                <a:latin typeface="Noto Sans KR"/>
                <a:ea typeface="Noto Sans KR"/>
              </a:rPr>
              <a:t> 1명당 1행, </a:t>
            </a:r>
            <a:r>
              <a:rPr sz="1200" b="1" dirty="0" err="1">
                <a:solidFill>
                  <a:srgbClr val="3B2F57"/>
                </a:solidFill>
                <a:latin typeface="Noto Sans KR"/>
                <a:ea typeface="Noto Sans KR"/>
              </a:rPr>
              <a:t>보유</a:t>
            </a:r>
            <a:r>
              <a:rPr sz="1200" b="1" dirty="0">
                <a:solidFill>
                  <a:srgbClr val="3B2F57"/>
                </a:solidFill>
                <a:latin typeface="Noto Sans KR"/>
                <a:ea typeface="Noto Sans KR"/>
              </a:rPr>
              <a:t> </a:t>
            </a:r>
            <a:r>
              <a:rPr sz="1200" b="1" dirty="0" err="1">
                <a:solidFill>
                  <a:srgbClr val="3B2F57"/>
                </a:solidFill>
                <a:latin typeface="Noto Sans KR"/>
                <a:ea typeface="Noto Sans KR"/>
              </a:rPr>
              <a:t>힌트와</a:t>
            </a:r>
            <a:r>
              <a:rPr sz="1200" b="1" dirty="0">
                <a:solidFill>
                  <a:srgbClr val="3B2F57"/>
                </a:solidFill>
                <a:latin typeface="Noto Sans KR"/>
                <a:ea typeface="Noto Sans KR"/>
              </a:rPr>
              <a:t> </a:t>
            </a:r>
            <a:r>
              <a:rPr sz="1200" b="1" dirty="0" err="1">
                <a:solidFill>
                  <a:srgbClr val="3B2F57"/>
                </a:solidFill>
                <a:latin typeface="Noto Sans KR"/>
                <a:ea typeface="Noto Sans KR"/>
              </a:rPr>
              <a:t>진행도</a:t>
            </a:r>
            <a:r>
              <a:rPr sz="1200" b="1" dirty="0">
                <a:solidFill>
                  <a:srgbClr val="3B2F57"/>
                </a:solidFill>
                <a:latin typeface="Noto Sans KR"/>
                <a:ea typeface="Noto Sans KR"/>
              </a:rPr>
              <a:t>, </a:t>
            </a:r>
            <a:r>
              <a:rPr sz="1200" b="1" dirty="0" err="1">
                <a:solidFill>
                  <a:srgbClr val="3B2F57"/>
                </a:solidFill>
                <a:latin typeface="Noto Sans KR"/>
                <a:ea typeface="Noto Sans KR"/>
              </a:rPr>
              <a:t>접속</a:t>
            </a:r>
            <a:r>
              <a:rPr sz="1200" b="1" dirty="0">
                <a:solidFill>
                  <a:srgbClr val="3B2F57"/>
                </a:solidFill>
                <a:latin typeface="Noto Sans KR"/>
                <a:ea typeface="Noto Sans KR"/>
              </a:rPr>
              <a:t> </a:t>
            </a:r>
            <a:r>
              <a:rPr sz="1200" b="1" dirty="0" err="1">
                <a:solidFill>
                  <a:srgbClr val="3B2F57"/>
                </a:solidFill>
                <a:latin typeface="Noto Sans KR"/>
                <a:ea typeface="Noto Sans KR"/>
              </a:rPr>
              <a:t>기록을</a:t>
            </a:r>
            <a:r>
              <a:rPr sz="1200" b="1" dirty="0">
                <a:solidFill>
                  <a:srgbClr val="3B2F57"/>
                </a:solidFill>
                <a:latin typeface="Noto Sans KR"/>
                <a:ea typeface="Noto Sans KR"/>
              </a:rPr>
              <a:t> </a:t>
            </a:r>
            <a:r>
              <a:rPr sz="1200" b="1" dirty="0" err="1">
                <a:solidFill>
                  <a:srgbClr val="3B2F57"/>
                </a:solidFill>
                <a:latin typeface="Noto Sans KR"/>
                <a:ea typeface="Noto Sans KR"/>
              </a:rPr>
              <a:t>저장하는</a:t>
            </a:r>
            <a:r>
              <a:rPr sz="1200" b="1" dirty="0">
                <a:solidFill>
                  <a:srgbClr val="3B2F57"/>
                </a:solidFill>
                <a:latin typeface="Noto Sans KR"/>
                <a:ea typeface="Noto Sans KR"/>
              </a:rPr>
              <a:t> </a:t>
            </a:r>
            <a:r>
              <a:rPr sz="1200" b="1" dirty="0" err="1">
                <a:solidFill>
                  <a:srgbClr val="3B2F57"/>
                </a:solidFill>
                <a:latin typeface="Noto Sans KR"/>
                <a:ea typeface="Noto Sans KR"/>
              </a:rPr>
              <a:t>테이블</a:t>
            </a:r>
            <a:endParaRPr sz="1200" b="1" dirty="0">
              <a:solidFill>
                <a:srgbClr val="3B2F57"/>
              </a:solidFill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>
          <a:xfrm>
            <a:off x="548640" y="274320"/>
            <a:ext cx="8229600" cy="292608"/>
          </a:xfrm>
        </p:spPr>
        <p:txBody>
          <a:bodyPr wrap="square" lIns="0" tIns="0" rIns="0" bIns="0" rtlCol="0" anchor="t"/>
          <a:lstStyle/>
          <a:p>
            <a:r>
              <a:t>테이블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>
          <a:xfrm>
            <a:off x="548640" y="548640"/>
            <a:ext cx="11064240" cy="566928"/>
          </a:xfrm>
        </p:spPr>
        <p:txBody>
          <a:bodyPr wrap="square" lIns="0" tIns="0" rIns="0" bIns="0" rtlCol="0" anchor="t"/>
          <a:lstStyle/>
          <a:p>
            <a:r>
              <a:t>4.4 PlayLog</a:t>
            </a: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1903"/>
              </p:ext>
            </p:extLst>
          </p:nvPr>
        </p:nvGraphicFramePr>
        <p:xfrm>
          <a:off x="548640" y="1828800"/>
          <a:ext cx="11109960" cy="3822192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385184243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613538868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3114706269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319463166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필드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추출 지표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 err="1">
                          <a:solidFill>
                            <a:srgbClr val="3B2F57"/>
                          </a:solidFill>
                        </a:rPr>
                        <a:t>Seed_id</a:t>
                      </a: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 (PK)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시도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고유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ID (</a:t>
                      </a:r>
                      <a:r>
                        <a:rPr lang="ko-KR" altLang="en-US" sz="1200" dirty="0"/>
                        <a:t>특정 로그를 구별하는 유일키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/>
                        <a:t>-</a:t>
                      </a: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player_id (FK)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Player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참조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(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유저의 정보 확인</a:t>
                      </a:r>
                      <a:r>
                        <a:rPr lang="en-US" altLang="ko-KR" sz="1200" dirty="0">
                          <a:solidFill>
                            <a:srgbClr val="3B2F57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/>
                        <a:t>-</a:t>
                      </a: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stage_id (FK)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StageTable 참조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/>
                        <a:t>-</a:t>
                      </a: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attempt_no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해당 스테이지 몇 번째 시도인지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재시도율, 클리어까지 평균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시도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횟수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FF7FA8"/>
                          </a:solidFill>
                        </a:rPr>
                        <a:t>난이도</a:t>
                      </a:r>
                      <a:r>
                        <a:rPr lang="en-US" sz="800" b="0" dirty="0">
                          <a:solidFill>
                            <a:srgbClr val="FF7FA8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</a:rPr>
                        <a:t>조절</a:t>
                      </a:r>
                      <a:endParaRPr lang="en-US" sz="1200" dirty="0">
                        <a:solidFill>
                          <a:srgbClr val="EC5A8C"/>
                        </a:solidFill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result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enum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clear 클리어 / restart 다시하기 / quit 이탈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클리어율, 다시하기 비율,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이탈</a:t>
                      </a:r>
                      <a:r>
                        <a:rPr lang="ko-KR" altLang="en-US" sz="1200" dirty="0" err="1">
                          <a:solidFill>
                            <a:srgbClr val="3B2F57"/>
                          </a:solidFill>
                        </a:rPr>
                        <a:t>률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</a:rPr>
                        <a:t>난이도 조절</a:t>
                      </a:r>
                      <a:endParaRPr lang="en-US" sz="1200" dirty="0">
                        <a:solidFill>
                          <a:srgbClr val="EC5A8C"/>
                        </a:solidFill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play_time_ms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Float</a:t>
                      </a: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ended_at −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started_at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(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총 플레이 시간</a:t>
                      </a:r>
                      <a:r>
                        <a:rPr lang="en-US" altLang="ko-KR" sz="1200" dirty="0">
                          <a:solidFill>
                            <a:srgbClr val="3B2F57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평균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클리어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시간</a:t>
                      </a:r>
                      <a:r>
                        <a:rPr lang="en-US" sz="800" b="0" dirty="0">
                          <a:solidFill>
                            <a:srgbClr val="8C84A3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</a:rPr>
                        <a:t>플레이타임 조절</a:t>
                      </a:r>
                      <a:endParaRPr lang="en-US" sz="1200" dirty="0">
                        <a:solidFill>
                          <a:srgbClr val="EC5A8C"/>
                        </a:solidFill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44577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move_count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이동 수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정답 칸 수 대비 실제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이동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수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</a:rPr>
                        <a:t> 난이도 조절</a:t>
                      </a:r>
                      <a:endParaRPr lang="en-US" sz="1200" dirty="0">
                        <a:solidFill>
                          <a:srgbClr val="EC5A8C"/>
                        </a:solidFill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52195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undo_count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되돌리기 수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스테이지별 평균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되돌리기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횟수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</a:rPr>
                        <a:t>난이도 조절</a:t>
                      </a:r>
                      <a:endParaRPr lang="en-US" sz="1200" dirty="0">
                        <a:solidFill>
                          <a:srgbClr val="EC5A8C"/>
                        </a:solidFill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83643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hint_used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사용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한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힌트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수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스테이지별 평균 힌트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사용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수 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</a:rPr>
                        <a:t>힌트 지급량 조절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2995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stuck_count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막힘 상태 도달 횟수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스테이지별 평균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막힘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횟수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FF7FA8"/>
                          </a:solidFill>
                        </a:rPr>
                        <a:t>난이도 조절</a:t>
                      </a:r>
                      <a:endParaRPr lang="en-US" sz="1200" dirty="0">
                        <a:solidFill>
                          <a:srgbClr val="EC5A8C"/>
                        </a:solidFill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8533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48640" y="1280160"/>
            <a:ext cx="11109960" cy="365760"/>
          </a:xfrm>
          <a:prstGeom prst="rect">
            <a:avLst/>
          </a:prstGeom>
          <a:solidFill>
            <a:srgbClr val="F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7432" rIns="73152" bIns="27432" rtlCol="0" anchor="ctr"/>
          <a:lstStyle/>
          <a:p>
            <a:pPr algn="l"/>
            <a:r>
              <a:rPr sz="1200" b="1">
                <a:solidFill>
                  <a:srgbClr val="EC5A8C"/>
                </a:solidFill>
                <a:latin typeface="Noto Sans KR"/>
                <a:ea typeface="Noto Sans KR"/>
              </a:rPr>
              <a:t>수집 목적  </a:t>
            </a:r>
            <a:r>
              <a:rPr sz="1200" b="1">
                <a:solidFill>
                  <a:srgbClr val="3B2F57"/>
                </a:solidFill>
                <a:latin typeface="Noto Sans KR"/>
                <a:ea typeface="Noto Sans KR"/>
              </a:rPr>
              <a:t>스테이지별로 유저가 얼마나 막히고 헤매는지 기록, 난이도 조절의 근거 데이터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dirty="0"/>
              <a:t>테이블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F57"/>
                </a:solidFill>
              </a:rPr>
              <a:t>4.5 StringTable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387016"/>
              </p:ext>
            </p:extLst>
          </p:nvPr>
        </p:nvGraphicFramePr>
        <p:xfrm>
          <a:off x="548640" y="1828800"/>
          <a:ext cx="11109958" cy="2095200"/>
        </p:xfrm>
        <a:graphic>
          <a:graphicData uri="http://schemas.openxmlformats.org/drawingml/2006/table">
            <a:tbl>
              <a:tblPr/>
              <a:tblGrid>
                <a:gridCol w="2196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1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1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필드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 err="1">
                          <a:solidFill>
                            <a:srgbClr val="3B2F57"/>
                          </a:solidFill>
                        </a:rPr>
                        <a:t>string_key</a:t>
                      </a: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rgbClr val="3B2F57"/>
                          </a:solidFill>
                        </a:rPr>
                        <a:t>(PK)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문구 고유 키 (PK)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category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enum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UI 화면 문구, DIALOGUE 기사 대사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ko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한국어 (기준 언어),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숫자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B2F57"/>
                          </a:solidFill>
                        </a:rPr>
                        <a:t>자리</a:t>
                      </a:r>
                      <a:r>
                        <a:rPr lang="ko-KR" altLang="en-US" sz="1200" dirty="0">
                          <a:solidFill>
                            <a:srgbClr val="3B2F57"/>
                          </a:solidFill>
                        </a:rPr>
                        <a:t>나 참조해야 하는 값은</a:t>
                      </a: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 {count}처럼 문장 안에 표기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en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영어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ja</a:t>
                      </a:r>
                      <a:endParaRPr lang="en-US" sz="1200" b="1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일본어</a:t>
                      </a:r>
                      <a:endParaRPr lang="en-US" sz="1200" dirty="0"/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48640" y="1280160"/>
            <a:ext cx="11109960" cy="365760"/>
          </a:xfrm>
          <a:prstGeom prst="rect">
            <a:avLst/>
          </a:prstGeom>
          <a:solidFill>
            <a:srgbClr val="F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7432" rIns="73152" bIns="27432" rtlCol="0" anchor="ctr"/>
          <a:lstStyle/>
          <a:p>
            <a:pPr algn="l"/>
            <a:r>
              <a:rPr sz="1200" b="1">
                <a:solidFill>
                  <a:srgbClr val="EC5A8C"/>
                </a:solidFill>
                <a:latin typeface="Noto Sans KR"/>
                <a:ea typeface="Noto Sans KR"/>
              </a:rPr>
              <a:t>글로벌 서비스 대응  </a:t>
            </a:r>
            <a:r>
              <a:rPr sz="1200" b="1">
                <a:solidFill>
                  <a:srgbClr val="3B2F57"/>
                </a:solidFill>
                <a:latin typeface="Noto Sans KR"/>
                <a:ea typeface="Noto Sans KR"/>
              </a:rPr>
              <a:t>모든 문구를 코드와 분리해 관리, 언어 열 추가로 출시 국가 확장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night Journey">
  <a:themeElements>
    <a:clrScheme name="Knight Journey">
      <a:dk1>
        <a:srgbClr val="3B2F57"/>
      </a:dk1>
      <a:lt1>
        <a:srgbClr val="FFFFFF"/>
      </a:lt1>
      <a:dk2>
        <a:srgbClr val="6E6487"/>
      </a:dk2>
      <a:lt2>
        <a:srgbClr val="FAF8FD"/>
      </a:lt2>
      <a:accent1>
        <a:srgbClr val="EC5A8C"/>
      </a:accent1>
      <a:accent2>
        <a:srgbClr val="FFD45C"/>
      </a:accent2>
      <a:accent3>
        <a:srgbClr val="4E8F2E"/>
      </a:accent3>
      <a:accent4>
        <a:srgbClr val="8FC9F2"/>
      </a:accent4>
      <a:accent5>
        <a:srgbClr val="B9AEDB"/>
      </a:accent5>
      <a:accent6>
        <a:srgbClr val="FF7FA8"/>
      </a:accent6>
      <a:hlink>
        <a:srgbClr val="EC5A8C"/>
      </a:hlink>
      <a:folHlink>
        <a:srgbClr val="6E6487"/>
      </a:folHlink>
    </a:clrScheme>
    <a:fontScheme name="Knight Journey">
      <a:maj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  <a:font script="Armn" typeface="Noto Sans KR"/>
        <a:font script="Bugi" typeface="Noto Sans KR"/>
        <a:font script="Bopo" typeface="Noto Sans KR"/>
        <a:font script="Java" typeface="Noto Sans KR"/>
        <a:font script="Lisu" typeface="Noto Sans KR"/>
        <a:font script="Mymr" typeface="Noto Sans KR"/>
        <a:font script="Nkoo" typeface="Noto Sans KR"/>
        <a:font script="Olck" typeface="Noto Sans KR"/>
        <a:font script="Osma" typeface="Noto Sans KR"/>
        <a:font script="Phag" typeface="Noto Sans KR"/>
        <a:font script="Syrn" typeface="Noto Sans KR"/>
        <a:font script="Syrj" typeface="Noto Sans KR"/>
        <a:font script="Syre" typeface="Noto Sans KR"/>
        <a:font script="Sora" typeface="Noto Sans KR"/>
        <a:font script="Tale" typeface="Noto Sans KR"/>
        <a:font script="Talu" typeface="Noto Sans KR"/>
        <a:font script="Tfng" typeface="Noto Sans KR"/>
      </a:majorFont>
      <a:min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  <a:font script="Armn" typeface="Noto Sans KR"/>
        <a:font script="Bugi" typeface="Noto Sans KR"/>
        <a:font script="Bopo" typeface="Noto Sans KR"/>
        <a:font script="Java" typeface="Noto Sans KR"/>
        <a:font script="Lisu" typeface="Noto Sans KR"/>
        <a:font script="Mymr" typeface="Noto Sans KR"/>
        <a:font script="Nkoo" typeface="Noto Sans KR"/>
        <a:font script="Olck" typeface="Noto Sans KR"/>
        <a:font script="Osma" typeface="Noto Sans KR"/>
        <a:font script="Phag" typeface="Noto Sans KR"/>
        <a:font script="Syrn" typeface="Noto Sans KR"/>
        <a:font script="Syrj" typeface="Noto Sans KR"/>
        <a:font script="Syre" typeface="Noto Sans KR"/>
        <a:font script="Sora" typeface="Noto Sans KR"/>
        <a:font script="Tale" typeface="Noto Sans KR"/>
        <a:font script="Talu" typeface="Noto Sans KR"/>
        <a:font script="Tfng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1842</Words>
  <Application>Microsoft Office PowerPoint</Application>
  <PresentationFormat>와이드스크린</PresentationFormat>
  <Paragraphs>592</Paragraphs>
  <Slides>22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4" baseType="lpstr">
      <vt:lpstr>Noto Sans KR</vt:lpstr>
      <vt:lpstr>Knight Journey</vt:lpstr>
      <vt:lpstr>PowerPoint 프레젠테이션</vt:lpstr>
      <vt:lpstr>문서 변경 이력</vt:lpstr>
      <vt:lpstr>PowerPoint 프레젠테이션</vt:lpstr>
      <vt:lpstr>개요</vt:lpstr>
      <vt:lpstr>1.1 원페이지 기획서</vt:lpstr>
      <vt:lpstr>1.2 기획 의도</vt:lpstr>
      <vt:lpstr>게임 시스템</vt:lpstr>
      <vt:lpstr>2.1 플레이 흐름, 이동 규칙</vt:lpstr>
      <vt:lpstr>2.2 충돌 판정</vt:lpstr>
      <vt:lpstr>2.3 판정, 상태 전이</vt:lpstr>
      <vt:lpstr>2.4 보조 기능, 힌트</vt:lpstr>
      <vt:lpstr>화면</vt:lpstr>
      <vt:lpstr>3.1 UX 구조도</vt:lpstr>
      <vt:lpstr>3.2 화면 명세 (인게임)</vt:lpstr>
      <vt:lpstr>3.3 화면 명세 (클리어 팝업)</vt:lpstr>
      <vt:lpstr>3.4 화면 명세 (광고 시청 팝업)</vt:lpstr>
      <vt:lpstr>테이블</vt:lpstr>
      <vt:lpstr>4.1 ER 다이어그램</vt:lpstr>
      <vt:lpstr>4.2 StageTable</vt:lpstr>
      <vt:lpstr>4.3 Player</vt:lpstr>
      <vt:lpstr>4.4 PlayLog</vt:lpstr>
      <vt:lpstr>4.5 StringTable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기사의 여행 — 퍼즐 시스템 기획서</dc:title>
  <dc:subject>PptxGenJS Presentation</dc:subject>
  <dc:creator>기획</dc:creator>
  <cp:lastModifiedBy>user</cp:lastModifiedBy>
  <cp:revision>57</cp:revision>
  <dcterms:created xsi:type="dcterms:W3CDTF">2026-10-15T02:45:38Z</dcterms:created>
  <dcterms:modified xsi:type="dcterms:W3CDTF">2026-10-16T12:21:15Z</dcterms:modified>
</cp:coreProperties>
</file>